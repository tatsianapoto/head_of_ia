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08CB0-9741-46EC-8E13-C7E976DFB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F7C9CA-33A2-44FD-86A9-99DB0BBBF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C56440-C53D-4300-8F6B-4E24C5AD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14AE5B-0021-42AD-AF98-BB1D6972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FFC97E-4FB5-4FB6-B74E-C66023A5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4724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CC12C-E0B4-4FE2-8133-03AC5E10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F3E45F-3E2C-4DB7-BB09-B04199B5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B2EF8-9442-40DA-B253-08B9A953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B5109-9891-4109-AD67-BC20954C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FD228E-1C2B-4474-8CAB-DE9D1F35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7181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E262D-5D3E-4A8A-8471-0BDEB8F8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6E26B3-1EBB-4031-80AA-E4FFC5DD1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C96063-B910-4961-BAFE-BDDEE7EF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F75E1-9119-4DAD-BEFC-1B07323A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44D2AB-F76D-45E4-8FD0-54086A95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9277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0770F-B284-4B92-B409-58952580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91607-F37A-4390-B9CB-D95FDF24B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619EB7-42F6-4402-8760-05618E8CE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C3ADD-B9A0-49D8-9803-0BA0BF2B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160B89-56F0-4412-9617-8D9CC79D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1A608D-A5A9-40AE-BDDA-576300BE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8758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A0751-DEA6-44E0-88B2-22519896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ECB75B-B87A-40B4-B0FC-7A9752550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13F6FD-20B9-479D-842F-6D35542EC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97E2AC-4026-42F8-A68F-07248E13A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4BB579-9418-4E08-89F4-42D426029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8BA010-ED26-4869-963D-CA10EEF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18B652-4D89-4E9D-B6DE-04C9EE2D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5D81AD-DCED-4BC7-815F-6C9E5445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86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63725-6F10-4925-80E5-83D50992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909913-835A-4893-85D1-EC55B1F0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1A0E8C-1D60-4C7C-A1CB-0ADE814F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DE6A40-0CC0-46DE-B841-2680B01D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19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45C4A07-0F9E-40CB-BD58-BFAE9FC9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198E9A-2421-41AF-8554-8A4F6C1E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1E3987-517C-4CAD-983C-67AE23B4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0117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D63D2-2A91-4D72-A770-7BDD5444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56ABDA-16EB-414E-BECA-8C73C8840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E3F86D-145C-4329-AC80-786998C25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FC8DC2-3096-466E-9022-D5662805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D7447B-EA3D-4DE5-869F-9A38D2B1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30E07C-32EF-48B5-B391-47661660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5223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39043-F2D3-4FE5-AAB1-43202445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D70343-3409-463F-90DA-55D9F1409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C0B6D8-E434-4BA2-BC70-C41D6D83B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E87F57-7964-4AD3-8C80-8001F283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54EC77-63ED-4ECA-96C3-60E18092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1C1C27-F3D2-449F-A5E0-EBF43B52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112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E699BB-33D8-4BE6-BCB7-25B587E6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E92B6E-EC9E-4154-A5E8-CE2151735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CAF91F-BD80-43DF-9372-272DAC1F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0681E-EA69-4DCF-AA91-B53E447C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29A8B1-9ADE-44C8-B8E4-BFD544C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0994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48221E-1F6D-4E46-B5D4-872CF60DC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9260EA-5916-4374-8EC0-4383AE0CD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7B9B4D-F3FA-4942-8EB2-FF3E3FC04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DE1C8-ABF5-4FDA-A26E-EE410D41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AD157A-5228-4982-92EE-C5ECA9AB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7691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81C11-5E0A-48AD-8997-675768FF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8A1B2E-0C25-411C-9A2F-469478DA9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0D0A33-4EF7-4E9F-BCC1-B337E12FF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547F4-270A-4658-ACA5-BF87DA64AA3A}" type="datetimeFigureOut">
              <a:rPr lang="ru-BY" smtClean="0"/>
              <a:t>29.10.2026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951D2-E07B-4440-8A5E-8DAB962BA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61C0E0-25E8-4073-BCD2-9C34BCB8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0F254-A8DE-4550-89F8-8B4468DF25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6686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ПРОЕКТ • КАЧЕСТВО ПРОДУКЦИИ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Границы: производство → магазин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Ручной контроль конденсата создаёт два источника потерь:</a:t>
            </a:r>
            <a:r>
              <a:rPr lang="ru-RU" sz="2600" b="1" noProof="1">
                <a:solidFill>
                  <a:srgbClr val="172526"/>
                </a:solidFill>
                <a:latin typeface="Georgia"/>
                <a:ea typeface="Georgia"/>
              </a:rPr>
              <a:t> </a:t>
            </a: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простои линии и возвраты продукции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50 лотков/мин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производительность упаковки</a:t>
            </a:r>
            <a:endParaRPr lang="en-US" sz="1100" noProof="1"/>
          </a:p>
        </p:txBody>
      </p:sp>
      <p:sp>
        <p:nvSpPr>
          <p:cNvPr id="8" name="kpi-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0353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3528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1,2 сек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3528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проверку одного лотка</a:t>
            </a:r>
            <a:endParaRPr lang="en-US" sz="1100" noProof="1"/>
          </a:p>
        </p:txBody>
      </p:sp>
      <p:sp>
        <p:nvSpPr>
          <p:cNvPr id="11" name="kpi-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56515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5969000" y="1841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 оператора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5969000" y="2260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визуально проверяют крышки</a:t>
            </a:r>
            <a:endParaRPr lang="en-US" sz="1100" noProof="1"/>
          </a:p>
        </p:txBody>
      </p:sp>
      <p:sp>
        <p:nvSpPr>
          <p:cNvPr id="14" name="kpi-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825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8572500" y="1841500"/>
            <a:ext cx="300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8572500" y="2260600"/>
            <a:ext cx="3009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7" name="process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eyJ2aWV3Qm94IjpbNzcwLDFdLCJwb2ludHMiOiIwLDAgNzcwLDAifQ</pptd:line>
              </p:ext>
            </p:extLst>
          </p:nvPr>
        </p:nvSpPr>
        <p:spPr>
          <a:xfrm flipV="1">
            <a:off x="990600" y="3149600"/>
            <a:ext cx="8123311" cy="88900"/>
          </a:xfrm>
          <a:custGeom>
            <a:avLst/>
            <a:gdLst/>
            <a:ahLst/>
            <a:cxnLst/>
            <a:rect l="l" t="t" r="r" b="b"/>
            <a:pathLst>
              <a:path w="770" h="1">
                <a:moveTo>
                  <a:pt x="0" y="0"/>
                </a:moveTo>
                <a:lnTo>
                  <a:pt x="77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8" name="process-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eyJpY29uTmFtZSI6ImZhczppbmR1c3RyeSJ9</pptd:icon>
              </p:ext>
            </p:extLst>
          </p:nvPr>
        </p:nvSpPr>
        <p:spPr>
          <a:xfrm>
            <a:off x="698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14" y="32"/>
                  <a:pt x="0" y="46"/>
                  <a:pt x="0" y="64"/>
                </a:cubicBezTo>
                <a:lnTo>
                  <a:pt x="0" y="432"/>
                </a:lnTo>
                <a:cubicBezTo>
                  <a:pt x="0" y="459"/>
                  <a:pt x="22" y="480"/>
                  <a:pt x="48" y="480"/>
                </a:cubicBezTo>
                <a:lnTo>
                  <a:pt x="464" y="480"/>
                </a:lnTo>
                <a:cubicBezTo>
                  <a:pt x="491" y="480"/>
                  <a:pt x="512" y="459"/>
                  <a:pt x="512" y="432"/>
                </a:cubicBezTo>
                <a:lnTo>
                  <a:pt x="512" y="152"/>
                </a:lnTo>
                <a:cubicBezTo>
                  <a:pt x="512" y="134"/>
                  <a:pt x="493" y="122"/>
                  <a:pt x="477" y="131"/>
                </a:cubicBezTo>
                <a:lnTo>
                  <a:pt x="320" y="215"/>
                </a:lnTo>
                <a:lnTo>
                  <a:pt x="320" y="152"/>
                </a:lnTo>
                <a:cubicBezTo>
                  <a:pt x="320" y="134"/>
                  <a:pt x="301" y="122"/>
                  <a:pt x="285" y="131"/>
                </a:cubicBezTo>
                <a:lnTo>
                  <a:pt x="128" y="215"/>
                </a:lnTo>
                <a:lnTo>
                  <a:pt x="128" y="64"/>
                </a:lnTo>
                <a:cubicBezTo>
                  <a:pt x="128" y="46"/>
                  <a:pt x="114" y="32"/>
                  <a:pt x="96" y="32"/>
                </a:cubicBezTo>
                <a:lnTo>
                  <a:pt x="32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process-label1"/>
          <p:cNvSpPr txBox="1"/>
          <p:nvPr/>
        </p:nvSpPr>
        <p:spPr>
          <a:xfrm>
            <a:off x="1155700" y="27813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без изменения рецептур</a:t>
            </a:r>
            <a:endParaRPr lang="en-US" sz="1200" noProof="1"/>
          </a:p>
        </p:txBody>
      </p:sp>
      <p:sp>
        <p:nvSpPr>
          <p:cNvPr id="20" name="process-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eyJpY29uTmFtZSI6ImZhczpib3gtb3BlbiJ9</pptd:icon>
              </p:ext>
            </p:extLst>
          </p:nvPr>
        </p:nvSpPr>
        <p:spPr>
          <a:xfrm>
            <a:off x="3786561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process-label2"/>
          <p:cNvSpPr txBox="1"/>
          <p:nvPr/>
        </p:nvSpPr>
        <p:spPr>
          <a:xfrm>
            <a:off x="4269161" y="278130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ручной контроль</a:t>
            </a:r>
            <a:endParaRPr lang="en-US" sz="1200" noProof="1"/>
          </a:p>
        </p:txBody>
      </p:sp>
      <p:sp>
        <p:nvSpPr>
          <p:cNvPr id="22" name="process-icon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849018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process-label3"/>
          <p:cNvSpPr txBox="1"/>
          <p:nvPr/>
        </p:nvSpPr>
        <p:spPr>
          <a:xfrm>
            <a:off x="7356695" y="2800350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до магазина</a:t>
            </a:r>
            <a:endParaRPr lang="en-US" sz="1200" noProof="1"/>
          </a:p>
        </p:txBody>
      </p:sp>
      <p:sp>
        <p:nvSpPr>
          <p:cNvPr id="24" name="process-store"/>
          <p:cNvSpPr txBox="1"/>
          <p:nvPr/>
        </p:nvSpPr>
        <p:spPr>
          <a:xfrm>
            <a:off x="8966200" y="2727569"/>
            <a:ext cx="137863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b="1" noProof="1">
                <a:solidFill>
                  <a:srgbClr val="C00000"/>
                </a:solidFill>
                <a:latin typeface="Arial"/>
                <a:ea typeface="Arial"/>
              </a:rPr>
              <a:t>МАГАЗИН</a:t>
            </a:r>
            <a:endParaRPr lang="en-US" noProof="1">
              <a:solidFill>
                <a:srgbClr val="C00000"/>
              </a:solidFill>
            </a:endParaRPr>
          </a:p>
        </p:txBody>
      </p:sp>
      <p:sp>
        <p:nvSpPr>
          <p:cNvPr id="25" name="loss-left-head"/>
          <p:cNvSpPr txBox="1"/>
          <p:nvPr/>
        </p:nvSpPr>
        <p:spPr>
          <a:xfrm>
            <a:off x="609600" y="3530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01  КОНДЕНСАТ ОБНАРУЖЕН ВРУЧНУЮ</a:t>
            </a:r>
            <a:endParaRPr lang="en-US" sz="1200" noProof="1"/>
          </a:p>
        </p:txBody>
      </p:sp>
      <p:sp>
        <p:nvSpPr>
          <p:cNvPr id="26" name="loss-left-title"/>
          <p:cNvSpPr txBox="1"/>
          <p:nvPr/>
        </p:nvSpPr>
        <p:spPr>
          <a:xfrm>
            <a:off x="609600" y="3873500"/>
            <a:ext cx="4953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Линия останавливается</a:t>
            </a:r>
            <a:endParaRPr lang="en-US" sz="1900" noProof="1"/>
          </a:p>
        </p:txBody>
      </p:sp>
      <p:sp>
        <p:nvSpPr>
          <p:cNvPr id="27" name="stop10-label"/>
          <p:cNvSpPr txBox="1"/>
          <p:nvPr/>
        </p:nvSpPr>
        <p:spPr>
          <a:xfrm>
            <a:off x="609600" y="43434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10 мин</a:t>
            </a:r>
            <a:endParaRPr lang="en-US" sz="1300" noProof="1"/>
          </a:p>
        </p:txBody>
      </p:sp>
      <p:sp>
        <p:nvSpPr>
          <p:cNvPr id="28" name="stop10-bar"/>
          <p:cNvSpPr/>
          <p:nvPr/>
        </p:nvSpPr>
        <p:spPr>
          <a:xfrm>
            <a:off x="2222500" y="4356100"/>
            <a:ext cx="1016000" cy="203200"/>
          </a:xfrm>
          <a:prstGeom prst="rect">
            <a:avLst/>
          </a:prstGeom>
          <a:solidFill>
            <a:srgbClr val="8BBDB9"/>
          </a:solidFill>
          <a:ln>
            <a:noFill/>
          </a:ln>
        </p:spPr>
      </p:sp>
      <p:sp>
        <p:nvSpPr>
          <p:cNvPr id="29" name="stop10-value"/>
          <p:cNvSpPr txBox="1"/>
          <p:nvPr/>
        </p:nvSpPr>
        <p:spPr>
          <a:xfrm>
            <a:off x="3416300" y="4292600"/>
            <a:ext cx="21463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−500 лотков</a:t>
            </a:r>
            <a:endParaRPr lang="en-US" sz="1800" noProof="1"/>
          </a:p>
        </p:txBody>
      </p:sp>
      <p:sp>
        <p:nvSpPr>
          <p:cNvPr id="30" name="stop30-label"/>
          <p:cNvSpPr txBox="1"/>
          <p:nvPr/>
        </p:nvSpPr>
        <p:spPr>
          <a:xfrm>
            <a:off x="609600" y="48006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57475"/>
                </a:solidFill>
                <a:latin typeface="Arial"/>
                <a:ea typeface="Arial"/>
              </a:rPr>
              <a:t>Остановка 30 мин</a:t>
            </a:r>
            <a:endParaRPr lang="en-US" sz="1300" noProof="1"/>
          </a:p>
        </p:txBody>
      </p:sp>
      <p:sp>
        <p:nvSpPr>
          <p:cNvPr id="31" name="stop30-bar"/>
          <p:cNvSpPr/>
          <p:nvPr/>
        </p:nvSpPr>
        <p:spPr>
          <a:xfrm>
            <a:off x="2222500" y="4813300"/>
            <a:ext cx="3048000" cy="2032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2" name="stop30-value"/>
          <p:cNvSpPr txBox="1"/>
          <p:nvPr/>
        </p:nvSpPr>
        <p:spPr>
          <a:xfrm>
            <a:off x="609600" y="51308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−1 500 лотков задержки выпуска</a:t>
            </a:r>
            <a:endParaRPr lang="en-US" sz="1800" noProof="1"/>
          </a:p>
        </p:txBody>
      </p:sp>
      <p:sp>
        <p:nvSpPr>
          <p:cNvPr id="33" name="losses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eyJ2aWV3Qm94IjpbMSwxNTBdLCJwb2ludHMiOiIwLDAgMCwxNTAifQ</pptd:line>
              </p:ext>
            </p:extLst>
          </p:nvPr>
        </p:nvSpPr>
        <p:spPr>
          <a:xfrm>
            <a:off x="5943600" y="3556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4" name="loss-right-head"/>
          <p:cNvSpPr txBox="1"/>
          <p:nvPr/>
        </p:nvSpPr>
        <p:spPr>
          <a:xfrm>
            <a:off x="6350000" y="35306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5D5E"/>
                </a:solidFill>
                <a:latin typeface="Arial"/>
                <a:ea typeface="Arial"/>
              </a:rPr>
              <a:t>02  КОНДЕНСАТ ПРОПУЩЕН</a:t>
            </a:r>
            <a:endParaRPr lang="en-US" sz="1200" noProof="1"/>
          </a:p>
        </p:txBody>
      </p:sp>
      <p:sp>
        <p:nvSpPr>
          <p:cNvPr id="35" name="loss-right-title"/>
          <p:cNvSpPr txBox="1"/>
          <p:nvPr/>
        </p:nvSpPr>
        <p:spPr>
          <a:xfrm>
            <a:off x="6350000" y="3873500"/>
            <a:ext cx="52324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6"/>
                </a:solidFill>
                <a:latin typeface="Arial"/>
                <a:ea typeface="Arial"/>
              </a:rPr>
              <a:t>Потери переносятся дальше</a:t>
            </a:r>
            <a:r>
              <a:rPr lang="ru-RU" sz="1900" b="1" noProof="1">
                <a:solidFill>
                  <a:srgbClr val="172526"/>
                </a:solidFill>
                <a:latin typeface="Arial"/>
                <a:ea typeface="Arial"/>
              </a:rPr>
              <a:t>:</a:t>
            </a:r>
            <a:endParaRPr lang="en-US" sz="1900" noProof="1"/>
          </a:p>
        </p:txBody>
      </p:sp>
      <p:sp>
        <p:nvSpPr>
          <p:cNvPr id="36" name="shelf-life"/>
          <p:cNvSpPr txBox="1"/>
          <p:nvPr/>
        </p:nvSpPr>
        <p:spPr>
          <a:xfrm>
            <a:off x="6350000" y="4356100"/>
            <a:ext cx="5232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↓ остаточный срок годности</a:t>
            </a:r>
            <a:endParaRPr lang="en-US" sz="1600" noProof="1"/>
          </a:p>
        </p:txBody>
      </p:sp>
      <p:sp>
        <p:nvSpPr>
          <p:cNvPr id="37" name="return-chain"/>
          <p:cNvSpPr txBox="1"/>
          <p:nvPr/>
        </p:nvSpPr>
        <p:spPr>
          <a:xfrm>
            <a:off x="6364067" y="4659922"/>
            <a:ext cx="5232400" cy="8010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↓ </a:t>
            </a:r>
            <a:r>
              <a:rPr lang="en-US" sz="1600" b="1" noProof="1">
                <a:solidFill>
                  <a:srgbClr val="172526"/>
                </a:solidFill>
                <a:latin typeface="Arial"/>
                <a:ea typeface="Arial"/>
              </a:rPr>
              <a:t>продажи в магазине</a:t>
            </a:r>
            <a:r>
              <a:rPr lang="ru-RU" sz="1600" b="1" noProof="1">
                <a:solidFill>
                  <a:srgbClr val="172526"/>
                </a:solidFill>
                <a:latin typeface="Arial"/>
                <a:ea typeface="Arial"/>
              </a:rPr>
              <a:t> падают</a:t>
            </a:r>
            <a:endParaRPr lang="en-US" sz="1600" b="1" noProof="1"/>
          </a:p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C00000"/>
                </a:solidFill>
                <a:latin typeface="Arial"/>
                <a:ea typeface="Arial"/>
              </a:rPr>
              <a:t>↑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600" b="1" noProof="1">
                <a:solidFill>
                  <a:srgbClr val="C00000"/>
                </a:solidFill>
                <a:latin typeface="Arial"/>
                <a:ea typeface="Arial"/>
              </a:rPr>
              <a:t>возвраты, обратная логистика и списания</a:t>
            </a:r>
            <a:endParaRPr lang="en-US" sz="1600" noProof="1">
              <a:solidFill>
                <a:srgbClr val="C00000"/>
              </a:solidFill>
            </a:endParaRPr>
          </a:p>
        </p:txBody>
      </p:sp>
      <p:sp>
        <p:nvSpPr>
          <p:cNvPr id="38" name="objective-bg"/>
          <p:cNvSpPr/>
          <p:nvPr/>
        </p:nvSpPr>
        <p:spPr>
          <a:xfrm>
            <a:off x="609600" y="5765800"/>
            <a:ext cx="10895818" cy="6350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39" name="objective-bar"/>
          <p:cNvSpPr/>
          <p:nvPr/>
        </p:nvSpPr>
        <p:spPr>
          <a:xfrm>
            <a:off x="609600" y="5765800"/>
            <a:ext cx="63500" cy="6350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40" name="objective"/>
          <p:cNvSpPr txBox="1"/>
          <p:nvPr/>
        </p:nvSpPr>
        <p:spPr>
          <a:xfrm>
            <a:off x="850900" y="5854700"/>
            <a:ext cx="10541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Цель проекта: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найти этап возникновения условий для конденсата и снизить число пропущенных лотков, возвратов и незапланированных остановок.</a:t>
            </a:r>
            <a:endParaRPr lang="en-US" sz="13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исходное описание процесса; расчёт выпуска при 50 лотках/мин.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РЕШЕНИЕ • ТРИ ЗОНЫ КОНТРОЛЯ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636000" y="3048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Рецептуры не изменяются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Проект устраняет причины конденсата в трёх цехах
и автоматизирует контроль без остановки линии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ol-stage"/>
          <p:cNvSpPr txBox="1"/>
          <p:nvPr/>
        </p:nvSpPr>
        <p:spPr>
          <a:xfrm>
            <a:off x="609600" y="18415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ЭТАП</a:t>
            </a:r>
            <a:endParaRPr lang="en-US" sz="1000" noProof="1"/>
          </a:p>
        </p:txBody>
      </p:sp>
      <p:sp>
        <p:nvSpPr>
          <p:cNvPr id="7" name="col-hyp"/>
          <p:cNvSpPr txBox="1"/>
          <p:nvPr/>
        </p:nvSpPr>
        <p:spPr>
          <a:xfrm>
            <a:off x="2463800" y="1841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ГИПОТЕЗА</a:t>
            </a:r>
            <a:endParaRPr lang="en-US" sz="1000" noProof="1"/>
          </a:p>
        </p:txBody>
      </p:sp>
      <p:sp>
        <p:nvSpPr>
          <p:cNvPr id="8" name="col-action"/>
          <p:cNvSpPr txBox="1"/>
          <p:nvPr/>
        </p:nvSpPr>
        <p:spPr>
          <a:xfrm>
            <a:off x="6959600" y="18415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УПРАВЛЕНЧЕСКОЕ ДЕЙСТВИЕ</a:t>
            </a:r>
            <a:endParaRPr lang="en-US" sz="1000" noProof="1"/>
          </a:p>
        </p:txBody>
      </p:sp>
      <p:sp>
        <p:nvSpPr>
          <p:cNvPr id="9" name="head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146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10" name="r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eyJpY29uTmFtZSI6ImZhczp0ZW1wZXJhdHVyZS1sb3cifQ</pptd:icon>
              </p:ext>
            </p:extLst>
          </p:nvPr>
        </p:nvSpPr>
        <p:spPr>
          <a:xfrm>
            <a:off x="609600" y="2413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96"/>
                </a:moveTo>
                <a:cubicBezTo>
                  <a:pt x="96" y="43"/>
                  <a:pt x="139" y="0"/>
                  <a:pt x="192" y="0"/>
                </a:cubicBezTo>
                <a:cubicBezTo>
                  <a:pt x="245" y="0"/>
                  <a:pt x="288" y="43"/>
                  <a:pt x="288" y="96"/>
                </a:cubicBezTo>
                <a:lnTo>
                  <a:pt x="288" y="261"/>
                </a:lnTo>
                <a:cubicBezTo>
                  <a:pt x="318" y="287"/>
                  <a:pt x="336" y="325"/>
                  <a:pt x="336" y="368"/>
                </a:cubicBezTo>
                <a:cubicBezTo>
                  <a:pt x="336" y="448"/>
                  <a:pt x="272" y="512"/>
                  <a:pt x="192" y="512"/>
                </a:cubicBezTo>
                <a:cubicBezTo>
                  <a:pt x="113" y="512"/>
                  <a:pt x="48" y="448"/>
                  <a:pt x="48" y="368"/>
                </a:cubicBezTo>
                <a:cubicBezTo>
                  <a:pt x="48" y="325"/>
                  <a:pt x="67" y="287"/>
                  <a:pt x="96" y="261"/>
                </a:cubicBezTo>
                <a:lnTo>
                  <a:pt x="96" y="96"/>
                </a:lnTo>
                <a:close/>
                <a:moveTo>
                  <a:pt x="192" y="432"/>
                </a:moveTo>
                <a:cubicBezTo>
                  <a:pt x="227" y="432"/>
                  <a:pt x="256" y="403"/>
                  <a:pt x="256" y="368"/>
                </a:cubicBezTo>
                <a:cubicBezTo>
                  <a:pt x="256" y="341"/>
                  <a:pt x="240" y="318"/>
                  <a:pt x="216" y="309"/>
                </a:cubicBez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09"/>
                </a:lnTo>
                <a:cubicBezTo>
                  <a:pt x="145" y="318"/>
                  <a:pt x="128" y="341"/>
                  <a:pt x="128" y="368"/>
                </a:cubicBezTo>
                <a:cubicBezTo>
                  <a:pt x="128" y="403"/>
                  <a:pt x="157" y="432"/>
                  <a:pt x="192" y="432"/>
                </a:cubicBezTo>
                <a:close/>
              </a:path>
              <a:path w="512" h="512">
                <a:moveTo>
                  <a:pt x="352" y="80"/>
                </a:moveTo>
                <a:cubicBezTo>
                  <a:pt x="352" y="36"/>
                  <a:pt x="388" y="0"/>
                  <a:pt x="432" y="0"/>
                </a:cubicBezTo>
                <a:cubicBezTo>
                  <a:pt x="476" y="0"/>
                  <a:pt x="512" y="36"/>
                  <a:pt x="512" y="80"/>
                </a:cubicBezTo>
                <a:cubicBezTo>
                  <a:pt x="512" y="124"/>
                  <a:pt x="476" y="160"/>
                  <a:pt x="432" y="160"/>
                </a:cubicBezTo>
                <a:cubicBezTo>
                  <a:pt x="388" y="160"/>
                  <a:pt x="352" y="124"/>
                  <a:pt x="352" y="80"/>
                </a:cubicBezTo>
                <a:close/>
                <a:moveTo>
                  <a:pt x="464" y="80"/>
                </a:moveTo>
                <a:cubicBezTo>
                  <a:pt x="464" y="62"/>
                  <a:pt x="450" y="48"/>
                  <a:pt x="432" y="48"/>
                </a:cubicBezTo>
                <a:cubicBezTo>
                  <a:pt x="414" y="48"/>
                  <a:pt x="400" y="62"/>
                  <a:pt x="400" y="80"/>
                </a:cubicBezTo>
                <a:cubicBezTo>
                  <a:pt x="400" y="98"/>
                  <a:pt x="414" y="112"/>
                  <a:pt x="432" y="112"/>
                </a:cubicBezTo>
                <a:cubicBezTo>
                  <a:pt x="450" y="112"/>
                  <a:pt x="464" y="98"/>
                  <a:pt x="464" y="8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row1-stage"/>
          <p:cNvSpPr txBox="1"/>
          <p:nvPr/>
        </p:nvSpPr>
        <p:spPr>
          <a:xfrm>
            <a:off x="1066800" y="23368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12" name="row1-hyp"/>
          <p:cNvSpPr txBox="1"/>
          <p:nvPr/>
        </p:nvSpPr>
        <p:spPr>
          <a:xfrm>
            <a:off x="2463800" y="23241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Продукция поступает на упаковку 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недостаточно охлаждённой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; перепад температур способствует конденсату.</a:t>
            </a:r>
            <a:endParaRPr lang="en-US" sz="1400" noProof="1"/>
          </a:p>
        </p:txBody>
      </p:sp>
      <p:sp>
        <p:nvSpPr>
          <p:cNvPr id="13" name="row1-action"/>
          <p:cNvSpPr txBox="1"/>
          <p:nvPr/>
        </p:nvSpPr>
        <p:spPr>
          <a:xfrm>
            <a:off x="6959600" y="23241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Измерить температуру и время охлаждения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Тепловые камеры или датчики; скорректировать режим без изменения рецептуры.</a:t>
            </a:r>
            <a:endParaRPr lang="en-US" sz="1400" noProof="1"/>
          </a:p>
        </p:txBody>
      </p:sp>
      <p:sp>
        <p:nvSpPr>
          <p:cNvPr id="14" name="row1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 flipV="1">
            <a:off x="609600" y="3268981"/>
            <a:ext cx="6166338" cy="45719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r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609600" y="35941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6" name="row2-stage"/>
          <p:cNvSpPr txBox="1"/>
          <p:nvPr/>
        </p:nvSpPr>
        <p:spPr>
          <a:xfrm>
            <a:off x="1066800" y="35179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17" name="row2-hyp"/>
          <p:cNvSpPr txBox="1"/>
          <p:nvPr/>
        </p:nvSpPr>
        <p:spPr>
          <a:xfrm>
            <a:off x="2463800" y="35052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При скорости 50 лотков/мин операторы </a:t>
            </a: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не успевают стабильно выявлять конденсат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.</a:t>
            </a:r>
            <a:endParaRPr lang="en-US" sz="1400" noProof="1"/>
          </a:p>
        </p:txBody>
      </p:sp>
      <p:sp>
        <p:nvSpPr>
          <p:cNvPr id="18" name="row2-action"/>
          <p:cNvSpPr txBox="1"/>
          <p:nvPr/>
        </p:nvSpPr>
        <p:spPr>
          <a:xfrm>
            <a:off x="6959600" y="35052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Автоматизировать контроль камерой и CV-моделью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Выявлять конденсат без полной остановки линии; сократить пропуски и простои.</a:t>
            </a:r>
            <a:endParaRPr lang="en-US" sz="1400" noProof="1"/>
          </a:p>
        </p:txBody>
      </p:sp>
      <p:sp>
        <p:nvSpPr>
          <p:cNvPr id="19" name="row2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 flipV="1">
            <a:off x="609600" y="4450081"/>
            <a:ext cx="6199163" cy="45719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r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09600" y="47752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row3-stage"/>
          <p:cNvSpPr txBox="1"/>
          <p:nvPr/>
        </p:nvSpPr>
        <p:spPr>
          <a:xfrm>
            <a:off x="1066800" y="4699000"/>
            <a:ext cx="1320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4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Начальник цеха</a:t>
            </a:r>
            <a:endParaRPr lang="en-US" sz="1400" noProof="1"/>
          </a:p>
        </p:txBody>
      </p:sp>
      <p:sp>
        <p:nvSpPr>
          <p:cNvPr id="22" name="row3-hyp"/>
          <p:cNvSpPr txBox="1"/>
          <p:nvPr/>
        </p:nvSpPr>
        <p:spPr>
          <a:xfrm>
            <a:off x="2463800" y="4686300"/>
            <a:ext cx="3937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Время перевозки, ожидание разгрузки и перепады температур</a:t>
            </a: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 усугубляют проблему.</a:t>
            </a:r>
            <a:endParaRPr lang="en-US" sz="1400" noProof="1"/>
          </a:p>
        </p:txBody>
      </p:sp>
      <p:sp>
        <p:nvSpPr>
          <p:cNvPr id="23" name="row3-action"/>
          <p:cNvSpPr txBox="1"/>
          <p:nvPr/>
        </p:nvSpPr>
        <p:spPr>
          <a:xfrm>
            <a:off x="6959600" y="4686300"/>
            <a:ext cx="46228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2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Контролировать температуру и время доставки</a:t>
            </a:r>
            <a:endParaRPr lang="en-US" sz="1400" noProof="1"/>
          </a:p>
          <a:p>
            <a:pPr>
              <a:lnSpc>
                <a:spcPct val="132000"/>
              </a:lnSpc>
            </a:pPr>
            <a:r>
              <a:rPr lang="en-US" sz="1400" noProof="1">
                <a:solidFill>
                  <a:srgbClr val="172526"/>
                </a:solidFill>
                <a:latin typeface="Arial"/>
                <a:ea typeface="Arial"/>
              </a:rPr>
              <a:t>Сократить ожидание при погрузке и разгрузке; связать условия перевозки с возвратами.</a:t>
            </a:r>
            <a:endParaRPr lang="en-US" sz="1400" noProof="1"/>
          </a:p>
        </p:txBody>
      </p:sp>
      <p:sp>
        <p:nvSpPr>
          <p:cNvPr id="24" name="result-bg"/>
          <p:cNvSpPr/>
          <p:nvPr/>
        </p:nvSpPr>
        <p:spPr>
          <a:xfrm>
            <a:off x="609600" y="5778499"/>
            <a:ext cx="10972800" cy="626989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result-bar"/>
          <p:cNvSpPr/>
          <p:nvPr/>
        </p:nvSpPr>
        <p:spPr>
          <a:xfrm>
            <a:off x="609600" y="5778499"/>
            <a:ext cx="63500" cy="584199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6" name="result"/>
          <p:cNvSpPr txBox="1"/>
          <p:nvPr/>
        </p:nvSpPr>
        <p:spPr>
          <a:xfrm>
            <a:off x="850900" y="5867400"/>
            <a:ext cx="10541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Ожидаемый результат: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управлять причиной конденсата, а не только последствиями — меньше пропущенных лотков, возвратов и остановок.</a:t>
            </a:r>
            <a:endParaRPr lang="en-US" sz="1300" noProof="1"/>
          </a:p>
        </p:txBody>
      </p:sp>
      <p:sp>
        <p:nvSpPr>
          <p:cNvPr id="27" name="owner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Куратор: директор по производству. Данные и процесс: начальники трёх цехов.</a:t>
            </a:r>
            <a:endParaRPr lang="en-US" sz="900" noProof="1"/>
          </a:p>
        </p:txBody>
      </p:sp>
      <p:sp>
        <p:nvSpPr>
          <p:cNvPr id="28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РЕШЕНИЕ О ЗАПУСКЕ • ЭКОНОМИКА И ПИЛОТ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решение только после подтверждения
экономического эффекта и стабильной работы на пилоте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econ-head"/>
          <p:cNvSpPr txBox="1"/>
          <p:nvPr/>
        </p:nvSpPr>
        <p:spPr>
          <a:xfrm>
            <a:off x="609600" y="18415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+ 03  ПОТЕРИ И СТОИМОСТЬ</a:t>
            </a:r>
            <a:endParaRPr lang="en-US" sz="1100" noProof="1"/>
          </a:p>
        </p:txBody>
      </p:sp>
      <p:sp>
        <p:nvSpPr>
          <p:cNvPr id="6" name="effect-formula"/>
          <p:cNvSpPr txBox="1"/>
          <p:nvPr/>
        </p:nvSpPr>
        <p:spPr>
          <a:xfrm>
            <a:off x="609600" y="2197100"/>
            <a:ext cx="6223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Эффект = ↓ возвраты + ↓ простои</a:t>
            </a:r>
            <a:endParaRPr lang="en-US" sz="2100" noProof="1"/>
          </a:p>
          <a:p>
            <a:pPr>
              <a:lnSpc>
                <a:spcPct val="125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− затраты на решение</a:t>
            </a:r>
            <a:endParaRPr lang="en-US" sz="2100" noProof="1"/>
          </a:p>
        </p:txBody>
      </p:sp>
      <p:sp>
        <p:nvSpPr>
          <p:cNvPr id="7" name="formula1-label"/>
          <p:cNvSpPr txBox="1"/>
          <p:nvPr/>
        </p:nvSpPr>
        <p:spPr>
          <a:xfrm>
            <a:off x="609600" y="31369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Возвраты</a:t>
            </a:r>
            <a:endParaRPr lang="en-US" sz="1200" noProof="1"/>
          </a:p>
        </p:txBody>
      </p:sp>
      <p:sp>
        <p:nvSpPr>
          <p:cNvPr id="8" name="formula1"/>
          <p:cNvSpPr txBox="1"/>
          <p:nvPr/>
        </p:nvSpPr>
        <p:spPr>
          <a:xfrm>
            <a:off x="1968500" y="3098800"/>
            <a:ext cx="4889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возвращённые лотки × себестоимость + обратная логистика + утилизация</a:t>
            </a:r>
            <a:endParaRPr lang="en-US" sz="1200" noProof="1"/>
          </a:p>
        </p:txBody>
      </p:sp>
      <p:sp>
        <p:nvSpPr>
          <p:cNvPr id="9" name="formula2-label"/>
          <p:cNvSpPr txBox="1"/>
          <p:nvPr/>
        </p:nvSpPr>
        <p:spPr>
          <a:xfrm>
            <a:off x="609600" y="37211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</a:t>
            </a:r>
            <a:endParaRPr lang="en-US" sz="1200" noProof="1"/>
          </a:p>
        </p:txBody>
      </p:sp>
      <p:sp>
        <p:nvSpPr>
          <p:cNvPr id="10" name="formula2"/>
          <p:cNvSpPr txBox="1"/>
          <p:nvPr/>
        </p:nvSpPr>
        <p:spPr>
          <a:xfrm>
            <a:off x="1968500" y="3725201"/>
            <a:ext cx="4889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минуты остановки × стоимость минуты простоя</a:t>
            </a:r>
            <a:endParaRPr lang="en-US" sz="1200" noProof="1"/>
          </a:p>
        </p:txBody>
      </p:sp>
      <p:sp>
        <p:nvSpPr>
          <p:cNvPr id="11" name="inputs-head"/>
          <p:cNvSpPr txBox="1"/>
          <p:nvPr/>
        </p:nvSpPr>
        <p:spPr>
          <a:xfrm>
            <a:off x="609600" y="42037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Для расчёта в рублях нужны четыре показателя</a:t>
            </a:r>
            <a:endParaRPr lang="en-US" sz="1300" noProof="1"/>
          </a:p>
        </p:txBody>
      </p:sp>
      <p:sp>
        <p:nvSpPr>
          <p:cNvPr id="12" name="inputs-list"/>
          <p:cNvSpPr txBox="1"/>
          <p:nvPr/>
        </p:nvSpPr>
        <p:spPr>
          <a:xfrm>
            <a:off x="609600" y="4559300"/>
            <a:ext cx="62230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Себестоимость одного лотка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Среднее число возвратов за месяц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Продолжительность остановок за смену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 Стоимость одной минуты простоя</a:t>
            </a:r>
            <a:endParaRPr lang="en-US" sz="1300" noProof="1"/>
          </a:p>
        </p:txBody>
      </p:sp>
      <p:sp>
        <p:nvSpPr>
          <p:cNvPr id="13" name="cost"/>
          <p:cNvSpPr txBox="1"/>
          <p:nvPr/>
        </p:nvSpPr>
        <p:spPr>
          <a:xfrm>
            <a:off x="609600" y="5867400"/>
            <a:ext cx="624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Затраты:</a:t>
            </a: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 камеры и оборудование, CV и интеграция, внедрение, обучение и поддержка.</a:t>
            </a:r>
            <a:endParaRPr lang="en-US" sz="1100" noProof="1"/>
          </a:p>
        </p:txBody>
      </p:sp>
      <p:sp>
        <p:nvSpPr>
          <p:cNvPr id="14" name="mid-separato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eyJ2aWV3Qm94IjpbMSwzNTBdLCJwb2ludHMiOiIwLDAgMCwzNTAifQ</pptd:line>
              </p:ext>
            </p:extLst>
          </p:nvPr>
        </p:nvSpPr>
        <p:spPr>
          <a:xfrm>
            <a:off x="7239000" y="18542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pilot-head"/>
          <p:cNvSpPr txBox="1"/>
          <p:nvPr/>
        </p:nvSpPr>
        <p:spPr>
          <a:xfrm>
            <a:off x="7658100" y="18415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 РЕЗУЛЬТАТ</a:t>
            </a:r>
            <a:endParaRPr lang="en-US" sz="1100" noProof="1"/>
          </a:p>
        </p:txBody>
      </p:sp>
      <p:sp>
        <p:nvSpPr>
          <p:cNvPr id="16" name="compare-title"/>
          <p:cNvSpPr txBox="1"/>
          <p:nvPr/>
        </p:nvSpPr>
        <p:spPr>
          <a:xfrm>
            <a:off x="7658100" y="2209800"/>
            <a:ext cx="39243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База → пилот → сравнение</a:t>
            </a:r>
            <a:endParaRPr lang="en-US" sz="1700" noProof="1"/>
          </a:p>
        </p:txBody>
      </p:sp>
      <p:sp>
        <p:nvSpPr>
          <p:cNvPr id="17" name="compare-note"/>
          <p:cNvSpPr txBox="1"/>
          <p:nvPr/>
        </p:nvSpPr>
        <p:spPr>
          <a:xfrm>
            <a:off x="7658100" y="2590800"/>
            <a:ext cx="39243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Сопоставляем сопоставимые смены и продукцию; пороги успеха фиксируем до пилота.</a:t>
            </a:r>
            <a:endParaRPr lang="en-US" sz="1200" noProof="1"/>
          </a:p>
        </p:txBody>
      </p:sp>
      <p:sp>
        <p:nvSpPr>
          <p:cNvPr id="18" name="metrics"/>
          <p:cNvSpPr txBox="1"/>
          <p:nvPr/>
        </p:nvSpPr>
        <p:spPr>
          <a:xfrm>
            <a:off x="7658100" y="3187700"/>
            <a:ext cx="3924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пропущенные лотки и качество CV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возвраты и списания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минуты незапланированных остановок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выпуск и производительность линии</a:t>
            </a:r>
            <a:endParaRPr lang="en-US" sz="1300" noProof="1"/>
          </a:p>
        </p:txBody>
      </p:sp>
      <p:sp>
        <p:nvSpPr>
          <p:cNvPr id="19" name="scale-head"/>
          <p:cNvSpPr txBox="1"/>
          <p:nvPr/>
        </p:nvSpPr>
        <p:spPr>
          <a:xfrm>
            <a:off x="7658100" y="4470400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04  КОГДА МАСШТАБИРУЕМ</a:t>
            </a:r>
            <a:endParaRPr lang="en-US" sz="1100" noProof="1"/>
          </a:p>
        </p:txBody>
      </p:sp>
      <p:sp>
        <p:nvSpPr>
          <p:cNvPr id="20" name="scale-list"/>
          <p:cNvSpPr txBox="1"/>
          <p:nvPr/>
        </p:nvSpPr>
        <p:spPr>
          <a:xfrm>
            <a:off x="7658100" y="4826000"/>
            <a:ext cx="39243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подтверждён эффект и окупаемость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качество контроля стабильно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нет потери производительности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✓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назначены владельцы процесса и данных</a:t>
            </a:r>
            <a:endParaRPr lang="en-US" sz="1200" noProof="1"/>
          </a:p>
        </p:txBody>
      </p:sp>
      <p:sp>
        <p:nvSpPr>
          <p:cNvPr id="21" name="decision-bg"/>
          <p:cNvSpPr/>
          <p:nvPr/>
        </p:nvSpPr>
        <p:spPr>
          <a:xfrm>
            <a:off x="7658100" y="6007100"/>
            <a:ext cx="39243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2" name="decision"/>
          <p:cNvSpPr txBox="1"/>
          <p:nvPr/>
        </p:nvSpPr>
        <p:spPr>
          <a:xfrm>
            <a:off x="7810500" y="607060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Решение: масштабировать / доработать / остановить</a:t>
            </a:r>
            <a:endParaRPr lang="en-US" sz="1100" noProof="1"/>
          </a:p>
        </p:txBody>
      </p:sp>
      <p:sp>
        <p:nvSpPr>
          <p:cNvPr id="23" name="source"/>
          <p:cNvSpPr txBox="1"/>
          <p:nvPr/>
        </p:nvSpPr>
        <p:spPr>
          <a:xfrm>
            <a:off x="609600" y="65532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Финансовые значения и целевые пороги заполняются по данным компании до запуска пилота.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27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БАЗОВЫЕ МЕТРИКИ</a:t>
            </a:r>
            <a:endParaRPr lang="en-US" sz="1000" noProof="1"/>
          </a:p>
        </p:txBody>
      </p:sp>
      <p:sp>
        <p:nvSpPr>
          <p:cNvPr id="3" name="period"/>
          <p:cNvSpPr txBox="1"/>
          <p:nvPr/>
        </p:nvSpPr>
        <p:spPr>
          <a:xfrm>
            <a:off x="8026400" y="3048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Единый период • партия • смена • маршрут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До внедрения фиксируем качество, трудозатраты
и потери - эта база определит эффект проекта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stage-head"/>
          <p:cNvSpPr txBox="1"/>
          <p:nvPr/>
        </p:nvSpPr>
        <p:spPr>
          <a:xfrm>
            <a:off x="609600" y="18415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ЭТАП</a:t>
            </a:r>
            <a:endParaRPr lang="en-US" sz="1000" noProof="1"/>
          </a:p>
        </p:txBody>
      </p:sp>
      <p:sp>
        <p:nvSpPr>
          <p:cNvPr id="7" name="metrics-head"/>
          <p:cNvSpPr txBox="1"/>
          <p:nvPr/>
        </p:nvSpPr>
        <p:spPr>
          <a:xfrm>
            <a:off x="3022600" y="1841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ЧТО ИЗМЕРЯЕМ</a:t>
            </a:r>
            <a:endParaRPr lang="en-US" sz="1000" noProof="1"/>
          </a:p>
        </p:txBody>
      </p:sp>
      <p:sp>
        <p:nvSpPr>
          <p:cNvPr id="8" name="evidence-head"/>
          <p:cNvSpPr txBox="1"/>
          <p:nvPr/>
        </p:nvSpPr>
        <p:spPr>
          <a:xfrm>
            <a:off x="8102600" y="18415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КАК ПОДТВЕРЖДАЕМ</a:t>
            </a:r>
            <a:endParaRPr lang="en-US" sz="1000" noProof="1"/>
          </a:p>
        </p:txBody>
      </p:sp>
      <p:sp>
        <p:nvSpPr>
          <p:cNvPr id="9" name="header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146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10" name="r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eyJpY29uTmFtZSI6ImZhczp0ZW1wZXJhdHVyZS1sb3cifQ</pptd:icon>
              </p:ext>
            </p:extLst>
          </p:nvPr>
        </p:nvSpPr>
        <p:spPr>
          <a:xfrm>
            <a:off x="609600" y="24257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96"/>
                </a:moveTo>
                <a:cubicBezTo>
                  <a:pt x="96" y="43"/>
                  <a:pt x="139" y="0"/>
                  <a:pt x="192" y="0"/>
                </a:cubicBezTo>
                <a:cubicBezTo>
                  <a:pt x="245" y="0"/>
                  <a:pt x="288" y="43"/>
                  <a:pt x="288" y="96"/>
                </a:cubicBezTo>
                <a:lnTo>
                  <a:pt x="288" y="261"/>
                </a:lnTo>
                <a:cubicBezTo>
                  <a:pt x="318" y="287"/>
                  <a:pt x="336" y="325"/>
                  <a:pt x="336" y="368"/>
                </a:cubicBezTo>
                <a:cubicBezTo>
                  <a:pt x="336" y="448"/>
                  <a:pt x="272" y="512"/>
                  <a:pt x="192" y="512"/>
                </a:cubicBezTo>
                <a:cubicBezTo>
                  <a:pt x="113" y="512"/>
                  <a:pt x="48" y="448"/>
                  <a:pt x="48" y="368"/>
                </a:cubicBezTo>
                <a:cubicBezTo>
                  <a:pt x="48" y="325"/>
                  <a:pt x="67" y="287"/>
                  <a:pt x="96" y="261"/>
                </a:cubicBezTo>
                <a:lnTo>
                  <a:pt x="96" y="96"/>
                </a:lnTo>
                <a:close/>
                <a:moveTo>
                  <a:pt x="192" y="432"/>
                </a:moveTo>
                <a:cubicBezTo>
                  <a:pt x="227" y="432"/>
                  <a:pt x="256" y="403"/>
                  <a:pt x="256" y="368"/>
                </a:cubicBezTo>
                <a:cubicBezTo>
                  <a:pt x="256" y="341"/>
                  <a:pt x="240" y="318"/>
                  <a:pt x="216" y="309"/>
                </a:cubicBez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09"/>
                </a:lnTo>
                <a:cubicBezTo>
                  <a:pt x="145" y="318"/>
                  <a:pt x="128" y="341"/>
                  <a:pt x="128" y="368"/>
                </a:cubicBezTo>
                <a:cubicBezTo>
                  <a:pt x="128" y="403"/>
                  <a:pt x="157" y="432"/>
                  <a:pt x="192" y="432"/>
                </a:cubicBezTo>
                <a:close/>
              </a:path>
              <a:path w="512" h="512">
                <a:moveTo>
                  <a:pt x="352" y="80"/>
                </a:moveTo>
                <a:cubicBezTo>
                  <a:pt x="352" y="36"/>
                  <a:pt x="388" y="0"/>
                  <a:pt x="432" y="0"/>
                </a:cubicBezTo>
                <a:cubicBezTo>
                  <a:pt x="476" y="0"/>
                  <a:pt x="512" y="36"/>
                  <a:pt x="512" y="80"/>
                </a:cubicBezTo>
                <a:cubicBezTo>
                  <a:pt x="512" y="124"/>
                  <a:pt x="476" y="160"/>
                  <a:pt x="432" y="160"/>
                </a:cubicBezTo>
                <a:cubicBezTo>
                  <a:pt x="388" y="160"/>
                  <a:pt x="352" y="124"/>
                  <a:pt x="352" y="80"/>
                </a:cubicBezTo>
                <a:close/>
                <a:moveTo>
                  <a:pt x="464" y="80"/>
                </a:moveTo>
                <a:cubicBezTo>
                  <a:pt x="464" y="62"/>
                  <a:pt x="450" y="48"/>
                  <a:pt x="432" y="48"/>
                </a:cubicBezTo>
                <a:cubicBezTo>
                  <a:pt x="414" y="48"/>
                  <a:pt x="400" y="62"/>
                  <a:pt x="400" y="80"/>
                </a:cubicBezTo>
                <a:cubicBezTo>
                  <a:pt x="400" y="98"/>
                  <a:pt x="414" y="112"/>
                  <a:pt x="432" y="112"/>
                </a:cubicBezTo>
                <a:cubicBezTo>
                  <a:pt x="450" y="112"/>
                  <a:pt x="464" y="98"/>
                  <a:pt x="464" y="8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row1-stage"/>
          <p:cNvSpPr txBox="1"/>
          <p:nvPr/>
        </p:nvSpPr>
        <p:spPr>
          <a:xfrm>
            <a:off x="1079500" y="23241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охлаждение партий</a:t>
            </a:r>
            <a:endParaRPr lang="en-US" sz="1500" noProof="1"/>
          </a:p>
        </p:txBody>
      </p:sp>
      <p:sp>
        <p:nvSpPr>
          <p:cNvPr id="12" name="row1-metrics"/>
          <p:cNvSpPr txBox="1"/>
          <p:nvPr/>
        </p:nvSpPr>
        <p:spPr>
          <a:xfrm>
            <a:off x="3022600" y="2311400"/>
            <a:ext cx="46355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Температура, время и скорость охлаждения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партий в норме / вне нормы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партий с конденсатом после охлаждения</a:t>
            </a:r>
            <a:endParaRPr lang="en-US" sz="1300" noProof="1"/>
          </a:p>
        </p:txBody>
      </p:sp>
      <p:sp>
        <p:nvSpPr>
          <p:cNvPr id="13" name="row1-evidence"/>
          <p:cNvSpPr txBox="1"/>
          <p:nvPr/>
        </p:nvSpPr>
        <p:spPr>
          <a:xfrm>
            <a:off x="8102600" y="2311400"/>
            <a:ext cx="3479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Норматив технолога, журнал охлаждения и качества.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Тепловизор + контактный термометр для </a:t>
            </a:r>
            <a:r>
              <a:rPr lang="ru-RU" sz="1200" noProof="1">
                <a:solidFill>
                  <a:srgbClr val="657475"/>
                </a:solidFill>
                <a:latin typeface="Arial"/>
                <a:ea typeface="Arial"/>
              </a:rPr>
              <a:t>дополнительной проверки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температуры.</a:t>
            </a:r>
            <a:endParaRPr lang="en-US" sz="1200" noProof="1"/>
          </a:p>
        </p:txBody>
      </p:sp>
      <p:sp>
        <p:nvSpPr>
          <p:cNvPr id="14" name="row1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34671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r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eyJpY29uTmFtZSI6ImZhczpib3gtb3BlbiJ9</pptd:icon>
              </p:ext>
            </p:extLst>
          </p:nvPr>
        </p:nvSpPr>
        <p:spPr>
          <a:xfrm>
            <a:off x="609600" y="37592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6" name="row2-stage"/>
          <p:cNvSpPr txBox="1"/>
          <p:nvPr/>
        </p:nvSpPr>
        <p:spPr>
          <a:xfrm>
            <a:off x="1079500" y="36576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линия и контроль</a:t>
            </a:r>
            <a:endParaRPr lang="en-US" sz="1500" noProof="1"/>
          </a:p>
        </p:txBody>
      </p:sp>
      <p:sp>
        <p:nvSpPr>
          <p:cNvPr id="17" name="row2-metrics"/>
          <p:cNvSpPr txBox="1"/>
          <p:nvPr/>
        </p:nvSpPr>
        <p:spPr>
          <a:xfrm>
            <a:off x="3022600" y="3644900"/>
            <a:ext cx="46355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Скорость, выпуск, простои и задержанные лотки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человеко-часы и стоимость ручного контроля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пропущенных дефектов: Nпроп / (Nвыявл + Nпроп)</a:t>
            </a:r>
            <a:endParaRPr lang="en-US" sz="1300" noProof="1"/>
          </a:p>
        </p:txBody>
      </p:sp>
      <p:sp>
        <p:nvSpPr>
          <p:cNvPr id="18" name="row2-evidence"/>
          <p:cNvSpPr txBox="1"/>
          <p:nvPr/>
        </p:nvSpPr>
        <p:spPr>
          <a:xfrm>
            <a:off x="8102600" y="3644900"/>
            <a:ext cx="34798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Счётчик линии, журнал простоев, табель и журнал дефектов.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Повторный контроль выборки сразу после ручной проверки.</a:t>
            </a:r>
            <a:endParaRPr lang="en-US" sz="1200" noProof="1"/>
          </a:p>
        </p:txBody>
      </p:sp>
      <p:sp>
        <p:nvSpPr>
          <p:cNvPr id="19" name="row2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851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r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09600" y="51308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row3-stage"/>
          <p:cNvSpPr txBox="1"/>
          <p:nvPr/>
        </p:nvSpPr>
        <p:spPr>
          <a:xfrm>
            <a:off x="1079500" y="50419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рейсы до магазина</a:t>
            </a:r>
            <a:endParaRPr lang="en-US" sz="1500" noProof="1"/>
          </a:p>
        </p:txBody>
      </p:sp>
      <p:sp>
        <p:nvSpPr>
          <p:cNvPr id="22" name="row3-metrics"/>
          <p:cNvSpPr txBox="1"/>
          <p:nvPr/>
        </p:nvSpPr>
        <p:spPr>
          <a:xfrm>
            <a:off x="3022600" y="5029200"/>
            <a:ext cx="46355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Время доставки и потеря остаточного срока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рейсы с температурой вне нормы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возвраты, списания и рекламации</a:t>
            </a:r>
            <a:endParaRPr lang="en-US" sz="1300" noProof="1"/>
          </a:p>
        </p:txBody>
      </p:sp>
      <p:sp>
        <p:nvSpPr>
          <p:cNvPr id="23" name="row3-evidence"/>
          <p:cNvSpPr txBox="1"/>
          <p:nvPr/>
        </p:nvSpPr>
        <p:spPr>
          <a:xfrm>
            <a:off x="8102600" y="5029200"/>
            <a:ext cx="3479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Путевые листы, GPS, терморегистратор, акты и реестр рекламаций.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Каждая рекламация связана с партией и рейсом.</a:t>
            </a:r>
            <a:endParaRPr lang="en-US" sz="1200" noProof="1"/>
          </a:p>
        </p:txBody>
      </p:sp>
      <p:sp>
        <p:nvSpPr>
          <p:cNvPr id="24" name="common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common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Общий принцип долей: N единиц с признаком / N всех проверенных единиц × 100%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2 «Оценка текущего состояния - точка А». Замеры - в одинаковых контрольных точках.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ФИНАНСОВАЯ БАЗА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Общие потери в точке А складываются из четырёх частей. </a:t>
            </a:r>
            <a:r>
              <a:rPr lang="ru-RU" sz="2600" b="1" noProof="1">
                <a:solidFill>
                  <a:srgbClr val="172526"/>
                </a:solidFill>
                <a:latin typeface="Georgia"/>
                <a:ea typeface="Georgia"/>
              </a:rPr>
              <a:t>О</a:t>
            </a: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дну себестоимость учитываем только один раз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total-label"/>
          <p:cNvSpPr txBox="1"/>
          <p:nvPr/>
        </p:nvSpPr>
        <p:spPr>
          <a:xfrm>
            <a:off x="609600" y="1879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ОБЩИЕ ФИНАНСОВЫЕ ПОТЕРИ ЗА ЕДИНЫЙ ПЕРИОД</a:t>
            </a:r>
            <a:endParaRPr lang="en-US" sz="1000" noProof="1"/>
          </a:p>
        </p:txBody>
      </p:sp>
      <p:sp>
        <p:nvSpPr>
          <p:cNvPr id="6" name="total-formula"/>
          <p:cNvSpPr txBox="1"/>
          <p:nvPr/>
        </p:nvSpPr>
        <p:spPr>
          <a:xfrm>
            <a:off x="609600" y="2209800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C общие = C контроля + C простоя + C списаний + C возвратов</a:t>
            </a:r>
            <a:endParaRPr lang="en-US" sz="2400" noProof="1"/>
          </a:p>
        </p:txBody>
      </p:sp>
      <p:sp>
        <p:nvSpPr>
          <p:cNvPr id="7" name="total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844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8" name="item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609600" y="3162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9" name="item1-title"/>
          <p:cNvSpPr txBox="1"/>
          <p:nvPr/>
        </p:nvSpPr>
        <p:spPr>
          <a:xfrm>
            <a:off x="1104900" y="30861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01  Ручной контроль</a:t>
            </a:r>
            <a:endParaRPr lang="en-US" sz="1800" noProof="1"/>
          </a:p>
        </p:txBody>
      </p:sp>
      <p:sp>
        <p:nvSpPr>
          <p:cNvPr id="10" name="item1-formula"/>
          <p:cNvSpPr txBox="1"/>
          <p:nvPr/>
        </p:nvSpPr>
        <p:spPr>
          <a:xfrm>
            <a:off x="1104900" y="34925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человеко-часы × стоимость часа</a:t>
            </a:r>
            <a:endParaRPr lang="en-US" sz="1400" noProof="1"/>
          </a:p>
        </p:txBody>
      </p:sp>
      <p:sp>
        <p:nvSpPr>
          <p:cNvPr id="11" name="item1-note"/>
          <p:cNvSpPr txBox="1"/>
          <p:nvPr/>
        </p:nvSpPr>
        <p:spPr>
          <a:xfrm>
            <a:off x="1104900" y="3873500"/>
            <a:ext cx="4445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Операторы × время контроля; дополнительно - трудозатраты на один проверенный лоток.</a:t>
            </a:r>
            <a:endParaRPr lang="en-US" sz="1200" noProof="1"/>
          </a:p>
        </p:txBody>
      </p:sp>
      <p:sp>
        <p:nvSpPr>
          <p:cNvPr id="12" name="item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eyJpY29uTmFtZSI6ImZhczpwYXVzZSJ9</pptd:icon>
              </p:ext>
            </p:extLst>
          </p:nvPr>
        </p:nvSpPr>
        <p:spPr>
          <a:xfrm>
            <a:off x="6642100" y="3162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48" y="32"/>
                </a:moveTo>
                <a:cubicBezTo>
                  <a:pt x="22" y="32"/>
                  <a:pt x="0" y="54"/>
                  <a:pt x="0" y="80"/>
                </a:cubicBezTo>
                <a:lnTo>
                  <a:pt x="0" y="432"/>
                </a:lnTo>
                <a:cubicBezTo>
                  <a:pt x="0" y="459"/>
                  <a:pt x="22" y="480"/>
                  <a:pt x="48" y="480"/>
                </a:cubicBezTo>
                <a:lnTo>
                  <a:pt x="112" y="480"/>
                </a:lnTo>
                <a:cubicBezTo>
                  <a:pt x="139" y="480"/>
                  <a:pt x="160" y="459"/>
                  <a:pt x="160" y="432"/>
                </a:cubicBezTo>
                <a:lnTo>
                  <a:pt x="160" y="80"/>
                </a:lnTo>
                <a:cubicBezTo>
                  <a:pt x="160" y="54"/>
                  <a:pt x="139" y="32"/>
                  <a:pt x="112" y="32"/>
                </a:cubicBezTo>
                <a:lnTo>
                  <a:pt x="48" y="32"/>
                </a:lnTo>
                <a:close/>
                <a:moveTo>
                  <a:pt x="272" y="32"/>
                </a:moveTo>
                <a:cubicBezTo>
                  <a:pt x="246" y="32"/>
                  <a:pt x="224" y="54"/>
                  <a:pt x="224" y="80"/>
                </a:cubicBezTo>
                <a:lnTo>
                  <a:pt x="224" y="432"/>
                </a:lnTo>
                <a:cubicBezTo>
                  <a:pt x="224" y="459"/>
                  <a:pt x="246" y="480"/>
                  <a:pt x="272" y="480"/>
                </a:cubicBezTo>
                <a:lnTo>
                  <a:pt x="336" y="480"/>
                </a:lnTo>
                <a:cubicBezTo>
                  <a:pt x="363" y="480"/>
                  <a:pt x="384" y="459"/>
                  <a:pt x="384" y="432"/>
                </a:cubicBezTo>
                <a:lnTo>
                  <a:pt x="384" y="80"/>
                </a:lnTo>
                <a:cubicBezTo>
                  <a:pt x="384" y="54"/>
                  <a:pt x="363" y="32"/>
                  <a:pt x="336" y="32"/>
                </a:cubicBezTo>
                <a:lnTo>
                  <a:pt x="272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3" name="item2-title"/>
          <p:cNvSpPr txBox="1"/>
          <p:nvPr/>
        </p:nvSpPr>
        <p:spPr>
          <a:xfrm>
            <a:off x="7137400" y="30861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02  Простои линии</a:t>
            </a:r>
            <a:endParaRPr lang="en-US" sz="1800" noProof="1"/>
          </a:p>
        </p:txBody>
      </p:sp>
      <p:sp>
        <p:nvSpPr>
          <p:cNvPr id="14" name="item2-formula"/>
          <p:cNvSpPr txBox="1"/>
          <p:nvPr/>
        </p:nvSpPr>
        <p:spPr>
          <a:xfrm>
            <a:off x="7137400" y="34925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минуты остановок × стоимость минуты</a:t>
            </a:r>
            <a:endParaRPr lang="en-US" sz="1400" noProof="1"/>
          </a:p>
        </p:txBody>
      </p:sp>
      <p:sp>
        <p:nvSpPr>
          <p:cNvPr id="15" name="item2-note"/>
          <p:cNvSpPr txBox="1"/>
          <p:nvPr/>
        </p:nvSpPr>
        <p:spPr>
          <a:xfrm>
            <a:off x="7137400" y="3873500"/>
            <a:ext cx="4445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Отдельно фиксируем долю простоя и количество лотков, выпуск которых задержан.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eyJ2aWV3Qm94IjpbMSwxMDVdLCJwb2ludHMiOiIwLDAgMCwxMDUifQ</pptd:line>
              </p:ext>
            </p:extLst>
          </p:nvPr>
        </p:nvSpPr>
        <p:spPr>
          <a:xfrm>
            <a:off x="6032500" y="3111500"/>
            <a:ext cx="12700" cy="1333500"/>
          </a:xfrm>
          <a:custGeom>
            <a:avLst/>
            <a:gdLst/>
            <a:ahLst/>
            <a:cxnLst/>
            <a:rect l="l" t="t" r="r" b="b"/>
            <a:pathLst>
              <a:path w="1" h="105">
                <a:moveTo>
                  <a:pt x="0" y="0"/>
                </a:moveTo>
                <a:lnTo>
                  <a:pt x="0" y="105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row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6101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8" name="item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eyJpY29uTmFtZSI6ImZhczp0cmFzaC1jYW4ifQ</pptd:icon>
              </p:ext>
            </p:extLst>
          </p:nvPr>
        </p:nvSpPr>
        <p:spPr>
          <a:xfrm>
            <a:off x="609600" y="49022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37" y="6"/>
                </a:moveTo>
                <a:cubicBezTo>
                  <a:pt x="141" y="-7"/>
                  <a:pt x="153" y="-16"/>
                  <a:pt x="167" y="-16"/>
                </a:cubicBezTo>
                <a:lnTo>
                  <a:pt x="281" y="-16"/>
                </a:lnTo>
                <a:cubicBezTo>
                  <a:pt x="295" y="-16"/>
                  <a:pt x="307" y="-7"/>
                  <a:pt x="311" y="6"/>
                </a:cubicBezTo>
                <a:lnTo>
                  <a:pt x="320" y="32"/>
                </a:lnTo>
                <a:lnTo>
                  <a:pt x="416" y="32"/>
                </a:lnTo>
                <a:cubicBezTo>
                  <a:pt x="434" y="32"/>
                  <a:pt x="448" y="46"/>
                  <a:pt x="448" y="64"/>
                </a:cubicBezTo>
                <a:cubicBezTo>
                  <a:pt x="448" y="82"/>
                  <a:pt x="434" y="96"/>
                  <a:pt x="416" y="96"/>
                </a:cubicBezTo>
                <a:lnTo>
                  <a:pt x="32" y="96"/>
                </a:lnTo>
                <a:cubicBezTo>
                  <a:pt x="14" y="96"/>
                  <a:pt x="0" y="82"/>
                  <a:pt x="0" y="64"/>
                </a:cubicBezTo>
                <a:cubicBezTo>
                  <a:pt x="0" y="46"/>
                  <a:pt x="14" y="32"/>
                  <a:pt x="32" y="32"/>
                </a:cubicBezTo>
                <a:lnTo>
                  <a:pt x="128" y="32"/>
                </a:lnTo>
                <a:lnTo>
                  <a:pt x="137" y="6"/>
                </a:lnTo>
                <a:close/>
              </a:path>
              <a:path w="448" h="512">
                <a:moveTo>
                  <a:pt x="32" y="144"/>
                </a:moveTo>
                <a:lnTo>
                  <a:pt x="416" y="144"/>
                </a:lnTo>
                <a:lnTo>
                  <a:pt x="416" y="448"/>
                </a:lnTo>
                <a:cubicBezTo>
                  <a:pt x="416" y="483"/>
                  <a:pt x="387" y="512"/>
                  <a:pt x="352" y="512"/>
                </a:cubicBezTo>
                <a:lnTo>
                  <a:pt x="96" y="512"/>
                </a:lnTo>
                <a:cubicBezTo>
                  <a:pt x="61" y="512"/>
                  <a:pt x="32" y="483"/>
                  <a:pt x="32" y="448"/>
                </a:cubicBezTo>
                <a:lnTo>
                  <a:pt x="32" y="144"/>
                </a:lnTo>
                <a:close/>
                <a:moveTo>
                  <a:pt x="120" y="208"/>
                </a:moveTo>
                <a:cubicBezTo>
                  <a:pt x="107" y="208"/>
                  <a:pt x="96" y="219"/>
                  <a:pt x="96" y="232"/>
                </a:cubicBezTo>
                <a:lnTo>
                  <a:pt x="96" y="424"/>
                </a:lnTo>
                <a:cubicBezTo>
                  <a:pt x="96" y="437"/>
                  <a:pt x="107" y="448"/>
                  <a:pt x="120" y="448"/>
                </a:cubicBezTo>
                <a:cubicBezTo>
                  <a:pt x="133" y="448"/>
                  <a:pt x="144" y="437"/>
                  <a:pt x="144" y="424"/>
                </a:cubicBezTo>
                <a:lnTo>
                  <a:pt x="144" y="232"/>
                </a:lnTo>
                <a:cubicBezTo>
                  <a:pt x="144" y="219"/>
                  <a:pt x="133" y="208"/>
                  <a:pt x="120" y="208"/>
                </a:cubicBezTo>
                <a:close/>
                <a:moveTo>
                  <a:pt x="224" y="208"/>
                </a:moveTo>
                <a:cubicBezTo>
                  <a:pt x="211" y="208"/>
                  <a:pt x="200" y="219"/>
                  <a:pt x="200" y="232"/>
                </a:cubicBezTo>
                <a:lnTo>
                  <a:pt x="200" y="424"/>
                </a:lnTo>
                <a:cubicBezTo>
                  <a:pt x="200" y="437"/>
                  <a:pt x="211" y="448"/>
                  <a:pt x="224" y="448"/>
                </a:cubicBezTo>
                <a:cubicBezTo>
                  <a:pt x="237" y="448"/>
                  <a:pt x="248" y="437"/>
                  <a:pt x="248" y="424"/>
                </a:cubicBezTo>
                <a:lnTo>
                  <a:pt x="248" y="232"/>
                </a:lnTo>
                <a:cubicBezTo>
                  <a:pt x="248" y="219"/>
                  <a:pt x="237" y="208"/>
                  <a:pt x="224" y="208"/>
                </a:cubicBezTo>
                <a:close/>
                <a:moveTo>
                  <a:pt x="328" y="208"/>
                </a:moveTo>
                <a:cubicBezTo>
                  <a:pt x="315" y="208"/>
                  <a:pt x="304" y="219"/>
                  <a:pt x="304" y="232"/>
                </a:cubicBezTo>
                <a:lnTo>
                  <a:pt x="304" y="424"/>
                </a:lnTo>
                <a:cubicBezTo>
                  <a:pt x="304" y="437"/>
                  <a:pt x="315" y="448"/>
                  <a:pt x="328" y="448"/>
                </a:cubicBezTo>
                <a:cubicBezTo>
                  <a:pt x="341" y="448"/>
                  <a:pt x="352" y="437"/>
                  <a:pt x="352" y="424"/>
                </a:cubicBezTo>
                <a:lnTo>
                  <a:pt x="352" y="232"/>
                </a:lnTo>
                <a:cubicBezTo>
                  <a:pt x="352" y="219"/>
                  <a:pt x="341" y="208"/>
                  <a:pt x="328" y="208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item3-title"/>
          <p:cNvSpPr txBox="1"/>
          <p:nvPr/>
        </p:nvSpPr>
        <p:spPr>
          <a:xfrm>
            <a:off x="1104900" y="48260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03  Списания</a:t>
            </a:r>
            <a:endParaRPr lang="en-US" sz="1800" noProof="1"/>
          </a:p>
        </p:txBody>
      </p:sp>
      <p:sp>
        <p:nvSpPr>
          <p:cNvPr id="20" name="item3-formula"/>
          <p:cNvSpPr txBox="1"/>
          <p:nvPr/>
        </p:nvSpPr>
        <p:spPr>
          <a:xfrm>
            <a:off x="1104900" y="5232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списанные лотки × себестоимость + утилизация</a:t>
            </a:r>
            <a:endParaRPr lang="en-US" sz="1400" noProof="1"/>
          </a:p>
        </p:txBody>
      </p:sp>
      <p:sp>
        <p:nvSpPr>
          <p:cNvPr id="21" name="item3-note"/>
          <p:cNvSpPr txBox="1"/>
          <p:nvPr/>
        </p:nvSpPr>
        <p:spPr>
          <a:xfrm>
            <a:off x="1104900" y="5613400"/>
            <a:ext cx="444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Количество и причина подтверждаются актом списания.</a:t>
            </a:r>
            <a:endParaRPr lang="en-US" sz="1200" noProof="1"/>
          </a:p>
        </p:txBody>
      </p:sp>
      <p:sp>
        <p:nvSpPr>
          <p:cNvPr id="22" name="item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eyJpY29uTmFtZSI6ImZhczpyb3RhdGUtbGVmdCJ9</pptd:icon>
              </p:ext>
            </p:extLst>
          </p:nvPr>
        </p:nvSpPr>
        <p:spPr>
          <a:xfrm>
            <a:off x="6642100" y="49022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4" y="192"/>
                </a:moveTo>
                <a:lnTo>
                  <a:pt x="168" y="192"/>
                </a:lnTo>
                <a:cubicBezTo>
                  <a:pt x="178" y="192"/>
                  <a:pt x="187" y="186"/>
                  <a:pt x="190" y="177"/>
                </a:cubicBezTo>
                <a:cubicBezTo>
                  <a:pt x="194" y="168"/>
                  <a:pt x="192" y="158"/>
                  <a:pt x="185" y="151"/>
                </a:cubicBezTo>
                <a:lnTo>
                  <a:pt x="138" y="104"/>
                </a:lnTo>
                <a:cubicBezTo>
                  <a:pt x="214" y="46"/>
                  <a:pt x="323" y="51"/>
                  <a:pt x="392" y="120"/>
                </a:cubicBezTo>
                <a:cubicBezTo>
                  <a:pt x="467" y="195"/>
                  <a:pt x="467" y="317"/>
                  <a:pt x="392" y="392"/>
                </a:cubicBezTo>
                <a:cubicBezTo>
                  <a:pt x="317" y="467"/>
                  <a:pt x="195" y="467"/>
                  <a:pt x="120" y="392"/>
                </a:cubicBezTo>
                <a:cubicBezTo>
                  <a:pt x="110" y="382"/>
                  <a:pt x="101" y="370"/>
                  <a:pt x="94" y="359"/>
                </a:cubicBezTo>
                <a:cubicBezTo>
                  <a:pt x="84" y="344"/>
                  <a:pt x="65" y="339"/>
                  <a:pt x="50" y="349"/>
                </a:cubicBezTo>
                <a:cubicBezTo>
                  <a:pt x="35" y="358"/>
                  <a:pt x="30" y="378"/>
                  <a:pt x="40" y="393"/>
                </a:cubicBezTo>
                <a:cubicBezTo>
                  <a:pt x="50" y="409"/>
                  <a:pt x="61" y="424"/>
                  <a:pt x="75" y="437"/>
                </a:cubicBezTo>
                <a:cubicBezTo>
                  <a:pt x="175" y="537"/>
                  <a:pt x="337" y="537"/>
                  <a:pt x="437" y="437"/>
                </a:cubicBezTo>
                <a:cubicBezTo>
                  <a:pt x="537" y="337"/>
                  <a:pt x="537" y="175"/>
                  <a:pt x="437" y="75"/>
                </a:cubicBezTo>
                <a:cubicBezTo>
                  <a:pt x="343" y="-19"/>
                  <a:pt x="193" y="-25"/>
                  <a:pt x="93" y="59"/>
                </a:cubicBezTo>
                <a:lnTo>
                  <a:pt x="41" y="7"/>
                </a:lnTo>
                <a:cubicBezTo>
                  <a:pt x="34" y="0"/>
                  <a:pt x="24" y="-2"/>
                  <a:pt x="15" y="2"/>
                </a:cubicBezTo>
                <a:cubicBezTo>
                  <a:pt x="6" y="6"/>
                  <a:pt x="0" y="14"/>
                  <a:pt x="0" y="24"/>
                </a:cubicBezTo>
                <a:lnTo>
                  <a:pt x="0" y="168"/>
                </a:lnTo>
                <a:cubicBezTo>
                  <a:pt x="0" y="181"/>
                  <a:pt x="11" y="192"/>
                  <a:pt x="24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item4-title"/>
          <p:cNvSpPr txBox="1"/>
          <p:nvPr/>
        </p:nvSpPr>
        <p:spPr>
          <a:xfrm>
            <a:off x="7137400" y="48260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04  Возвраты</a:t>
            </a:r>
            <a:endParaRPr lang="en-US" sz="1800" noProof="1"/>
          </a:p>
        </p:txBody>
      </p:sp>
      <p:sp>
        <p:nvSpPr>
          <p:cNvPr id="24" name="item4-formula"/>
          <p:cNvSpPr txBox="1"/>
          <p:nvPr/>
        </p:nvSpPr>
        <p:spPr>
          <a:xfrm>
            <a:off x="7137400" y="5232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продукция + обратная логистика + утилизация</a:t>
            </a:r>
            <a:endParaRPr lang="en-US" sz="1400" noProof="1"/>
          </a:p>
        </p:txBody>
      </p:sp>
      <p:sp>
        <p:nvSpPr>
          <p:cNvPr id="25" name="item4-note"/>
          <p:cNvSpPr txBox="1"/>
          <p:nvPr/>
        </p:nvSpPr>
        <p:spPr>
          <a:xfrm>
            <a:off x="7137400" y="5613400"/>
            <a:ext cx="444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Причина возврата подтверждается контролем качества и связывается с партией и рейсом.</a:t>
            </a:r>
            <a:endParaRPr lang="en-US" sz="1200" noProof="1"/>
          </a:p>
        </p:txBody>
      </p:sp>
      <p:sp>
        <p:nvSpPr>
          <p:cNvPr id="26" name="lower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eyJ2aWV3Qm94IjpbMSw5NF0sInBvaW50cyI6IjAsMCAwLDk0In0</pptd:line>
              </p:ext>
            </p:extLst>
          </p:nvPr>
        </p:nvSpPr>
        <p:spPr>
          <a:xfrm>
            <a:off x="6032500" y="4851400"/>
            <a:ext cx="12700" cy="1193800"/>
          </a:xfrm>
          <a:custGeom>
            <a:avLst/>
            <a:gdLst/>
            <a:ahLst/>
            <a:cxnLst/>
            <a:rect l="l" t="t" r="r" b="b"/>
            <a:pathLst>
              <a:path w="1" h="94">
                <a:moveTo>
                  <a:pt x="0" y="0"/>
                </a:moveTo>
                <a:lnTo>
                  <a:pt x="0" y="9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7" name="warning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8" name="warning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Контроль двойного счёта: себестоимость одной продукции не учитываем одновременно в списаниях и возвратах</a:t>
            </a:r>
            <a:endParaRPr lang="en-US" sz="1100" noProof="1"/>
          </a:p>
        </p:txBody>
      </p:sp>
      <p:sp>
        <p:nvSpPr>
          <p:cNvPr id="29" name="source"/>
          <p:cNvSpPr txBox="1"/>
          <p:nvPr/>
        </p:nvSpPr>
        <p:spPr>
          <a:xfrm>
            <a:off x="609600" y="66040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Все статьи рассчитываются за один период и связываются по партиям, сменам и маршрутам.</a:t>
            </a:r>
            <a:endParaRPr lang="en-US" sz="900" noProof="1"/>
          </a:p>
        </p:txBody>
      </p:sp>
      <p:sp>
        <p:nvSpPr>
          <p:cNvPr id="30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ОТВЕТСТВЕННОСТЬ И УТВЕРЖДЕНИЕ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Издержки относим на первый подтверждённый этап;
нераспределённые не делим до завершения проверки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ТРИ КОНТРОЛЬНЫЕ ТОЧКИ ПО КАЖДОЙ ПАРТИИ</a:t>
            </a:r>
            <a:endParaRPr lang="en-US" sz="1000" noProof="1"/>
          </a:p>
        </p:txBody>
      </p:sp>
      <p:sp>
        <p:nvSpPr>
          <p:cNvPr id="6" name="point1-num"/>
          <p:cNvSpPr txBox="1"/>
          <p:nvPr/>
        </p:nvSpPr>
        <p:spPr>
          <a:xfrm>
            <a:off x="6096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endParaRPr lang="en-US" sz="2200" noProof="1"/>
          </a:p>
        </p:txBody>
      </p:sp>
      <p:sp>
        <p:nvSpPr>
          <p:cNvPr id="7" name="point1-title"/>
          <p:cNvSpPr txBox="1"/>
          <p:nvPr/>
        </p:nvSpPr>
        <p:spPr>
          <a:xfrm>
            <a:off x="1117600" y="22098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После охлаждения</a:t>
            </a:r>
            <a:endParaRPr lang="en-US" sz="1500" noProof="1"/>
          </a:p>
        </p:txBody>
      </p:sp>
      <p:sp>
        <p:nvSpPr>
          <p:cNvPr id="8" name="point1-note"/>
          <p:cNvSpPr txBox="1"/>
          <p:nvPr/>
        </p:nvSpPr>
        <p:spPr>
          <a:xfrm>
            <a:off x="1117600" y="2565400"/>
            <a:ext cx="2667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Норма температуры и времени; отсутствие конденсата.</a:t>
            </a:r>
            <a:endParaRPr lang="en-US" sz="1200" noProof="1"/>
          </a:p>
        </p:txBody>
      </p:sp>
      <p:sp>
        <p:nvSpPr>
          <p:cNvPr id="9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eyJ2aWV3Qm94IjpbNDcsMV0sInBvaW50cyI6IjAsMCA0NywwIn0</pptd:line>
              </p:ext>
            </p:extLst>
          </p:nvPr>
        </p:nvSpPr>
        <p:spPr>
          <a:xfrm>
            <a:off x="3886200" y="2628900"/>
            <a:ext cx="596900" cy="12700"/>
          </a:xfrm>
          <a:custGeom>
            <a:avLst/>
            <a:gdLst/>
            <a:ahLst/>
            <a:cxnLst/>
            <a:rect l="l" t="t" r="r" b="b"/>
            <a:pathLst>
              <a:path w="47" h="1">
                <a:moveTo>
                  <a:pt x="0" y="0"/>
                </a:moveTo>
                <a:lnTo>
                  <a:pt x="47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0" name="point2-num"/>
          <p:cNvSpPr txBox="1"/>
          <p:nvPr/>
        </p:nvSpPr>
        <p:spPr>
          <a:xfrm>
            <a:off x="46355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endParaRPr lang="en-US" sz="2200" noProof="1"/>
          </a:p>
        </p:txBody>
      </p:sp>
      <p:sp>
        <p:nvSpPr>
          <p:cNvPr id="11" name="point2-title"/>
          <p:cNvSpPr txBox="1"/>
          <p:nvPr/>
        </p:nvSpPr>
        <p:spPr>
          <a:xfrm>
            <a:off x="5143500" y="2209800"/>
            <a:ext cx="2603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После упаковки</a:t>
            </a:r>
            <a:endParaRPr lang="en-US" sz="1500" noProof="1"/>
          </a:p>
        </p:txBody>
      </p:sp>
      <p:sp>
        <p:nvSpPr>
          <p:cNvPr id="12" name="point2-note"/>
          <p:cNvSpPr txBox="1"/>
          <p:nvPr/>
        </p:nvSpPr>
        <p:spPr>
          <a:xfrm>
            <a:off x="5143500" y="25654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До отгрузки: отсутствие конденсата на крышке.</a:t>
            </a:r>
            <a:endParaRPr lang="en-US" sz="1200" noProof="1"/>
          </a:p>
        </p:txBody>
      </p:sp>
      <p:sp>
        <p:nvSpPr>
          <p:cNvPr id="13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eyJ2aWV3Qm94IjpbNDcsMV0sInBvaW50cyI6IjAsMCA0NywwIn0</pptd:line>
              </p:ext>
            </p:extLst>
          </p:nvPr>
        </p:nvSpPr>
        <p:spPr>
          <a:xfrm>
            <a:off x="7861300" y="2628900"/>
            <a:ext cx="596900" cy="12700"/>
          </a:xfrm>
          <a:custGeom>
            <a:avLst/>
            <a:gdLst/>
            <a:ahLst/>
            <a:cxnLst/>
            <a:rect l="l" t="t" r="r" b="b"/>
            <a:pathLst>
              <a:path w="47" h="1">
                <a:moveTo>
                  <a:pt x="0" y="0"/>
                </a:moveTo>
                <a:lnTo>
                  <a:pt x="47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4" name="point3-num"/>
          <p:cNvSpPr txBox="1"/>
          <p:nvPr/>
        </p:nvSpPr>
        <p:spPr>
          <a:xfrm>
            <a:off x="86106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endParaRPr lang="en-US" sz="2200" noProof="1"/>
          </a:p>
        </p:txBody>
      </p:sp>
      <p:sp>
        <p:nvSpPr>
          <p:cNvPr id="15" name="point3-title"/>
          <p:cNvSpPr txBox="1"/>
          <p:nvPr/>
        </p:nvSpPr>
        <p:spPr>
          <a:xfrm>
            <a:off x="9118600" y="2209800"/>
            <a:ext cx="2463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Передача магазину</a:t>
            </a:r>
            <a:endParaRPr lang="en-US" sz="1500" noProof="1"/>
          </a:p>
        </p:txBody>
      </p:sp>
      <p:sp>
        <p:nvSpPr>
          <p:cNvPr id="16" name="point3-note"/>
          <p:cNvSpPr txBox="1"/>
          <p:nvPr/>
        </p:nvSpPr>
        <p:spPr>
          <a:xfrm>
            <a:off x="9118600" y="2565400"/>
            <a:ext cx="24638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Конденсат, температура и сроки доставки.</a:t>
            </a:r>
            <a:endParaRPr lang="en-US" sz="1200" noProof="1"/>
          </a:p>
        </p:txBody>
      </p:sp>
      <p:sp>
        <p:nvSpPr>
          <p:cNvPr id="17" name="rule-bg"/>
          <p:cNvSpPr/>
          <p:nvPr/>
        </p:nvSpPr>
        <p:spPr>
          <a:xfrm>
            <a:off x="609600" y="3390900"/>
            <a:ext cx="10972800" cy="5080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18" name="rule-bar"/>
          <p:cNvSpPr/>
          <p:nvPr/>
        </p:nvSpPr>
        <p:spPr>
          <a:xfrm>
            <a:off x="609600" y="3390900"/>
            <a:ext cx="63500" cy="5080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9" name="rule"/>
          <p:cNvSpPr txBox="1"/>
          <p:nvPr/>
        </p:nvSpPr>
        <p:spPr>
          <a:xfrm>
            <a:off x="850900" y="3479800"/>
            <a:ext cx="1054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Правило: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раннее отклонение останавливает передачу партии; последующая «норма» возможна только после устранения и повторного контроля.</a:t>
            </a:r>
            <a:endParaRPr lang="en-US" sz="1200" noProof="1"/>
          </a:p>
        </p:txBody>
      </p:sp>
      <p:sp>
        <p:nvSpPr>
          <p:cNvPr id="20" name="scenarios-head"/>
          <p:cNvSpPr txBox="1"/>
          <p:nvPr/>
        </p:nvSpPr>
        <p:spPr>
          <a:xfrm>
            <a:off x="609600" y="41529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КУДА ОТНОСИМ ИЗДЕРЖКИ</a:t>
            </a:r>
            <a:endParaRPr lang="en-US" sz="1000" noProof="1"/>
          </a:p>
        </p:txBody>
      </p:sp>
      <p:sp>
        <p:nvSpPr>
          <p:cNvPr id="21" name="scenarios"/>
          <p:cNvSpPr txBox="1"/>
          <p:nvPr/>
        </p:nvSpPr>
        <p:spPr>
          <a:xfrm>
            <a:off x="609600" y="4495800"/>
            <a:ext cx="71120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отклонение уже после охлаждения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изготовление в норме, дефект после упаковки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предыдущие этапы в норме; подтверждены условия рейса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Магазин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все контроли пройдены, нарушено хранение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Нераспределённые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причина или прослеживаемость не подтверждены</a:t>
            </a:r>
            <a:endParaRPr lang="en-US" sz="1200" noProof="1"/>
          </a:p>
        </p:txBody>
      </p:sp>
      <p:sp>
        <p:nvSpPr>
          <p:cNvPr id="22" name="side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eyJ2aWV3Qm94IjpbMSwxNDNdLCJwb2ludHMiOiIwLDAgMCwxNDMifQ</pptd:line>
              </p:ext>
            </p:extLst>
          </p:nvPr>
        </p:nvSpPr>
        <p:spPr>
          <a:xfrm>
            <a:off x="8128000" y="4165600"/>
            <a:ext cx="12700" cy="1816100"/>
          </a:xfrm>
          <a:custGeom>
            <a:avLst/>
            <a:gdLst/>
            <a:ahLst/>
            <a:cxnLst/>
            <a:rect l="l" t="t" r="r" b="b"/>
            <a:pathLst>
              <a:path w="1" h="143">
                <a:moveTo>
                  <a:pt x="0" y="0"/>
                </a:moveTo>
                <a:lnTo>
                  <a:pt x="0" y="143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3" name="approval-head"/>
          <p:cNvSpPr txBox="1"/>
          <p:nvPr/>
        </p:nvSpPr>
        <p:spPr>
          <a:xfrm>
            <a:off x="8534400" y="4152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КАК УТВЕРЖДАЕМ ТОЧКУ А</a:t>
            </a:r>
            <a:endParaRPr lang="en-US" sz="1000" noProof="1"/>
          </a:p>
        </p:txBody>
      </p:sp>
      <p:sp>
        <p:nvSpPr>
          <p:cNvPr id="24" name="approval"/>
          <p:cNvSpPr txBox="1"/>
          <p:nvPr/>
        </p:nvSpPr>
        <p:spPr>
          <a:xfrm>
            <a:off x="8534400" y="4495800"/>
            <a:ext cx="30480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Собрать данные за единый период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2.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Сверить выпуск, поставки и возвраты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3.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Распределить издержки по доказательствам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4.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Утвердить у куратора и начальников цехов</a:t>
            </a:r>
            <a:endParaRPr lang="en-US" sz="1200" noProof="1"/>
          </a:p>
        </p:txBody>
      </p:sp>
      <p:sp>
        <p:nvSpPr>
          <p:cNvPr id="25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6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Результат: утверждённые метрики, сумма потерь и ответственные этапы - база для оценки эффекта внедрения</a:t>
            </a:r>
            <a:endParaRPr lang="en-US" sz="1100" noProof="1"/>
          </a:p>
        </p:txBody>
      </p:sp>
      <p:sp>
        <p:nvSpPr>
          <p:cNvPr id="27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Нераспределённые издержки не делятся между цехами до завершения проверки.</a:t>
            </a:r>
            <a:endParaRPr lang="en-US" sz="900" noProof="1"/>
          </a:p>
        </p:txBody>
      </p:sp>
      <p:sp>
        <p:nvSpPr>
          <p:cNvPr id="28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РЕШЕНИЕ НА ЛИНИИ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318500" y="304800"/>
            <a:ext cx="3263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Видимый конденсат на крышке лотка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Камера выявляет дефект, а толкатель удаляет лоток:
линия продолжает работать без остановки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 лоток / 1,2 сек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темп поступления на контроль</a:t>
            </a:r>
            <a:endParaRPr lang="en-US" sz="1100" noProof="1"/>
          </a:p>
        </p:txBody>
      </p:sp>
      <p:sp>
        <p:nvSpPr>
          <p:cNvPr id="8" name="sep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33274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683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6830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1" name="sep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6223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6604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≤ 200 мс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66040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проектная цель решения модели</a:t>
            </a:r>
            <a:endParaRPr lang="en-US" sz="1100" noProof="1"/>
          </a:p>
        </p:txBody>
      </p:sp>
      <p:sp>
        <p:nvSpPr>
          <p:cNvPr id="14" name="sep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9144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9525000" y="18415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2–3 кадра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9525000" y="226060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один лоток</a:t>
            </a:r>
            <a:endParaRPr lang="en-US" sz="1100" noProof="1"/>
          </a:p>
        </p:txBody>
      </p:sp>
      <p:sp>
        <p:nvSpPr>
          <p:cNvPr id="17" name="flow-head"/>
          <p:cNvSpPr txBox="1"/>
          <p:nvPr/>
        </p:nvSpPr>
        <p:spPr>
          <a:xfrm>
            <a:off x="609600" y="27559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АВТОМАТИЧЕСКИЙ КОНТУР КОНТРОЛЯ</a:t>
            </a:r>
            <a:endParaRPr lang="en-US" sz="1000" noProof="1"/>
          </a:p>
        </p:txBody>
      </p:sp>
      <p:sp>
        <p:nvSpPr>
          <p:cNvPr id="18" name="flow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eyJpY29uTmFtZSI6ImZhczpjYW1lcmEifQ</pptd:icon>
              </p:ext>
            </p:extLst>
          </p:nvPr>
        </p:nvSpPr>
        <p:spPr>
          <a:xfrm>
            <a:off x="6223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flow1-title"/>
          <p:cNvSpPr txBox="1"/>
          <p:nvPr/>
        </p:nvSpPr>
        <p:spPr>
          <a:xfrm>
            <a:off x="609600" y="37338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1. Съёмка</a:t>
            </a:r>
            <a:endParaRPr lang="en-US" sz="1400" noProof="1"/>
          </a:p>
        </p:txBody>
      </p:sp>
      <p:sp>
        <p:nvSpPr>
          <p:cNvPr id="20" name="flow1-note"/>
          <p:cNvSpPr txBox="1"/>
          <p:nvPr/>
        </p:nvSpPr>
        <p:spPr>
          <a:xfrm>
            <a:off x="609600" y="40513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запуска, камера и управляемая подсветка.</a:t>
            </a:r>
            <a:endParaRPr lang="en-US" sz="1100" noProof="1"/>
          </a:p>
        </p:txBody>
      </p:sp>
      <p:sp>
        <p:nvSpPr>
          <p:cNvPr id="21" name="arrow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eyJ2aWV3Qm94IjpbNDIsMV0sInBvaW50cyI6IjAsMCA0MiwwIn0</pptd:line>
              </p:ext>
            </p:extLst>
          </p:nvPr>
        </p:nvSpPr>
        <p:spPr>
          <a:xfrm>
            <a:off x="23368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2" name="flow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eyJpY29uTmFtZSI6ImZhczptaWNyb2NoaXAifQ</pptd:icon>
              </p:ext>
            </p:extLst>
          </p:nvPr>
        </p:nvSpPr>
        <p:spPr>
          <a:xfrm>
            <a:off x="29972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flow2-title"/>
          <p:cNvSpPr txBox="1"/>
          <p:nvPr/>
        </p:nvSpPr>
        <p:spPr>
          <a:xfrm>
            <a:off x="2984500" y="3733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2. Решение CV</a:t>
            </a:r>
            <a:endParaRPr lang="en-US" sz="1400" noProof="1"/>
          </a:p>
        </p:txBody>
      </p:sp>
      <p:sp>
        <p:nvSpPr>
          <p:cNvPr id="24" name="flow2-note"/>
          <p:cNvSpPr txBox="1"/>
          <p:nvPr/>
        </p:nvSpPr>
        <p:spPr>
          <a:xfrm>
            <a:off x="2984500" y="4051300"/>
            <a:ext cx="177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Локальная YOLO-модель: «норма» / «конденсат».</a:t>
            </a:r>
            <a:endParaRPr lang="en-US" sz="1100" noProof="1"/>
          </a:p>
        </p:txBody>
      </p:sp>
      <p:sp>
        <p:nvSpPr>
          <p:cNvPr id="25" name="arrow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eyJ2aWV3Qm94IjpbNDIsMV0sInBvaW50cyI6IjAsMCA0MiwwIn0</pptd:line>
              </p:ext>
            </p:extLst>
          </p:nvPr>
        </p:nvSpPr>
        <p:spPr>
          <a:xfrm>
            <a:off x="49022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6" name="flow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eyJpY29uTmFtZSI6ImZhczpnZWFycyJ9</pptd:icon>
              </p:ext>
            </p:extLst>
          </p:nvPr>
        </p:nvSpPr>
        <p:spPr>
          <a:xfrm>
            <a:off x="55626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7" name="flow3-title"/>
          <p:cNvSpPr txBox="1"/>
          <p:nvPr/>
        </p:nvSpPr>
        <p:spPr>
          <a:xfrm>
            <a:off x="55499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3. Отбраковка</a:t>
            </a:r>
            <a:endParaRPr lang="en-US" sz="1400" noProof="1"/>
          </a:p>
        </p:txBody>
      </p:sp>
      <p:sp>
        <p:nvSpPr>
          <p:cNvPr id="28" name="flow3-note"/>
          <p:cNvSpPr txBox="1"/>
          <p:nvPr/>
        </p:nvSpPr>
        <p:spPr>
          <a:xfrm>
            <a:off x="55499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ПЛК активирует толкатель точного лотка.</a:t>
            </a:r>
            <a:endParaRPr lang="en-US" sz="1100" noProof="1"/>
          </a:p>
        </p:txBody>
      </p:sp>
      <p:sp>
        <p:nvSpPr>
          <p:cNvPr id="29" name="arrow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eyJ2aWV3Qm94IjpbNDIsMV0sInBvaW50cyI6IjAsMCA0MiwwIn0</pptd:line>
              </p:ext>
            </p:extLst>
          </p:nvPr>
        </p:nvSpPr>
        <p:spPr>
          <a:xfrm>
            <a:off x="75184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0" name="flow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eyJpY29uTmFtZSI6ImZhczpjaXJjbGUtY2hlY2sifQ</pptd:icon>
              </p:ext>
            </p:extLst>
          </p:nvPr>
        </p:nvSpPr>
        <p:spPr>
          <a:xfrm>
            <a:off x="81788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1" name="flow4-title"/>
          <p:cNvSpPr txBox="1"/>
          <p:nvPr/>
        </p:nvSpPr>
        <p:spPr>
          <a:xfrm>
            <a:off x="81661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4. Подтверждение</a:t>
            </a:r>
            <a:endParaRPr lang="en-US" sz="1400" noProof="1"/>
          </a:p>
        </p:txBody>
      </p:sp>
      <p:sp>
        <p:nvSpPr>
          <p:cNvPr id="32" name="flow4-note"/>
          <p:cNvSpPr txBox="1"/>
          <p:nvPr/>
        </p:nvSpPr>
        <p:spPr>
          <a:xfrm>
            <a:off x="81661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подтверждает удаление дефектного лотка.</a:t>
            </a:r>
            <a:endParaRPr lang="en-US" sz="1100" noProof="1"/>
          </a:p>
        </p:txBody>
      </p:sp>
      <p:sp>
        <p:nvSpPr>
          <p:cNvPr id="33" name="arrow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eyJ2aWV3Qm94IjpbNDIsMV0sInBvaW50cyI6IjAsMCA0MiwwIn0</pptd:line>
              </p:ext>
            </p:extLst>
          </p:nvPr>
        </p:nvSpPr>
        <p:spPr>
          <a:xfrm>
            <a:off x="101346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4" name="flow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eyJpY29uTmFtZSI6ImZhczpkYXRhYmFzZSJ9</pptd:icon>
              </p:ext>
            </p:extLst>
          </p:nvPr>
        </p:nvSpPr>
        <p:spPr>
          <a:xfrm>
            <a:off x="107950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5" name="flow5-title"/>
          <p:cNvSpPr txBox="1"/>
          <p:nvPr/>
        </p:nvSpPr>
        <p:spPr>
          <a:xfrm>
            <a:off x="10782300" y="3733800"/>
            <a:ext cx="800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5. Журнал</a:t>
            </a:r>
            <a:endParaRPr lang="en-US" sz="1400" noProof="1"/>
          </a:p>
        </p:txBody>
      </p:sp>
      <p:sp>
        <p:nvSpPr>
          <p:cNvPr id="36" name="flow5-note"/>
          <p:cNvSpPr txBox="1"/>
          <p:nvPr/>
        </p:nvSpPr>
        <p:spPr>
          <a:xfrm>
            <a:off x="10439400" y="40513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Изображение, партия, решение и версия модели.</a:t>
            </a:r>
            <a:endParaRPr lang="en-US" sz="1100" noProof="1"/>
          </a:p>
        </p:txBody>
      </p:sp>
      <p:sp>
        <p:nvSpPr>
          <p:cNvPr id="37" name="infra-head"/>
          <p:cNvSpPr txBox="1"/>
          <p:nvPr/>
        </p:nvSpPr>
        <p:spPr>
          <a:xfrm>
            <a:off x="609600" y="49911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ПРОИЗВОДСТВЕННАЯ КОНФИГУРАЦИЯ</a:t>
            </a:r>
            <a:endParaRPr lang="en-US" sz="1000" noProof="1"/>
          </a:p>
        </p:txBody>
      </p:sp>
      <p:sp>
        <p:nvSpPr>
          <p:cNvPr id="38" name="infra"/>
          <p:cNvSpPr txBox="1"/>
          <p:nvPr/>
        </p:nvSpPr>
        <p:spPr>
          <a:xfrm>
            <a:off x="609600" y="533400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Базово: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одна камера над линией, 2–5 Мп, глобальный затвор, защита IP65/IP67, поляризованная подсветка.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Локальный контур: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GPU от 8 ГБ, RAM от 32 ГБ, NVMe от 1 ТБ; ПЛК, датчики и ИБП. Облако не требуется.</a:t>
            </a:r>
            <a:endParaRPr lang="en-US" sz="1200" noProof="1"/>
          </a:p>
        </p:txBody>
      </p:sp>
      <p:sp>
        <p:nvSpPr>
          <p:cNvPr id="39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40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Вторая камера - только если стендовый тест покажет, что одна не видит всю крышку или часть дефектов</a:t>
            </a:r>
            <a:endParaRPr lang="en-US" sz="11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604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3. Лимит 200 мс уточняется после замера расстояния до толкателя и скорости конвейера.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ДАННЫЕ И МОДЕЛЬ</a:t>
            </a:r>
            <a:endParaRPr lang="en-US" sz="1000" noProof="1"/>
          </a:p>
        </p:txBody>
      </p:sp>
      <p:sp>
        <p:nvSpPr>
          <p:cNvPr id="3" name="owner"/>
          <p:cNvSpPr txBox="1"/>
          <p:nvPr/>
        </p:nvSpPr>
        <p:spPr>
          <a:xfrm>
            <a:off x="8064500" y="304800"/>
            <a:ext cx="3517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Норму дефекта задаёт технолог / качество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Надёжная модель начинается с производственных данных и независимого теста - не с общей точности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data-head"/>
          <p:cNvSpPr txBox="1"/>
          <p:nvPr/>
        </p:nvSpPr>
        <p:spPr>
          <a:xfrm>
            <a:off x="609600" y="18415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СТАРТОВЫЙ НАБОР ДАННЫХ</a:t>
            </a:r>
            <a:endParaRPr lang="en-US" sz="1100" noProof="1"/>
          </a:p>
        </p:txBody>
      </p:sp>
      <p:sp>
        <p:nvSpPr>
          <p:cNvPr id="7" name="data-num1"/>
          <p:cNvSpPr txBox="1"/>
          <p:nvPr/>
        </p:nvSpPr>
        <p:spPr>
          <a:xfrm>
            <a:off x="609600" y="2247900"/>
            <a:ext cx="22860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5 000–10 000</a:t>
            </a:r>
            <a:endParaRPr lang="en-US" sz="2500" noProof="1"/>
          </a:p>
        </p:txBody>
      </p:sp>
      <p:sp>
        <p:nvSpPr>
          <p:cNvPr id="8" name="data-label1"/>
          <p:cNvSpPr txBox="1"/>
          <p:nvPr/>
        </p:nvSpPr>
        <p:spPr>
          <a:xfrm>
            <a:off x="609600" y="2692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изображений лотков</a:t>
            </a:r>
            <a:endParaRPr lang="en-US" sz="1100" noProof="1"/>
          </a:p>
        </p:txBody>
      </p:sp>
      <p:sp>
        <p:nvSpPr>
          <p:cNvPr id="9" name="data-num2"/>
          <p:cNvSpPr txBox="1"/>
          <p:nvPr/>
        </p:nvSpPr>
        <p:spPr>
          <a:xfrm>
            <a:off x="3390900" y="2247900"/>
            <a:ext cx="24130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≥ 1 000</a:t>
            </a:r>
            <a:endParaRPr lang="en-US" sz="2500" noProof="1"/>
          </a:p>
        </p:txBody>
      </p:sp>
      <p:sp>
        <p:nvSpPr>
          <p:cNvPr id="10" name="data-label2"/>
          <p:cNvSpPr txBox="1"/>
          <p:nvPr/>
        </p:nvSpPr>
        <p:spPr>
          <a:xfrm>
            <a:off x="3390900" y="26924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 подтверждённым конденсатом</a:t>
            </a:r>
            <a:endParaRPr lang="en-US" sz="1100" noProof="1"/>
          </a:p>
        </p:txBody>
      </p:sp>
      <p:sp>
        <p:nvSpPr>
          <p:cNvPr id="11" name="coverage"/>
          <p:cNvSpPr txBox="1"/>
          <p:nvPr/>
        </p:nvSpPr>
        <p:spPr>
          <a:xfrm>
            <a:off x="609600" y="3149600"/>
            <a:ext cx="5207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Покрываем: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все типы продукции и крышек; партии, смены и дни.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Различаем: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слабый, средний и выраженный конденсат.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Сложные нормы: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блики, загрязнения и похожие объекты.</a:t>
            </a:r>
            <a:endParaRPr lang="en-US" sz="1200" noProof="1"/>
          </a:p>
        </p:txBody>
      </p:sp>
      <p:sp>
        <p:nvSpPr>
          <p:cNvPr id="12" name="quality-head"/>
          <p:cNvSpPr txBox="1"/>
          <p:nvPr/>
        </p:nvSpPr>
        <p:spPr>
          <a:xfrm>
            <a:off x="609600" y="44577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КОНТРОЛЬ КАЧЕСТВА ДАННЫХ</a:t>
            </a:r>
            <a:endParaRPr lang="en-US" sz="1100" noProof="1"/>
          </a:p>
        </p:txBody>
      </p:sp>
      <p:sp>
        <p:nvSpPr>
          <p:cNvPr id="13" name="quality"/>
          <p:cNvSpPr txBox="1"/>
          <p:nvPr/>
        </p:nvSpPr>
        <p:spPr>
          <a:xfrm>
            <a:off x="609600" y="4813300"/>
            <a:ext cx="52070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двойная разметка не менее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10%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изображений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эксперт разбирает все спорные примеры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100%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сложных и неуверенных решений проверяются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контроль смаза, экспозиции, дубликатов и кадрирования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фиксируются версии данных, разметки и инструкции</a:t>
            </a:r>
            <a:endParaRPr lang="en-US" sz="1200" noProof="1"/>
          </a:p>
        </p:txBody>
      </p:sp>
      <p:sp>
        <p:nvSpPr>
          <p:cNvPr id="14" name="mid-sep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eyJ2aWV3Qm94IjpbMSwzMjRdLCJwb2ludHMiOiIwLDAgMCwzMjQifQ</pptd:line>
              </p:ext>
            </p:extLst>
          </p:nvPr>
        </p:nvSpPr>
        <p:spPr>
          <a:xfrm>
            <a:off x="6350000" y="1854200"/>
            <a:ext cx="12700" cy="4114800"/>
          </a:xfrm>
          <a:custGeom>
            <a:avLst/>
            <a:gdLst/>
            <a:ahLst/>
            <a:cxnLst/>
            <a:rect l="l" t="t" r="r" b="b"/>
            <a:pathLst>
              <a:path w="1" h="324">
                <a:moveTo>
                  <a:pt x="0" y="0"/>
                </a:moveTo>
                <a:lnTo>
                  <a:pt x="0" y="32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split-head"/>
          <p:cNvSpPr txBox="1"/>
          <p:nvPr/>
        </p:nvSpPr>
        <p:spPr>
          <a:xfrm>
            <a:off x="6794500" y="1841500"/>
            <a:ext cx="4787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ЧЕСТНОЕ РАЗДЕЛЕНИЕ ВЫБОРОК</a:t>
            </a:r>
            <a:endParaRPr lang="en-US" sz="1100" noProof="1"/>
          </a:p>
        </p:txBody>
      </p:sp>
      <p:sp>
        <p:nvSpPr>
          <p:cNvPr id="16" name="split-train"/>
          <p:cNvSpPr/>
          <p:nvPr/>
        </p:nvSpPr>
        <p:spPr>
          <a:xfrm>
            <a:off x="6794500" y="2286000"/>
            <a:ext cx="3352800" cy="304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7" name="split-val"/>
          <p:cNvSpPr/>
          <p:nvPr/>
        </p:nvSpPr>
        <p:spPr>
          <a:xfrm>
            <a:off x="10147300" y="2286000"/>
            <a:ext cx="711200" cy="304800"/>
          </a:xfrm>
          <a:prstGeom prst="rect">
            <a:avLst/>
          </a:prstGeom>
          <a:solidFill>
            <a:srgbClr val="8BBDB9"/>
          </a:solidFill>
          <a:ln>
            <a:noFill/>
          </a:ln>
        </p:spPr>
      </p:sp>
      <p:sp>
        <p:nvSpPr>
          <p:cNvPr id="18" name="split-test"/>
          <p:cNvSpPr/>
          <p:nvPr/>
        </p:nvSpPr>
        <p:spPr>
          <a:xfrm>
            <a:off x="10858500" y="2286000"/>
            <a:ext cx="723900" cy="304800"/>
          </a:xfrm>
          <a:prstGeom prst="rect">
            <a:avLst/>
          </a:prstGeom>
          <a:solidFill>
            <a:srgbClr val="D9E2E2"/>
          </a:solidFill>
          <a:ln>
            <a:noFill/>
          </a:ln>
        </p:spPr>
      </p:sp>
      <p:sp>
        <p:nvSpPr>
          <p:cNvPr id="19" name="split-labels"/>
          <p:cNvSpPr txBox="1"/>
          <p:nvPr/>
        </p:nvSpPr>
        <p:spPr>
          <a:xfrm>
            <a:off x="6794500" y="2679700"/>
            <a:ext cx="478790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70% обучение        15% валидация        15% тест</a:t>
            </a:r>
            <a:endParaRPr lang="en-US" sz="1200" noProof="1"/>
          </a:p>
        </p:txBody>
      </p:sp>
      <p:sp>
        <p:nvSpPr>
          <p:cNvPr id="20" name="split-note"/>
          <p:cNvSpPr txBox="1"/>
          <p:nvPr/>
        </p:nvSpPr>
        <p:spPr>
          <a:xfrm>
            <a:off x="6794500" y="3060700"/>
            <a:ext cx="47879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Делим по партии и производственному дню, не по кадрам.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Кадры одного лотка не попадают в разные выборки - иначе результат теста будет завышен.</a:t>
            </a:r>
            <a:endParaRPr lang="en-US" sz="1300" noProof="1"/>
          </a:p>
        </p:txBody>
      </p:sp>
      <p:sp>
        <p:nvSpPr>
          <p:cNvPr id="21" name="model-head"/>
          <p:cNvSpPr txBox="1"/>
          <p:nvPr/>
        </p:nvSpPr>
        <p:spPr>
          <a:xfrm>
            <a:off x="6794500" y="4191000"/>
            <a:ext cx="4787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04  МОДЕЛЬ И ЦИКЛ УЛУЧШЕНИЯ</a:t>
            </a:r>
            <a:endParaRPr lang="en-US" sz="1100" noProof="1"/>
          </a:p>
        </p:txBody>
      </p:sp>
      <p:sp>
        <p:nvSpPr>
          <p:cNvPr id="22" name="model"/>
          <p:cNvSpPr txBox="1"/>
          <p:nvPr/>
        </p:nvSpPr>
        <p:spPr>
          <a:xfrm>
            <a:off x="6794500" y="4546600"/>
            <a:ext cx="47879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3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YOLO-детекция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показывает не только наличие, но и зону конденсата.</a:t>
            </a:r>
            <a:endParaRPr lang="en-US" sz="1200" noProof="1"/>
          </a:p>
          <a:p>
            <a:pPr>
              <a:lnSpc>
                <a:spcPct val="143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Обучение → разбор пропусков и ложных срабатываний → добавление сложных примеров → повторное обучение.</a:t>
            </a:r>
            <a:endParaRPr lang="en-US" sz="1200" noProof="1"/>
          </a:p>
          <a:p>
            <a:pPr>
              <a:lnSpc>
                <a:spcPct val="143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Финал: фиксированный тест, порог уверенности, экспорт ONNX / TensorRT и проверка скорости на производственном ПК.</a:t>
            </a:r>
            <a:endParaRPr lang="en-US" sz="1200" noProof="1"/>
          </a:p>
        </p:txBody>
      </p:sp>
      <p:sp>
        <p:nvSpPr>
          <p:cNvPr id="23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4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Тестовая выборка не изменяется после начала сравнения моделей; искусственные условия отдельно отмечаются в метаданных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604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3. Перед промышленным использованием юрист проверяет лицензию выбранной модели.</a:t>
            </a:r>
            <a:endParaRPr lang="en-US" sz="900" noProof="1"/>
          </a:p>
        </p:txBody>
      </p:sp>
      <p:sp>
        <p:nvSpPr>
          <p:cNvPr id="26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ПРИЁМКА И ЭФФЕКТ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Промышленный запуск - после доказательства качества, стабильной отбраковки и эффектотносительно точки А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test-head"/>
          <p:cNvSpPr txBox="1"/>
          <p:nvPr/>
        </p:nvSpPr>
        <p:spPr>
          <a:xfrm>
            <a:off x="609600" y="18415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ПАРНОЕ ИСПЫТАНИЕ: ЛЮДИ ↔ КАМЕРА</a:t>
            </a:r>
            <a:endParaRPr lang="en-US" sz="1100" noProof="1"/>
          </a:p>
        </p:txBody>
      </p:sp>
      <p:sp>
        <p:nvSpPr>
          <p:cNvPr id="6" name="test-title"/>
          <p:cNvSpPr txBox="1"/>
          <p:nvPr/>
        </p:nvSpPr>
        <p:spPr>
          <a:xfrm>
            <a:off x="609600" y="2209800"/>
            <a:ext cx="4635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1 месяц, сопоставимые периоды</a:t>
            </a:r>
            <a:endParaRPr lang="en-US" sz="1700" noProof="1"/>
          </a:p>
        </p:txBody>
      </p:sp>
      <p:sp>
        <p:nvSpPr>
          <p:cNvPr id="7" name="test-note"/>
          <p:cNvSpPr txBox="1"/>
          <p:nvPr/>
        </p:nvSpPr>
        <p:spPr>
          <a:xfrm>
            <a:off x="609600" y="26289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Режимы чередуются по неделям. Эталон устанавливают два эксперта по качеству; спорный случай разбирает третий эксперт или технолог.</a:t>
            </a:r>
            <a:endParaRPr lang="en-US" sz="1200" noProof="1"/>
          </a:p>
        </p:txBody>
      </p:sp>
      <p:sp>
        <p:nvSpPr>
          <p:cNvPr id="8" name="sample"/>
          <p:cNvSpPr txBox="1"/>
          <p:nvPr/>
        </p:nvSpPr>
        <p:spPr>
          <a:xfrm>
            <a:off x="609600" y="34544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≥20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производственных смен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дефектных лотков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≥3 000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лотков без дефекта</a:t>
            </a:r>
            <a:endParaRPr lang="en-US" sz="1300" noProof="1"/>
          </a:p>
        </p:txBody>
      </p:sp>
      <p:sp>
        <p:nvSpPr>
          <p:cNvPr id="9" name="shadow"/>
          <p:cNvSpPr txBox="1"/>
          <p:nvPr/>
        </p:nvSpPr>
        <p:spPr>
          <a:xfrm>
            <a:off x="609600" y="4470400"/>
            <a:ext cx="4635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Сначала теневой режим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без управления толкателем.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Затем автоматическая отбраковка под наблюдением и приёмка.</a:t>
            </a:r>
            <a:endParaRPr lang="en-US" sz="1200" noProof="1"/>
          </a:p>
        </p:txBody>
      </p:sp>
      <p:sp>
        <p:nvSpPr>
          <p:cNvPr id="10" name="economics-head"/>
          <p:cNvSpPr txBox="1"/>
          <p:nvPr/>
        </p:nvSpPr>
        <p:spPr>
          <a:xfrm>
            <a:off x="609600" y="54864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ЭКОНОМИКА ОТНОСИТЕЛЬНО ТОЧКИ А</a:t>
            </a:r>
            <a:endParaRPr lang="en-US" sz="1000" noProof="1"/>
          </a:p>
        </p:txBody>
      </p:sp>
      <p:sp>
        <p:nvSpPr>
          <p:cNvPr id="11" name="economics"/>
          <p:cNvSpPr txBox="1"/>
          <p:nvPr/>
        </p:nvSpPr>
        <p:spPr>
          <a:xfrm>
            <a:off x="609600" y="5816600"/>
            <a:ext cx="4635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− эксплуатация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12" name="mid-sep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eyJ2aWV3Qm94IjpbMSwzNTRdLCJwb2ludHMiOiIwLDAgMCwzNTQifQ</pptd:line>
              </p:ext>
            </p:extLst>
          </p:nvPr>
        </p:nvSpPr>
        <p:spPr>
          <a:xfrm>
            <a:off x="5651500" y="1854200"/>
            <a:ext cx="12700" cy="4495800"/>
          </a:xfrm>
          <a:custGeom>
            <a:avLst/>
            <a:gdLst/>
            <a:ahLst/>
            <a:cxnLst/>
            <a:rect l="l" t="t" r="r" b="b"/>
            <a:pathLst>
              <a:path w="1" h="354">
                <a:moveTo>
                  <a:pt x="0" y="0"/>
                </a:moveTo>
                <a:lnTo>
                  <a:pt x="0" y="35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accept-head"/>
          <p:cNvSpPr txBox="1"/>
          <p:nvPr/>
        </p:nvSpPr>
        <p:spPr>
          <a:xfrm>
            <a:off x="6070600" y="1841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ПРЕДЛАГАЕМЫЕ КРИТЕРИИ ПРИЁМКИ</a:t>
            </a:r>
            <a:endParaRPr lang="en-US" sz="1100" noProof="1"/>
          </a:p>
        </p:txBody>
      </p:sp>
      <p:sp>
        <p:nvSpPr>
          <p:cNvPr id="14" name="metric1"/>
          <p:cNvSpPr txBox="1"/>
          <p:nvPr/>
        </p:nvSpPr>
        <p:spPr>
          <a:xfrm>
            <a:off x="60706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</a:t>
            </a:r>
            <a:endParaRPr lang="en-US" sz="1200" noProof="1"/>
          </a:p>
        </p:txBody>
      </p:sp>
      <p:sp>
        <p:nvSpPr>
          <p:cNvPr id="15" name="metric2"/>
          <p:cNvSpPr txBox="1"/>
          <p:nvPr/>
        </p:nvSpPr>
        <p:spPr>
          <a:xfrm>
            <a:off x="89789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операторы</a:t>
            </a:r>
            <a:endParaRPr lang="en-US" sz="1200" noProof="1"/>
          </a:p>
        </p:txBody>
      </p:sp>
      <p:sp>
        <p:nvSpPr>
          <p:cNvPr id="16" name="metric3"/>
          <p:cNvSpPr txBox="1"/>
          <p:nvPr/>
        </p:nvSpPr>
        <p:spPr>
          <a:xfrm>
            <a:off x="60706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</a:t>
            </a:r>
            <a:endParaRPr lang="en-US" sz="1200" noProof="1"/>
          </a:p>
        </p:txBody>
      </p:sp>
      <p:sp>
        <p:nvSpPr>
          <p:cNvPr id="17" name="metric4"/>
          <p:cNvSpPr txBox="1"/>
          <p:nvPr/>
        </p:nvSpPr>
        <p:spPr>
          <a:xfrm>
            <a:off x="89789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успех срабатывания толкателя</a:t>
            </a:r>
            <a:endParaRPr lang="en-US" sz="1200" noProof="1"/>
          </a:p>
        </p:txBody>
      </p:sp>
      <p:sp>
        <p:nvSpPr>
          <p:cNvPr id="18" name="metric5"/>
          <p:cNvSpPr txBox="1"/>
          <p:nvPr/>
        </p:nvSpPr>
        <p:spPr>
          <a:xfrm>
            <a:off x="60706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программное решение</a:t>
            </a:r>
            <a:endParaRPr lang="en-US" sz="1200" noProof="1"/>
          </a:p>
        </p:txBody>
      </p:sp>
      <p:sp>
        <p:nvSpPr>
          <p:cNvPr id="19" name="metric6"/>
          <p:cNvSpPr txBox="1"/>
          <p:nvPr/>
        </p:nvSpPr>
        <p:spPr>
          <a:xfrm>
            <a:off x="89789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 / 0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/ остановки по модели</a:t>
            </a:r>
            <a:endParaRPr lang="en-US" sz="1200" noProof="1"/>
          </a:p>
        </p:txBody>
      </p:sp>
      <p:sp>
        <p:nvSpPr>
          <p:cNvPr id="20" name="timeline-head"/>
          <p:cNvSpPr txBox="1"/>
          <p:nvPr/>
        </p:nvSpPr>
        <p:spPr>
          <a:xfrm>
            <a:off x="6070600" y="4635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ОРИЕНТИРОВОЧНЫЕ СРОКИ</a:t>
            </a:r>
            <a:endParaRPr lang="en-US" sz="1000" noProof="1"/>
          </a:p>
        </p:txBody>
      </p:sp>
      <p:sp>
        <p:nvSpPr>
          <p:cNvPr id="21" name="time1"/>
          <p:cNvSpPr txBox="1"/>
          <p:nvPr/>
        </p:nvSpPr>
        <p:spPr>
          <a:xfrm>
            <a:off x="60706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6–9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данные + первая пригодная модель</a:t>
            </a:r>
            <a:endParaRPr lang="en-US" sz="1100" noProof="1"/>
          </a:p>
        </p:txBody>
      </p:sp>
      <p:sp>
        <p:nvSpPr>
          <p:cNvPr id="22" name="time2"/>
          <p:cNvSpPr txBox="1"/>
          <p:nvPr/>
        </p:nvSpPr>
        <p:spPr>
          <a:xfrm>
            <a:off x="78359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12–16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пилот с автоматическим толкателем</a:t>
            </a:r>
            <a:endParaRPr lang="en-US" sz="1100" noProof="1"/>
          </a:p>
        </p:txBody>
      </p:sp>
      <p:sp>
        <p:nvSpPr>
          <p:cNvPr id="23" name="time3"/>
          <p:cNvSpPr txBox="1"/>
          <p:nvPr/>
        </p:nvSpPr>
        <p:spPr>
          <a:xfrm>
            <a:off x="9715500" y="4953000"/>
            <a:ext cx="18669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16–20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промышленная версия после приёмки</a:t>
            </a:r>
            <a:endParaRPr lang="en-US" sz="1100" noProof="1"/>
          </a:p>
        </p:txBody>
      </p:sp>
      <p:sp>
        <p:nvSpPr>
          <p:cNvPr id="24" name="decision-bg"/>
          <p:cNvSpPr/>
          <p:nvPr/>
        </p:nvSpPr>
        <p:spPr>
          <a:xfrm>
            <a:off x="6070600" y="6032500"/>
            <a:ext cx="5511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5" name="decision"/>
          <p:cNvSpPr txBox="1"/>
          <p:nvPr/>
        </p:nvSpPr>
        <p:spPr>
          <a:xfrm>
            <a:off x="6197600" y="6096000"/>
            <a:ext cx="525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Сравниваем полноту, пропуски и ложные отбраковки - не общую точность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Сроки зависят от доступа к линии, участия технолога и достаточного числа дефектных примеров.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4 • ОБОСНОВАНИЕ РЕШЕНИЯ • КОМПЬЮТЕРНОЕ ЗРЕНИЕ</a:t>
            </a:r>
            <a:endParaRPr lang="en-US" sz="1000" noProof="1"/>
          </a:p>
        </p:txBody>
      </p:sp>
      <p:sp>
        <p:nvSpPr>
          <p:cNvPr id="3" name="local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Локально • без облака в контуре решения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Выбираем YOLO-детекцию: находим и локализуем
конденсат, не останавливая производственную линию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"/>
          <p:cNvSpPr txBox="1"/>
          <p:nvPr/>
        </p:nvSpPr>
        <p:spPr>
          <a:xfrm>
            <a:off x="609600" y="1841500"/>
            <a:ext cx="2286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50 лотков/мин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производительность линии</a:t>
            </a:r>
            <a:endParaRPr lang="en-US" sz="2500" noProof="1"/>
          </a:p>
        </p:txBody>
      </p:sp>
      <p:sp>
        <p:nvSpPr>
          <p:cNvPr id="7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17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8" name="kpi2"/>
          <p:cNvSpPr txBox="1"/>
          <p:nvPr/>
        </p:nvSpPr>
        <p:spPr>
          <a:xfrm>
            <a:off x="3556000" y="1841500"/>
            <a:ext cx="2413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1,2 секунды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на поступление одного лотка</a:t>
            </a:r>
            <a:endParaRPr lang="en-US" sz="2500" noProof="1"/>
          </a:p>
        </p:txBody>
      </p:sp>
      <p:sp>
        <p:nvSpPr>
          <p:cNvPr id="9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6223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0" name="kpi3"/>
          <p:cNvSpPr txBox="1"/>
          <p:nvPr/>
        </p:nvSpPr>
        <p:spPr>
          <a:xfrm>
            <a:off x="6604000" y="1841500"/>
            <a:ext cx="2540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2500" noProof="1"/>
          </a:p>
        </p:txBody>
      </p:sp>
      <p:sp>
        <p:nvSpPr>
          <p:cNvPr id="11" name="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952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4"/>
          <p:cNvSpPr txBox="1"/>
          <p:nvPr/>
        </p:nvSpPr>
        <p:spPr>
          <a:xfrm>
            <a:off x="9779000" y="1841500"/>
            <a:ext cx="18034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083F40"/>
                </a:solidFill>
                <a:latin typeface="Arial"/>
                <a:ea typeface="Arial"/>
              </a:rPr>
              <a:t>0 остановок</a:t>
            </a:r>
            <a:endParaRPr lang="en-US" sz="20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при обнаружении дефекта</a:t>
            </a:r>
            <a:endParaRPr lang="en-US" sz="2000" noProof="1"/>
          </a:p>
        </p:txBody>
      </p:sp>
      <p:sp>
        <p:nvSpPr>
          <p:cNvPr id="13" name="left-head"/>
          <p:cNvSpPr txBox="1"/>
          <p:nvPr/>
        </p:nvSpPr>
        <p:spPr>
          <a:xfrm>
            <a:off x="609600" y="2768600"/>
            <a:ext cx="5016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ЧТО ДАЁТ КОМПЬЮТЕРНОЕ ЗРЕНИЕ</a:t>
            </a:r>
            <a:endParaRPr lang="en-US" sz="1100" noProof="1"/>
          </a:p>
        </p:txBody>
      </p:sp>
      <p:sp>
        <p:nvSpPr>
          <p:cNvPr id="14" name="benefits"/>
          <p:cNvSpPr txBox="1"/>
          <p:nvPr/>
        </p:nvSpPr>
        <p:spPr>
          <a:xfrm>
            <a:off x="609600" y="3162300"/>
            <a:ext cx="50165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Стабильность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одинаковый режим контроля в течение смены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Избирательность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удаляются только дефектные лотки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Прослеживаемость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изображение и результат по каждому случаю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Экономический эффект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меньше пропусков, возвратов и списаний относительно точки А</a:t>
            </a:r>
            <a:endParaRPr lang="en-US" sz="1300" noProof="1"/>
          </a:p>
        </p:txBody>
      </p:sp>
      <p:sp>
        <p:nvSpPr>
          <p:cNvPr id="15" name="backup"/>
          <p:cNvSpPr txBox="1"/>
          <p:nvPr/>
        </p:nvSpPr>
        <p:spPr>
          <a:xfrm>
            <a:off x="609600" y="5245100"/>
            <a:ext cx="5016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Ручной контроль не исчезает: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остаётся резервным регламентом на случай сбоя и для периодической проверки модели.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eyJ2aWV3Qm94IjpbMSwyNDZdLCJwb2ludHMiOiIwLDAgMCwyNDYifQ</pptd:line>
              </p:ext>
            </p:extLst>
          </p:nvPr>
        </p:nvSpPr>
        <p:spPr>
          <a:xfrm>
            <a:off x="6032500" y="2781300"/>
            <a:ext cx="12700" cy="3124200"/>
          </a:xfrm>
          <a:custGeom>
            <a:avLst/>
            <a:gdLst/>
            <a:ahLst/>
            <a:cxnLst/>
            <a:rect l="l" t="t" r="r" b="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right-head"/>
          <p:cNvSpPr txBox="1"/>
          <p:nvPr/>
        </p:nvSpPr>
        <p:spPr>
          <a:xfrm>
            <a:off x="6477000" y="27686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ПОЧЕМУ YOLO И ДООБУЧЕНИЕ</a:t>
            </a:r>
            <a:endParaRPr lang="en-US" sz="1100" noProof="1"/>
          </a:p>
        </p:txBody>
      </p:sp>
      <p:sp>
        <p:nvSpPr>
          <p:cNvPr id="18" name="detection"/>
          <p:cNvSpPr txBox="1"/>
          <p:nvPr/>
        </p:nvSpPr>
        <p:spPr>
          <a:xfrm>
            <a:off x="6477000" y="3162300"/>
            <a:ext cx="51054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Детекция вместо классификации: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модель показывает не только наличие конденсата, но и его зону на крышке. Это упрощает разбор ошибок и спорных случаев.</a:t>
            </a:r>
            <a:endParaRPr lang="en-US" sz="1300" noProof="1"/>
          </a:p>
        </p:txBody>
      </p:sp>
      <p:sp>
        <p:nvSpPr>
          <p:cNvPr id="19" name="training"/>
          <p:cNvSpPr txBox="1"/>
          <p:nvPr/>
        </p:nvSpPr>
        <p:spPr>
          <a:xfrm>
            <a:off x="6477000" y="4279900"/>
            <a:ext cx="51054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Дообучение предобученной модели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на собственных производственных изображениях. Разработка с нуля не требуется: она увеличит сроки и потребность в данных.</a:t>
            </a:r>
            <a:endParaRPr lang="en-US" sz="1300" noProof="1"/>
          </a:p>
        </p:txBody>
      </p:sp>
      <p:sp>
        <p:nvSpPr>
          <p:cNvPr id="20" name="local-note"/>
          <p:cNvSpPr txBox="1"/>
          <p:nvPr/>
        </p:nvSpPr>
        <p:spPr>
          <a:xfrm>
            <a:off x="6477000" y="5245100"/>
            <a:ext cx="510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Локальное исполнение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снижает зависимость от сети и обеспечивает скорость. Лицензия модели проверяется перед промышленным запуском.</a:t>
            </a:r>
            <a:endParaRPr lang="en-US" sz="1200" noProof="1"/>
          </a:p>
        </p:txBody>
      </p:sp>
      <p:sp>
        <p:nvSpPr>
          <p:cNvPr id="21" name="criteria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2" name="criteria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Выбор модели: полнота ≥99% • ложная отбраковка ≤1% • программное решение ≤200 мс на лоток</a:t>
            </a:r>
            <a:endParaRPr lang="en-US" sz="1100" noProof="1"/>
          </a:p>
        </p:txBody>
      </p:sp>
      <p:sp>
        <p:nvSpPr>
          <p:cNvPr id="23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4. Сравниваются компактная и более точная конфигурации, например YOLO26n и YOLO26s.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4 • ПРОЕКТИРОВАНИЕ • ПРОИЗВОДСТВЕННЫЙ КОНТУР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Система работает автоматически; оператор контролирует исключения и качество, а не проверяет каждый лоток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АРХИТЕКТУРА: ОТ ИЗОБРАЖЕНИЯ ДО ПОДТВЕРЖДЁННОЙ ОТБРАКОВКИ</a:t>
            </a:r>
            <a:endParaRPr lang="en-US" sz="1000" noProof="1"/>
          </a:p>
        </p:txBody>
      </p:sp>
      <p:sp>
        <p:nvSpPr>
          <p:cNvPr id="6" name="fl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609600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7" name="flow1-title"/>
          <p:cNvSpPr txBox="1"/>
          <p:nvPr/>
        </p:nvSpPr>
        <p:spPr>
          <a:xfrm>
            <a:off x="6096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1. Входные данные</a:t>
            </a:r>
            <a:endParaRPr lang="en-US" sz="1500" noProof="1"/>
          </a:p>
        </p:txBody>
      </p:sp>
      <p:sp>
        <p:nvSpPr>
          <p:cNvPr id="8" name="flow1-note"/>
          <p:cNvSpPr txBox="1"/>
          <p:nvPr/>
        </p:nvSpPr>
        <p:spPr>
          <a:xfrm>
            <a:off x="6096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Камера, подсветка и датчик; 2–3 кадра крышки, ID лотка, партия и смена.</a:t>
            </a:r>
            <a:endParaRPr lang="en-US" sz="1200" noProof="1"/>
          </a:p>
        </p:txBody>
      </p:sp>
      <p:sp>
        <p:nvSpPr>
          <p:cNvPr id="9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eyJ2aWV3Qm94IjpbNDAsMV0sInBvaW50cyI6IjAsMCA0MCwwIn0</pptd:line>
              </p:ext>
            </p:extLst>
          </p:nvPr>
        </p:nvSpPr>
        <p:spPr>
          <a:xfrm>
            <a:off x="34330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0" name="fl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4042699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flow2-title"/>
          <p:cNvSpPr txBox="1"/>
          <p:nvPr/>
        </p:nvSpPr>
        <p:spPr>
          <a:xfrm>
            <a:off x="33909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2. Локальная YOLO</a:t>
            </a:r>
            <a:endParaRPr lang="en-US" sz="1500" noProof="1"/>
          </a:p>
        </p:txBody>
      </p:sp>
      <p:sp>
        <p:nvSpPr>
          <p:cNvPr id="12" name="flow2-note"/>
          <p:cNvSpPr txBox="1"/>
          <p:nvPr/>
        </p:nvSpPr>
        <p:spPr>
          <a:xfrm>
            <a:off x="33909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«Норма» / «конденсат», зона дефекта и решение по нескольким кадрам.</a:t>
            </a:r>
            <a:endParaRPr lang="en-US" sz="1200" noProof="1"/>
          </a:p>
        </p:txBody>
      </p:sp>
      <p:sp>
        <p:nvSpPr>
          <p:cNvPr id="13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eyJ2aWV3Qm94IjpbNDAsMV0sInBvaW50cyI6IjAsMCA0MCwwIn0</pptd:line>
              </p:ext>
            </p:extLst>
          </p:nvPr>
        </p:nvSpPr>
        <p:spPr>
          <a:xfrm>
            <a:off x="62143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4" name="fl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eyJpY29uTmFtZSI6ImZhczpkaXNwbGF5In0</pptd:icon>
              </p:ext>
            </p:extLst>
          </p:nvPr>
        </p:nvSpPr>
        <p:spPr>
          <a:xfrm>
            <a:off x="6823999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5" name="flow3-title"/>
          <p:cNvSpPr txBox="1"/>
          <p:nvPr/>
        </p:nvSpPr>
        <p:spPr>
          <a:xfrm>
            <a:off x="61722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3. Интерфейс</a:t>
            </a:r>
            <a:endParaRPr lang="en-US" sz="1500" noProof="1"/>
          </a:p>
        </p:txBody>
      </p:sp>
      <p:sp>
        <p:nvSpPr>
          <p:cNvPr id="16" name="flow3-note"/>
          <p:cNvSpPr txBox="1"/>
          <p:nvPr/>
        </p:nvSpPr>
        <p:spPr>
          <a:xfrm>
            <a:off x="61722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Статус, изображения дефектов, счётчики, предупреждения и журнал событий.</a:t>
            </a:r>
            <a:endParaRPr lang="en-US" sz="1200" noProof="1"/>
          </a:p>
        </p:txBody>
      </p:sp>
      <p:sp>
        <p:nvSpPr>
          <p:cNvPr id="17" name="arrow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eyJ2aWV3Qm94IjpbNDAsMV0sInBvaW50cyI6IjAsMCA0MCwwIn0</pptd:line>
              </p:ext>
            </p:extLst>
          </p:nvPr>
        </p:nvSpPr>
        <p:spPr>
          <a:xfrm>
            <a:off x="89956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8" name="flow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9605298" y="231140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flow4-title"/>
          <p:cNvSpPr txBox="1"/>
          <p:nvPr/>
        </p:nvSpPr>
        <p:spPr>
          <a:xfrm>
            <a:off x="8953500" y="2819400"/>
            <a:ext cx="2628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4. ПЛК и толкатель</a:t>
            </a:r>
            <a:endParaRPr lang="en-US" sz="1500" noProof="1"/>
          </a:p>
        </p:txBody>
      </p:sp>
      <p:sp>
        <p:nvSpPr>
          <p:cNvPr id="20" name="flow4-note"/>
          <p:cNvSpPr txBox="1"/>
          <p:nvPr/>
        </p:nvSpPr>
        <p:spPr>
          <a:xfrm>
            <a:off x="8953500" y="3175000"/>
            <a:ext cx="26289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Удаление дефектного лотка, подтверждение датчиком; качественная продукция идёт дальше.</a:t>
            </a:r>
            <a:endParaRPr lang="en-US" sz="1200" noProof="1"/>
          </a:p>
        </p:txBody>
      </p:sp>
      <p:sp>
        <p:nvSpPr>
          <p:cNvPr id="21" name="roles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2799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2" name="operator-head"/>
          <p:cNvSpPr txBox="1"/>
          <p:nvPr/>
        </p:nvSpPr>
        <p:spPr>
          <a:xfrm>
            <a:off x="609600" y="4533900"/>
            <a:ext cx="5016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ОПЕРАТОР • КОНТРОЛЬ ИСКЛЮЧЕНИЙ</a:t>
            </a:r>
            <a:endParaRPr lang="en-US" sz="1100" noProof="1"/>
          </a:p>
        </p:txBody>
      </p:sp>
      <p:sp>
        <p:nvSpPr>
          <p:cNvPr id="23" name="operator"/>
          <p:cNvSpPr txBox="1"/>
          <p:nvPr/>
        </p:nvSpPr>
        <p:spPr>
          <a:xfrm>
            <a:off x="609600" y="4889500"/>
            <a:ext cx="50165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следит за состоянием системы и предупреждениями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проверяет отбракованные лотки и отмечает ошибки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проводит выборочный контроль основной линии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сообщает о загрязнении камеры и сбоях оборудования</a:t>
            </a:r>
            <a:endParaRPr lang="en-US" sz="1200" noProof="1"/>
          </a:p>
        </p:txBody>
      </p:sp>
      <p:sp>
        <p:nvSpPr>
          <p:cNvPr id="24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eyJ2aWV3Qm94IjpbMSwxMTRdLCJwb2ludHMiOiIwLDAgMCwxMTQifQ</pptd:line>
              </p:ext>
            </p:extLst>
          </p:nvPr>
        </p:nvSpPr>
        <p:spPr>
          <a:xfrm>
            <a:off x="6032500" y="4546600"/>
            <a:ext cx="12700" cy="1447800"/>
          </a:xfrm>
          <a:custGeom>
            <a:avLst/>
            <a:gdLst/>
            <a:ahLst/>
            <a:cxnLst/>
            <a:rect l="l" t="t" r="r" b="b"/>
            <a:pathLst>
              <a:path w="1" h="114">
                <a:moveTo>
                  <a:pt x="0" y="0"/>
                </a:moveTo>
                <a:lnTo>
                  <a:pt x="0" y="11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5" name="curator-head"/>
          <p:cNvSpPr txBox="1"/>
          <p:nvPr/>
        </p:nvSpPr>
        <p:spPr>
          <a:xfrm>
            <a:off x="6477000" y="45339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КУРАТОР / КАЧЕСТО + DS • УПРАВЛЕНИЕ</a:t>
            </a:r>
            <a:endParaRPr lang="en-US" sz="1100" noProof="1"/>
          </a:p>
        </p:txBody>
      </p:sp>
      <p:sp>
        <p:nvSpPr>
          <p:cNvPr id="26" name="curator"/>
          <p:cNvSpPr txBox="1"/>
          <p:nvPr/>
        </p:nvSpPr>
        <p:spPr>
          <a:xfrm>
            <a:off x="6477000" y="4889500"/>
            <a:ext cx="51054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технолог утверждает норму дефекта и разбирает споры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куратор контролирует метрики и корректирующие действия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DS дообучивает и обновляет модель после проверки данных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 не изменяет пороги модели самостоятельно</a:t>
            </a:r>
            <a:endParaRPr lang="en-US" sz="1200" noProof="1"/>
          </a:p>
        </p:txBody>
      </p:sp>
      <p:sp>
        <p:nvSpPr>
          <p:cNvPr id="27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8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При сбое камеры, модели или толкателя: предупреждение + переход на резервный регламент ручного контроля</a:t>
            </a:r>
            <a:endParaRPr lang="en-US" sz="1100" noProof="1"/>
          </a:p>
        </p:txBody>
      </p:sp>
      <p:sp>
        <p:nvSpPr>
          <p:cNvPr id="29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Штатный режим не требует подтверждения оператором каждого лотка; событие и изображение сохраняются.</a:t>
            </a:r>
            <a:endParaRPr lang="en-US" sz="900" noProof="1"/>
          </a:p>
        </p:txBody>
      </p:sp>
      <p:sp>
        <p:nvSpPr>
          <p:cNvPr id="30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5 • РИСКИ • ЦЕНА ОШИБКИ И ЗАЩИТА</a:t>
            </a:r>
            <a:endParaRPr lang="en-US" sz="1000" noProof="1"/>
          </a:p>
        </p:txBody>
      </p:sp>
      <p:sp>
        <p:nvSpPr>
          <p:cNvPr id="3" name="principle"/>
          <p:cNvSpPr txBox="1"/>
          <p:nvPr/>
        </p:nvSpPr>
        <p:spPr>
          <a:xfrm>
            <a:off x="8064500" y="304800"/>
            <a:ext cx="3517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Критические решения остаются за человеком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Пропуск дефекта обычно дороже лишней отбраковки,
поэтому приоритет - не выпустить конденсат в магазин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ompare1-head"/>
          <p:cNvSpPr txBox="1"/>
          <p:nvPr/>
        </p:nvSpPr>
        <p:spPr>
          <a:xfrm>
            <a:off x="609600" y="1841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ОШИБКА 1 • ДЕФЕКТ ПРОПУЩЕН</a:t>
            </a:r>
            <a:endParaRPr lang="en-US" sz="1100" noProof="1"/>
          </a:p>
        </p:txBody>
      </p:sp>
      <p:sp>
        <p:nvSpPr>
          <p:cNvPr id="7" name="compare1-title"/>
          <p:cNvSpPr txBox="1"/>
          <p:nvPr/>
        </p:nvSpPr>
        <p:spPr>
          <a:xfrm>
            <a:off x="609600" y="2209800"/>
            <a:ext cx="5143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Ошибка доходит до магазина</a:t>
            </a:r>
            <a:endParaRPr lang="en-US" sz="1800" noProof="1"/>
          </a:p>
        </p:txBody>
      </p:sp>
      <p:sp>
        <p:nvSpPr>
          <p:cNvPr id="8" name="compare1-loss"/>
          <p:cNvSpPr txBox="1"/>
          <p:nvPr/>
        </p:nvSpPr>
        <p:spPr>
          <a:xfrm>
            <a:off x="609600" y="2628900"/>
            <a:ext cx="51435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Потери: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сокращённый срок годности, возврат, обратная логистика, утилизация и ущерб репутации.</a:t>
            </a:r>
            <a:endParaRPr lang="en-US" sz="1300" noProof="1"/>
          </a:p>
        </p:txBody>
      </p:sp>
      <p:sp>
        <p:nvSpPr>
          <p:cNvPr id="9" name="compare1-control"/>
          <p:cNvSpPr txBox="1"/>
          <p:nvPr/>
        </p:nvSpPr>
        <p:spPr>
          <a:xfrm>
            <a:off x="609600" y="3429000"/>
            <a:ext cx="5143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083F40"/>
                </a:solidFill>
                <a:latin typeface="Arial"/>
                <a:ea typeface="Arial"/>
              </a:rPr>
              <a:t>Защита:</a:t>
            </a:r>
            <a:r>
              <a:rPr lang="en-US" sz="1300" noProof="1">
                <a:solidFill>
                  <a:srgbClr val="083F40"/>
                </a:solidFill>
                <a:latin typeface="Arial"/>
                <a:ea typeface="Arial"/>
              </a:rPr>
              <a:t> полнота обнаружения ≥99%, выборочный контроль основной линии и разбор каждого подтверждённого пропуска.</a:t>
            </a:r>
            <a:endParaRPr lang="en-US" sz="1300" noProof="1"/>
          </a:p>
        </p:txBody>
      </p:sp>
      <p:sp>
        <p:nvSpPr>
          <p:cNvPr id="10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eyJ2aWV3Qm94IjpbMSwxOTBdLCJwb2ludHMiOiIwLDAgMCwxOTAifQ</pptd:line>
              </p:ext>
            </p:extLst>
          </p:nvPr>
        </p:nvSpPr>
        <p:spPr>
          <a:xfrm>
            <a:off x="6096000" y="1841500"/>
            <a:ext cx="12700" cy="2413000"/>
          </a:xfrm>
          <a:custGeom>
            <a:avLst/>
            <a:gdLst/>
            <a:ahLst/>
            <a:cxnLst/>
            <a:rect l="l" t="t" r="r" b="b"/>
            <a:pathLst>
              <a:path w="1" h="190">
                <a:moveTo>
                  <a:pt x="0" y="0"/>
                </a:moveTo>
                <a:lnTo>
                  <a:pt x="0" y="19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1" name="compare2-head"/>
          <p:cNvSpPr txBox="1"/>
          <p:nvPr/>
        </p:nvSpPr>
        <p:spPr>
          <a:xfrm>
            <a:off x="6477000" y="18415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ОШИБКА 2 • КАЧЕСТВЕННЫЙ ЛОТОК ОТБРАКОВАН</a:t>
            </a:r>
            <a:endParaRPr lang="en-US" sz="1100" noProof="1"/>
          </a:p>
        </p:txBody>
      </p:sp>
      <p:sp>
        <p:nvSpPr>
          <p:cNvPr id="12" name="compare2-title"/>
          <p:cNvSpPr txBox="1"/>
          <p:nvPr/>
        </p:nvSpPr>
        <p:spPr>
          <a:xfrm>
            <a:off x="6477000" y="2209800"/>
            <a:ext cx="51054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Ошибка остаётся внутри производства</a:t>
            </a:r>
            <a:endParaRPr lang="en-US" sz="1800" noProof="1"/>
          </a:p>
        </p:txBody>
      </p:sp>
      <p:sp>
        <p:nvSpPr>
          <p:cNvPr id="13" name="compare2-loss"/>
          <p:cNvSpPr txBox="1"/>
          <p:nvPr/>
        </p:nvSpPr>
        <p:spPr>
          <a:xfrm>
            <a:off x="6477000" y="2628900"/>
            <a:ext cx="5105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Потери: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повторная проверка, переработка, дополнительная нагрузка и возможное списание качественной продукции.</a:t>
            </a:r>
            <a:endParaRPr lang="en-US" sz="1300" noProof="1"/>
          </a:p>
        </p:txBody>
      </p:sp>
      <p:sp>
        <p:nvSpPr>
          <p:cNvPr id="14" name="compare2-control"/>
          <p:cNvSpPr txBox="1"/>
          <p:nvPr/>
        </p:nvSpPr>
        <p:spPr>
          <a:xfrm>
            <a:off x="6477000" y="3429000"/>
            <a:ext cx="51054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083F40"/>
                </a:solidFill>
                <a:latin typeface="Arial"/>
                <a:ea typeface="Arial"/>
              </a:rPr>
              <a:t>Защита:</a:t>
            </a:r>
            <a:r>
              <a:rPr lang="en-US" sz="1300" noProof="1">
                <a:solidFill>
                  <a:srgbClr val="083F40"/>
                </a:solidFill>
                <a:latin typeface="Arial"/>
                <a:ea typeface="Arial"/>
              </a:rPr>
              <a:t> оператор повторно проверяет отбракованное; порог настраивается, ложная отбраковка - не более 1%.</a:t>
            </a:r>
            <a:endParaRPr lang="en-US" sz="1300" noProof="1"/>
          </a:p>
        </p:txBody>
      </p:sp>
      <p:sp>
        <p:nvSpPr>
          <p:cNvPr id="15" name="balance"/>
          <p:cNvSpPr txBox="1"/>
          <p:nvPr/>
        </p:nvSpPr>
        <p:spPr>
          <a:xfrm>
            <a:off x="609600" y="43561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Окончательный баланс порога модели определяется по фактическим затратам из точки А</a:t>
            </a:r>
            <a:endParaRPr lang="en-US" sz="1100" noProof="1"/>
          </a:p>
        </p:txBody>
      </p:sp>
      <p:sp>
        <p:nvSpPr>
          <p:cNvPr id="16" name="map-head"/>
          <p:cNvSpPr txBox="1"/>
          <p:nvPr/>
        </p:nvSpPr>
        <p:spPr>
          <a:xfrm>
            <a:off x="609600" y="4826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ЧТО ЕЩЁ МОЖЕТ ПОЙТИ НЕ ТАК - И КАК ЭТО ОГРАНИЧИВАЕМ</a:t>
            </a:r>
            <a:endParaRPr lang="en-US" sz="1000" noProof="1"/>
          </a:p>
        </p:txBody>
      </p:sp>
      <p:sp>
        <p:nvSpPr>
          <p:cNvPr id="17" name="risk1"/>
          <p:cNvSpPr txBox="1"/>
          <p:nvPr/>
        </p:nvSpPr>
        <p:spPr>
          <a:xfrm>
            <a:off x="609600" y="5194300"/>
            <a:ext cx="33655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Новая крышка / условия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Проверка перед запуском формата; контроль по сменам.</a:t>
            </a:r>
            <a:endParaRPr lang="en-US" sz="1200" noProof="1"/>
          </a:p>
        </p:txBody>
      </p:sp>
      <p:sp>
        <p:nvSpPr>
          <p:cNvPr id="18" name="risk2"/>
          <p:cNvSpPr txBox="1"/>
          <p:nvPr/>
        </p:nvSpPr>
        <p:spPr>
          <a:xfrm>
            <a:off x="4419600" y="5194300"/>
            <a:ext cx="33655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Грязная камера / подсветка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Контроль кадра, предупреждение и регламент очистки.</a:t>
            </a:r>
            <a:endParaRPr lang="en-US" sz="1200" noProof="1"/>
          </a:p>
        </p:txBody>
      </p:sp>
      <p:sp>
        <p:nvSpPr>
          <p:cNvPr id="19" name="risk3"/>
          <p:cNvSpPr txBox="1"/>
          <p:nvPr/>
        </p:nvSpPr>
        <p:spPr>
          <a:xfrm>
            <a:off x="8229600" y="5194300"/>
            <a:ext cx="33528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Отбракован не тот лоток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Энкодер, синхронизация с ПЛК и датчик подтверждения.</a:t>
            </a:r>
            <a:endParaRPr lang="en-US" sz="1200" noProof="1"/>
          </a:p>
        </p:txBody>
      </p:sp>
      <p:sp>
        <p:nvSpPr>
          <p:cNvPr id="20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1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Отдельный контроль: изменения модели утверждаются, права разграничены, каждая версия и действие фиксируются в журнале</a:t>
            </a:r>
            <a:endParaRPr lang="en-US" sz="1100" noProof="1"/>
          </a:p>
        </p:txBody>
      </p:sp>
      <p:sp>
        <p:nvSpPr>
          <p:cNvPr id="22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5. «Обычно дороже» - рабочая оценка; точное соотношение подтверждается фактическими затратами.</a:t>
            </a:r>
            <a:endParaRPr lang="en-US" sz="900" noProof="1"/>
          </a:p>
        </p:txBody>
      </p:sp>
      <p:sp>
        <p:nvSpPr>
          <p:cNvPr id="23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1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5 • БЕЗОПАСНОСТЬ • ОТКАЗ И КОНТРОЛЬ</a:t>
            </a:r>
            <a:endParaRPr lang="en-US" sz="1000" noProof="1"/>
          </a:p>
        </p:txBody>
      </p:sp>
      <p:sp>
        <p:nvSpPr>
          <p:cNvPr id="3" name="local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Данные остаются в локальном контуре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При отказе качество не выпускается из-под контроля:
работает ручной регламент, а запуск подтверждает человек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failure-head"/>
          <p:cNvSpPr txBox="1"/>
          <p:nvPr/>
        </p:nvSpPr>
        <p:spPr>
          <a:xfrm>
            <a:off x="609600" y="1841500"/>
            <a:ext cx="698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РЕЗЕРВНЫЙ СЦЕНАРИЙ ПРИ ОТКАЗЕ</a:t>
            </a:r>
            <a:endParaRPr lang="en-US" sz="1100" noProof="1"/>
          </a:p>
        </p:txBody>
      </p:sp>
      <p:sp>
        <p:nvSpPr>
          <p:cNvPr id="7" name="step1"/>
          <p:cNvSpPr txBox="1"/>
          <p:nvPr/>
        </p:nvSpPr>
        <p:spPr>
          <a:xfrm>
            <a:off x="609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Сигнал и фиксация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Предупреждение и время отказа.</a:t>
            </a:r>
            <a:endParaRPr lang="en-US" sz="1200" noProof="1"/>
          </a:p>
        </p:txBody>
      </p:sp>
      <p:sp>
        <p:nvSpPr>
          <p:cNvPr id="8" name="step2"/>
          <p:cNvSpPr txBox="1"/>
          <p:nvPr/>
        </p:nvSpPr>
        <p:spPr>
          <a:xfrm>
            <a:off x="3022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Ручной контроль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Два оператора по регламенту точки А.</a:t>
            </a:r>
            <a:endParaRPr lang="en-US" sz="1200" noProof="1"/>
          </a:p>
        </p:txBody>
      </p:sp>
      <p:sp>
        <p:nvSpPr>
          <p:cNvPr id="9" name="step3"/>
          <p:cNvSpPr txBox="1"/>
          <p:nvPr/>
        </p:nvSpPr>
        <p:spPr>
          <a:xfrm>
            <a:off x="5435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Блок отгрузки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Непроверенная продукция не уходит.</a:t>
            </a:r>
            <a:endParaRPr lang="en-US" sz="1200" noProof="1"/>
          </a:p>
        </p:txBody>
      </p:sp>
      <p:sp>
        <p:nvSpPr>
          <p:cNvPr id="10" name="step4"/>
          <p:cNvSpPr txBox="1"/>
          <p:nvPr/>
        </p:nvSpPr>
        <p:spPr>
          <a:xfrm>
            <a:off x="7848600" y="2235200"/>
            <a:ext cx="1778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Восстановление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Инженер проверяет весь контур.</a:t>
            </a:r>
            <a:endParaRPr lang="en-US" sz="1200" noProof="1"/>
          </a:p>
        </p:txBody>
      </p:sp>
      <p:sp>
        <p:nvSpPr>
          <p:cNvPr id="11" name="step5"/>
          <p:cNvSpPr txBox="1"/>
          <p:nvPr/>
        </p:nvSpPr>
        <p:spPr>
          <a:xfrm>
            <a:off x="9880600" y="2235200"/>
            <a:ext cx="17018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05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Тест и запуск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Контрольные лотки; разрешение производства.</a:t>
            </a:r>
            <a:endParaRPr lang="en-US" sz="1200" noProof="1"/>
          </a:p>
        </p:txBody>
      </p:sp>
      <p:sp>
        <p:nvSpPr>
          <p:cNvPr id="12" name="stop-rule"/>
          <p:cNvSpPr txBox="1"/>
          <p:nvPr/>
        </p:nvSpPr>
        <p:spPr>
          <a:xfrm>
            <a:off x="609600" y="3632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Остановка линии - только по производственному регламенту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, если безопасный ручной контроль невозможен. Это решение принимает человек, а не модель.</a:t>
            </a:r>
            <a:endParaRPr lang="en-US" sz="1200" noProof="1"/>
          </a:p>
        </p:txBody>
      </p:sp>
      <p:sp>
        <p:nvSpPr>
          <p:cNvPr id="13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178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4" name="security-head"/>
          <p:cNvSpPr txBox="1"/>
          <p:nvPr/>
        </p:nvSpPr>
        <p:spPr>
          <a:xfrm>
            <a:off x="609600" y="4254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ДАННЫЕ И МОДЕЛЬ ПОД КОНТРОЛЕМ</a:t>
            </a:r>
            <a:endParaRPr lang="en-US" sz="1100" noProof="1"/>
          </a:p>
        </p:txBody>
      </p:sp>
      <p:sp>
        <p:nvSpPr>
          <p:cNvPr id="15" name="security"/>
          <p:cNvSpPr txBox="1"/>
          <p:nvPr/>
        </p:nvSpPr>
        <p:spPr>
          <a:xfrm>
            <a:off x="609600" y="4555787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изображения и производственные параметры не передаются внешним AI-сервисам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выгрузка данных - только по согласованной процедуре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модель не меняет собственные пороги, правила и журнал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самостоятельное дообучение, остановка линии, списание партии и кадровые решения запрещены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eyJ2aWV3Qm94IjpbMSwxMzRdLCJwb2ludHMiOiIwLDAgMCwxMzQifQ</pptd:line>
              </p:ext>
            </p:extLst>
          </p:nvPr>
        </p:nvSpPr>
        <p:spPr>
          <a:xfrm>
            <a:off x="6096000" y="4267200"/>
            <a:ext cx="12700" cy="1701800"/>
          </a:xfrm>
          <a:custGeom>
            <a:avLst/>
            <a:gdLst/>
            <a:ahLst/>
            <a:cxnLst/>
            <a:rect l="l" t="t" r="r" b="b"/>
            <a:pathLst>
              <a:path w="1" h="134">
                <a:moveTo>
                  <a:pt x="0" y="0"/>
                </a:moveTo>
                <a:lnTo>
                  <a:pt x="0" y="13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people-head"/>
          <p:cNvSpPr txBox="1"/>
          <p:nvPr/>
        </p:nvSpPr>
        <p:spPr>
          <a:xfrm>
            <a:off x="6477000" y="42545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ЛЮДИ: НОВАЯ РОЛЬ, НЕ УВОЛЬНЕНИЕ</a:t>
            </a:r>
            <a:endParaRPr lang="en-US" sz="1100" noProof="1"/>
          </a:p>
        </p:txBody>
      </p:sp>
      <p:sp>
        <p:nvSpPr>
          <p:cNvPr id="18" name="people"/>
          <p:cNvSpPr txBox="1"/>
          <p:nvPr/>
        </p:nvSpPr>
        <p:spPr>
          <a:xfrm>
            <a:off x="6477000" y="4551098"/>
            <a:ext cx="51054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операторы переходят на контроль исключений, выборочную проверку и поддержку поста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данные используются для улучшения процесса, а не для наказания сотрудников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операторы участвуют в пилоте; обучение и поддержка - на первых сменах</a:t>
            </a:r>
            <a:endParaRPr lang="en-US" sz="1200" noProof="1"/>
          </a:p>
        </p:txBody>
      </p:sp>
      <p:sp>
        <p:nvSpPr>
          <p:cNvPr id="19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0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Итог: замкнутый контур, защищённые данные, ручной резерв и утверждение всех критических решений человеком</a:t>
            </a:r>
            <a:endParaRPr lang="en-US" sz="1100" noProof="1"/>
          </a:p>
        </p:txBody>
      </p:sp>
      <p:sp>
        <p:nvSpPr>
          <p:cNvPr id="21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5. Увольнение не является условием внедрения; проект перераспределяет работу операторов.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6 • КРИТЕРИИ УСПЕХА • РЕШЕНИЕ О ПРИЁМКЕ</a:t>
            </a:r>
            <a:endParaRPr lang="en-US" sz="1000" noProof="1"/>
          </a:p>
        </p:txBody>
      </p:sp>
      <p:sp>
        <p:nvSpPr>
          <p:cNvPr id="3" name="baselin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Сравнение с утверждённой точкой 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Пилот принимаем только при выполнении всех критериев
качества, стабильности и экономического эффекта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riteria-head"/>
          <p:cNvSpPr txBox="1"/>
          <p:nvPr/>
        </p:nvSpPr>
        <p:spPr>
          <a:xfrm>
            <a:off x="609600" y="18415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ОБЯЗАТЕЛЬНЫЕ УСЛОВИЯ ПРИЁМКИ</a:t>
            </a:r>
            <a:endParaRPr lang="en-US" sz="1100" noProof="1"/>
          </a:p>
        </p:txBody>
      </p:sp>
      <p:sp>
        <p:nvSpPr>
          <p:cNvPr id="7" name="target-head"/>
          <p:cNvSpPr txBox="1"/>
          <p:nvPr/>
        </p:nvSpPr>
        <p:spPr>
          <a:xfrm>
            <a:off x="6108700" y="18415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ЦЕЛЬ</a:t>
            </a:r>
            <a:endParaRPr lang="en-US" sz="1000" noProof="1"/>
          </a:p>
        </p:txBody>
      </p:sp>
      <p:sp>
        <p:nvSpPr>
          <p:cNvPr id="8" name="criterion-1"/>
          <p:cNvSpPr txBox="1"/>
          <p:nvPr/>
        </p:nvSpPr>
        <p:spPr>
          <a:xfrm>
            <a:off x="609600" y="21844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 конденсата</a:t>
            </a:r>
            <a:endParaRPr lang="en-US" sz="1200" noProof="1"/>
          </a:p>
        </p:txBody>
      </p:sp>
      <p:sp>
        <p:nvSpPr>
          <p:cNvPr id="9" name="target-1"/>
          <p:cNvSpPr txBox="1"/>
          <p:nvPr/>
        </p:nvSpPr>
        <p:spPr>
          <a:xfrm>
            <a:off x="6070600" y="21844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10" name="criterion-line-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26416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1" name="criterion-2"/>
          <p:cNvSpPr txBox="1"/>
          <p:nvPr/>
        </p:nvSpPr>
        <p:spPr>
          <a:xfrm>
            <a:off x="609600" y="26543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двое операторов</a:t>
            </a:r>
            <a:endParaRPr lang="en-US" sz="1200" noProof="1"/>
          </a:p>
        </p:txBody>
      </p:sp>
      <p:sp>
        <p:nvSpPr>
          <p:cNvPr id="12" name="target-2"/>
          <p:cNvSpPr txBox="1"/>
          <p:nvPr/>
        </p:nvSpPr>
        <p:spPr>
          <a:xfrm>
            <a:off x="6070600" y="26543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600" noProof="1"/>
          </a:p>
        </p:txBody>
      </p:sp>
      <p:sp>
        <p:nvSpPr>
          <p:cNvPr id="13" name="criterion-line-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31115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4" name="criterion-3"/>
          <p:cNvSpPr txBox="1"/>
          <p:nvPr/>
        </p:nvSpPr>
        <p:spPr>
          <a:xfrm>
            <a:off x="609600" y="31242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 качественной продукции</a:t>
            </a:r>
            <a:endParaRPr lang="en-US" sz="1200" noProof="1"/>
          </a:p>
        </p:txBody>
      </p:sp>
      <p:sp>
        <p:nvSpPr>
          <p:cNvPr id="15" name="target-3"/>
          <p:cNvSpPr txBox="1"/>
          <p:nvPr/>
        </p:nvSpPr>
        <p:spPr>
          <a:xfrm>
            <a:off x="6070600" y="31242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600" noProof="1"/>
          </a:p>
        </p:txBody>
      </p:sp>
      <p:sp>
        <p:nvSpPr>
          <p:cNvPr id="16" name="criterion-line-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35814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criterion-4"/>
          <p:cNvSpPr txBox="1"/>
          <p:nvPr/>
        </p:nvSpPr>
        <p:spPr>
          <a:xfrm>
            <a:off x="609600" y="35941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Время программного решения</a:t>
            </a:r>
            <a:endParaRPr lang="en-US" sz="1200" noProof="1"/>
          </a:p>
        </p:txBody>
      </p:sp>
      <p:sp>
        <p:nvSpPr>
          <p:cNvPr id="18" name="target-4"/>
          <p:cNvSpPr txBox="1"/>
          <p:nvPr/>
        </p:nvSpPr>
        <p:spPr>
          <a:xfrm>
            <a:off x="6070600" y="35941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600" noProof="1"/>
          </a:p>
        </p:txBody>
      </p:sp>
      <p:sp>
        <p:nvSpPr>
          <p:cNvPr id="19" name="criterion-line-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0513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criterion-5"/>
          <p:cNvSpPr txBox="1"/>
          <p:nvPr/>
        </p:nvSpPr>
        <p:spPr>
          <a:xfrm>
            <a:off x="609600" y="40640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Успешное срабатывание толкателя</a:t>
            </a:r>
            <a:endParaRPr lang="en-US" sz="1200" noProof="1"/>
          </a:p>
        </p:txBody>
      </p:sp>
      <p:sp>
        <p:nvSpPr>
          <p:cNvPr id="21" name="target-5"/>
          <p:cNvSpPr txBox="1"/>
          <p:nvPr/>
        </p:nvSpPr>
        <p:spPr>
          <a:xfrm>
            <a:off x="6070600" y="40640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600" noProof="1"/>
          </a:p>
        </p:txBody>
      </p:sp>
      <p:sp>
        <p:nvSpPr>
          <p:cNvPr id="22" name="criterion-line-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5212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3" name="criterion-6"/>
          <p:cNvSpPr txBox="1"/>
          <p:nvPr/>
        </p:nvSpPr>
        <p:spPr>
          <a:xfrm>
            <a:off x="609600" y="45339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системы в пилоте</a:t>
            </a:r>
            <a:endParaRPr lang="en-US" sz="1200" noProof="1"/>
          </a:p>
        </p:txBody>
      </p:sp>
      <p:sp>
        <p:nvSpPr>
          <p:cNvPr id="24" name="target-6"/>
          <p:cNvSpPr txBox="1"/>
          <p:nvPr/>
        </p:nvSpPr>
        <p:spPr>
          <a:xfrm>
            <a:off x="6070600" y="45339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25" name="criterion-line-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49911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6" name="criterion-7"/>
          <p:cNvSpPr txBox="1"/>
          <p:nvPr/>
        </p:nvSpPr>
        <p:spPr>
          <a:xfrm>
            <a:off x="609600" y="50038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 линии по команде модели</a:t>
            </a:r>
            <a:endParaRPr lang="en-US" sz="1200" noProof="1"/>
          </a:p>
        </p:txBody>
      </p:sp>
      <p:sp>
        <p:nvSpPr>
          <p:cNvPr id="27" name="target-7"/>
          <p:cNvSpPr txBox="1"/>
          <p:nvPr/>
        </p:nvSpPr>
        <p:spPr>
          <a:xfrm>
            <a:off x="6070600" y="50038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0</a:t>
            </a:r>
            <a:endParaRPr lang="en-US" sz="1800" noProof="1"/>
          </a:p>
        </p:txBody>
      </p:sp>
      <p:sp>
        <p:nvSpPr>
          <p:cNvPr id="28" name="criterion-line-7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eyJ2aWV3Qm94IjpbNTIwLDFdLCJwb2ludHMiOiIwLDAgNTIwLDAifQ</pptd:line>
              </p:ext>
            </p:extLst>
          </p:nvPr>
        </p:nvSpPr>
        <p:spPr>
          <a:xfrm>
            <a:off x="609600" y="54610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9" name="all-note"/>
          <p:cNvSpPr txBox="1"/>
          <p:nvPr/>
        </p:nvSpPr>
        <p:spPr>
          <a:xfrm>
            <a:off x="609600" y="5613400"/>
            <a:ext cx="660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Недостижение хотя бы одного обязательного показателя означает доработку, а не приёмку пилота.</a:t>
            </a:r>
            <a:endParaRPr lang="en-US" sz="1100" noProof="1"/>
          </a:p>
        </p:txBody>
      </p:sp>
      <p:sp>
        <p:nvSpPr>
          <p:cNvPr id="30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eyJ2aWV3Qm94IjpbMSwzMjldLCJwb2ludHMiOiIwLDAgMCwzMjkifQ</pptd:line>
              </p:ext>
            </p:extLst>
          </p:nvPr>
        </p:nvSpPr>
        <p:spPr>
          <a:xfrm>
            <a:off x="7620000" y="1841500"/>
            <a:ext cx="12700" cy="4178300"/>
          </a:xfrm>
          <a:custGeom>
            <a:avLst/>
            <a:gdLst/>
            <a:ahLst/>
            <a:cxnLst/>
            <a:rect l="l" t="t" r="r" b="b"/>
            <a:pathLst>
              <a:path w="1" h="329">
                <a:moveTo>
                  <a:pt x="0" y="0"/>
                </a:moveTo>
                <a:lnTo>
                  <a:pt x="0" y="329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1" name="test-head"/>
          <p:cNvSpPr txBox="1"/>
          <p:nvPr/>
        </p:nvSpPr>
        <p:spPr>
          <a:xfrm>
            <a:off x="8026400" y="18415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</a:t>
            </a:r>
            <a:endParaRPr lang="en-US" sz="1100" noProof="1"/>
          </a:p>
        </p:txBody>
      </p:sp>
      <p:sp>
        <p:nvSpPr>
          <p:cNvPr id="32" name="sample"/>
          <p:cNvSpPr txBox="1"/>
          <p:nvPr/>
        </p:nvSpPr>
        <p:spPr>
          <a:xfrm>
            <a:off x="8026400" y="2222500"/>
            <a:ext cx="3556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≥20 смен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≥300 дефектных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≥3 000 качественных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лотков</a:t>
            </a:r>
            <a:endParaRPr lang="en-US" sz="1200" noProof="1"/>
          </a:p>
        </p:txBody>
      </p:sp>
      <p:sp>
        <p:nvSpPr>
          <p:cNvPr id="33" name="method"/>
          <p:cNvSpPr txBox="1"/>
          <p:nvPr/>
        </p:nvSpPr>
        <p:spPr>
          <a:xfrm>
            <a:off x="8026400" y="3162300"/>
            <a:ext cx="355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отдельный тест, не участвовавший в обучении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камера и операторы - сопоставимые периоды, чередование по неделям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эталон подтверждает специалист по качеству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замеры в теневом режиме и опытной эксплуатации</a:t>
            </a:r>
            <a:endParaRPr lang="en-US" sz="1200" noProof="1"/>
          </a:p>
        </p:txBody>
      </p:sp>
      <p:sp>
        <p:nvSpPr>
          <p:cNvPr id="34" name="econ-head"/>
          <p:cNvSpPr txBox="1"/>
          <p:nvPr/>
        </p:nvSpPr>
        <p:spPr>
          <a:xfrm>
            <a:off x="8026400" y="48514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ЭКОНОМИКА ПО ФАКТУ</a:t>
            </a:r>
            <a:endParaRPr lang="en-US" sz="1100" noProof="1"/>
          </a:p>
        </p:txBody>
      </p:sp>
      <p:sp>
        <p:nvSpPr>
          <p:cNvPr id="35" name="economics"/>
          <p:cNvSpPr txBox="1"/>
          <p:nvPr/>
        </p:nvSpPr>
        <p:spPr>
          <a:xfrm>
            <a:off x="8026400" y="5194300"/>
            <a:ext cx="35560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от точки А − эксплуатация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36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7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 о внедрении: качество детекции + стабильная работа + подтверждённый экономический эффект</a:t>
            </a:r>
            <a:endParaRPr lang="en-US" sz="1100" noProof="1"/>
          </a:p>
        </p:txBody>
      </p:sp>
      <p:sp>
        <p:nvSpPr>
          <p:cNvPr id="38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6. Экономический расчёт выполняется при наличии фактических потерь и эксплуатационных затрат.</a:t>
            </a:r>
            <a:endParaRPr lang="en-US" sz="900" noProof="1"/>
          </a:p>
        </p:txBody>
      </p:sp>
      <p:sp>
        <p:nvSpPr>
          <p:cNvPr id="39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КАЛЕНДАРЬ</a:t>
            </a:r>
            <a:endParaRPr lang="en-US" sz="1000" noProof="1"/>
          </a:p>
        </p:txBody>
      </p:sp>
      <p:sp>
        <p:nvSpPr>
          <p:cNvPr id="3" name="plan"/>
          <p:cNvSpPr txBox="1"/>
          <p:nvPr/>
        </p:nvSpPr>
        <p:spPr>
          <a:xfrm>
            <a:off x="8661400" y="3048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План первой линии: около 6 месяцев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Первая линия за 22-26 недель: оборудование,
данные и модель готовим параллельно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"/>
          <p:cNvSpPr txBox="1"/>
          <p:nvPr/>
        </p:nvSpPr>
        <p:spPr>
          <a:xfrm>
            <a:off x="609600" y="1841500"/>
            <a:ext cx="3048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22-26 недель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 учётом производственных окон</a:t>
            </a:r>
            <a:endParaRPr lang="en-US" sz="2400" noProof="1"/>
          </a:p>
        </p:txBody>
      </p:sp>
      <p:sp>
        <p:nvSpPr>
          <p:cNvPr id="7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40386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8" name="kpi2"/>
          <p:cNvSpPr txBox="1"/>
          <p:nvPr/>
        </p:nvSpPr>
        <p:spPr>
          <a:xfrm>
            <a:off x="4445000" y="1841500"/>
            <a:ext cx="2794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≥1 месяца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сравнительные испытания</a:t>
            </a:r>
            <a:endParaRPr lang="en-US" sz="2400" noProof="1"/>
          </a:p>
        </p:txBody>
      </p:sp>
      <p:sp>
        <p:nvSpPr>
          <p:cNvPr id="9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7747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0" name="kpi3"/>
          <p:cNvSpPr txBox="1"/>
          <p:nvPr/>
        </p:nvSpPr>
        <p:spPr>
          <a:xfrm>
            <a:off x="8153400" y="1841500"/>
            <a:ext cx="3429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4-8 недель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закупка и изготовление оборудования</a:t>
            </a:r>
            <a:endParaRPr lang="en-US" sz="2400" noProof="1"/>
          </a:p>
        </p:txBody>
      </p:sp>
      <p:sp>
        <p:nvSpPr>
          <p:cNvPr id="11" name="calendar-head"/>
          <p:cNvSpPr txBox="1"/>
          <p:nvPr/>
        </p:nvSpPr>
        <p:spPr>
          <a:xfrm>
            <a:off x="609600" y="276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РЕАЛЬНЫЙ КАЛЕНДАРЬ ПРОЕКТА</a:t>
            </a:r>
            <a:endParaRPr lang="en-US" sz="1000" noProof="1"/>
          </a:p>
        </p:txBody>
      </p:sp>
      <p:sp>
        <p:nvSpPr>
          <p:cNvPr id="12" name="stage1"/>
          <p:cNvSpPr txBox="1"/>
          <p:nvPr/>
        </p:nvSpPr>
        <p:spPr>
          <a:xfrm>
            <a:off x="6096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1-4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ТЗ и стенд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Критерии дефекта, камера и подсветка; видимость конденсата подтверждена.</a:t>
            </a:r>
            <a:endParaRPr lang="en-US" sz="1150" noProof="1"/>
          </a:p>
        </p:txBody>
      </p:sp>
      <p:sp>
        <p:nvSpPr>
          <p:cNvPr id="13" name="stage2"/>
          <p:cNvSpPr txBox="1"/>
          <p:nvPr/>
        </p:nvSpPr>
        <p:spPr>
          <a:xfrm>
            <a:off x="28067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3-10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Закупка и механика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Оборудование и механика отбраковки на производстве.</a:t>
            </a:r>
            <a:endParaRPr lang="en-US" sz="1150" noProof="1"/>
          </a:p>
        </p:txBody>
      </p:sp>
      <p:sp>
        <p:nvSpPr>
          <p:cNvPr id="14" name="stage3"/>
          <p:cNvSpPr txBox="1"/>
          <p:nvPr/>
        </p:nvSpPr>
        <p:spPr>
          <a:xfrm>
            <a:off x="50038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4-13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Данные и модель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Сбор и разметка, обучение и независимое испытание.</a:t>
            </a:r>
            <a:endParaRPr lang="en-US" sz="1150" noProof="1"/>
          </a:p>
        </p:txBody>
      </p:sp>
      <p:sp>
        <p:nvSpPr>
          <p:cNvPr id="15" name="stage4"/>
          <p:cNvSpPr txBox="1"/>
          <p:nvPr/>
        </p:nvSpPr>
        <p:spPr>
          <a:xfrm>
            <a:off x="72009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10-16 недель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Интеграция и монтаж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ПЛК, датчики, толкатель, интерфейс и контрольные лотки.</a:t>
            </a:r>
            <a:endParaRPr lang="en-US" sz="1150" noProof="1"/>
          </a:p>
        </p:txBody>
      </p:sp>
      <p:sp>
        <p:nvSpPr>
          <p:cNvPr id="16" name="stage5"/>
          <p:cNvSpPr txBox="1"/>
          <p:nvPr/>
        </p:nvSpPr>
        <p:spPr>
          <a:xfrm>
            <a:off x="9398000" y="3098800"/>
            <a:ext cx="2184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17-26 недель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Испытания и приёмка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Теневой режим, эксперимент, экономика, обучение и решение.</a:t>
            </a:r>
            <a:endParaRPr lang="en-US" sz="1150" noProof="1"/>
          </a:p>
        </p:txBody>
      </p:sp>
      <p:sp>
        <p:nvSpPr>
          <p:cNvPr id="17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5720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8" name="defect-head"/>
          <p:cNvSpPr txBox="1"/>
          <p:nvPr/>
        </p:nvSpPr>
        <p:spPr>
          <a:xfrm>
            <a:off x="609600" y="47117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ГЛАВНЫЙ РИСК СРОКОВ • СБОР ≥1 000 ДЕФЕКТОВ</a:t>
            </a:r>
            <a:endParaRPr lang="en-US" sz="1100" noProof="1"/>
          </a:p>
        </p:txBody>
      </p:sp>
      <p:sp>
        <p:nvSpPr>
          <p:cNvPr id="19" name="defect1"/>
          <p:cNvSpPr txBox="1"/>
          <p:nvPr/>
        </p:nvSpPr>
        <p:spPr>
          <a:xfrm>
            <a:off x="609600" y="5105400"/>
            <a:ext cx="2349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≈5 смен сбора</a:t>
            </a:r>
            <a:endParaRPr lang="en-US" sz="1200" noProof="1"/>
          </a:p>
        </p:txBody>
      </p:sp>
      <p:sp>
        <p:nvSpPr>
          <p:cNvPr id="20" name="defect2"/>
          <p:cNvSpPr txBox="1"/>
          <p:nvPr/>
        </p:nvSpPr>
        <p:spPr>
          <a:xfrm>
            <a:off x="3276600" y="5105400"/>
            <a:ext cx="2476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0,1%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≈42 смены = 8-9 недель</a:t>
            </a:r>
            <a:endParaRPr lang="en-US" sz="1200" noProof="1"/>
          </a:p>
        </p:txBody>
      </p:sp>
      <p:sp>
        <p:nvSpPr>
          <p:cNvPr id="21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eyJ2aWV3Qm94IjpbMSw5NV0sInBvaW50cyI6IjAsMCAwLDk1In0</pptd:line>
              </p:ext>
            </p:extLst>
          </p:nvPr>
        </p:nvSpPr>
        <p:spPr>
          <a:xfrm>
            <a:off x="6096000" y="4724400"/>
            <a:ext cx="12700" cy="1206500"/>
          </a:xfrm>
          <a:custGeom>
            <a:avLst/>
            <a:gdLst/>
            <a:ahLst/>
            <a:cxnLst/>
            <a:rect l="l" t="t" r="r" b="b"/>
            <a:pathLst>
              <a:path w="1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2" name="conditions-head"/>
          <p:cNvSpPr txBox="1"/>
          <p:nvPr/>
        </p:nvSpPr>
        <p:spPr>
          <a:xfrm>
            <a:off x="6477000" y="47117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КОГДА СРОК МЕНЯЕТСЯ</a:t>
            </a:r>
            <a:endParaRPr lang="en-US" sz="1100" noProof="1"/>
          </a:p>
        </p:txBody>
      </p:sp>
      <p:sp>
        <p:nvSpPr>
          <p:cNvPr id="23" name="conditions"/>
          <p:cNvSpPr txBox="1"/>
          <p:nvPr/>
        </p:nvSpPr>
        <p:spPr>
          <a:xfrm>
            <a:off x="6477000" y="5067300"/>
            <a:ext cx="510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16-20 недель: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оборудование в наличии, достаточно дефектов и простая интеграция с ПЛК.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7-9 месяцев: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редкий конденсат, задержка закупки или доработка механики.</a:t>
            </a:r>
            <a:endParaRPr lang="en-US" sz="1150" noProof="1"/>
          </a:p>
        </p:txBody>
      </p:sp>
      <p:sp>
        <p:nvSpPr>
          <p:cNvPr id="24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Эксперимент продлевается, пока не набраны ≥300 дефектных и ≥3 000 качественных лотков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При недостатке дефектов сбор продлевается или проводятся контролируемые испытания с технологом.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1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ПРИЁМКА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Работы на линии: 8-9 недель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после испытания на реальной линии
и подтверждения готовности персонала и процесса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ОТ МОНТАЖА ДО РЕШЕНИЯ О ПРОМЫШЛЕННОЙ ЭКСПЛУАТАЦИИ</a:t>
            </a:r>
            <a:endParaRPr lang="en-US" sz="1000" noProof="1"/>
          </a:p>
        </p:txBody>
      </p:sp>
      <p:sp>
        <p:nvSpPr>
          <p:cNvPr id="7" name="step1"/>
          <p:cNvSpPr txBox="1"/>
          <p:nvPr/>
        </p:nvSpPr>
        <p:spPr>
          <a:xfrm>
            <a:off x="6096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 неделя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Монтаж и подготовка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Камера, толкатель и ПЛК; рабочее место готово, сотрудники обучены.</a:t>
            </a:r>
            <a:endParaRPr lang="en-US" sz="1200" noProof="1"/>
          </a:p>
        </p:txBody>
      </p:sp>
      <p:sp>
        <p:nvSpPr>
          <p:cNvPr id="8" name="step2"/>
          <p:cNvSpPr txBox="1"/>
          <p:nvPr/>
        </p:nvSpPr>
        <p:spPr>
          <a:xfrm>
            <a:off x="34290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2 недели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Теневой режим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Модель фиксирует решения, но не управляет толкателем; ручной контроль сохраняется.</a:t>
            </a:r>
            <a:endParaRPr lang="en-US" sz="1200" noProof="1"/>
          </a:p>
        </p:txBody>
      </p:sp>
      <p:sp>
        <p:nvSpPr>
          <p:cNvPr id="9" name="step3"/>
          <p:cNvSpPr txBox="1"/>
          <p:nvPr/>
        </p:nvSpPr>
        <p:spPr>
          <a:xfrm>
            <a:off x="62484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≥4 недель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Сравнительный эксперимент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Неделя - два оператора, неделя - CV; сопоставляются продукция, партии и смены.</a:t>
            </a:r>
            <a:endParaRPr lang="en-US" sz="1200" noProof="1"/>
          </a:p>
        </p:txBody>
      </p:sp>
      <p:sp>
        <p:nvSpPr>
          <p:cNvPr id="10" name="step4"/>
          <p:cNvSpPr txBox="1"/>
          <p:nvPr/>
        </p:nvSpPr>
        <p:spPr>
          <a:xfrm>
            <a:off x="9067800" y="2260600"/>
            <a:ext cx="25146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1-2 недели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Приёмка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Метрики, резервный сценарий, экономический эффект и решение о масштабировании.</a:t>
            </a:r>
            <a:endParaRPr lang="en-US" sz="1200" noProof="1"/>
          </a:p>
        </p:txBody>
      </p:sp>
      <p:sp>
        <p:nvSpPr>
          <p:cNvPr id="11" name="method-note"/>
          <p:cNvSpPr txBox="1"/>
          <p:nvPr/>
        </p:nvSpPr>
        <p:spPr>
          <a:xfrm>
            <a:off x="609600" y="38100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Сравниваются разные, но сопоставимые периоды - не одни и те же лотки. Даты переключения режимов заранее цехам не сообщаются; эталон подтверждает экспертный контроль качества.</a:t>
            </a:r>
            <a:endParaRPr lang="en-US" sz="1100" noProof="1"/>
          </a:p>
        </p:txBody>
      </p:sp>
      <p:sp>
        <p:nvSpPr>
          <p:cNvPr id="12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343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ready-head"/>
          <p:cNvSpPr txBox="1"/>
          <p:nvPr/>
        </p:nvSpPr>
        <p:spPr>
          <a:xfrm>
            <a:off x="609600" y="45720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ГОТОВНОСТЬ К МАСШТАБИРОВАНИЮ</a:t>
            </a:r>
            <a:endParaRPr lang="en-US" sz="1100" noProof="1"/>
          </a:p>
        </p:txBody>
      </p:sp>
      <p:sp>
        <p:nvSpPr>
          <p:cNvPr id="14" name="ready"/>
          <p:cNvSpPr txBox="1"/>
          <p:nvPr/>
        </p:nvSpPr>
        <p:spPr>
          <a:xfrm>
            <a:off x="609600" y="4902200"/>
            <a:ext cx="51435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все критерии раздела 6 и необходимый объём данных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толкатель работает без остановки линии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сотрудники обучены, резервный сценарий проверен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оформлены регламенты эксплуатации и поддержки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при наличии данных подтверждён экономический эффект</a:t>
            </a:r>
            <a:endParaRPr lang="en-US" sz="1150" noProof="1"/>
          </a:p>
        </p:txBody>
      </p:sp>
      <p:sp>
        <p:nvSpPr>
          <p:cNvPr id="15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eyJ2aWV3Qm94IjpbMSwxMTRdLCJwb2ludHMiOiIwLDAgMCwxMTQifQ</pptd:line>
              </p:ext>
            </p:extLst>
          </p:nvPr>
        </p:nvSpPr>
        <p:spPr>
          <a:xfrm>
            <a:off x="6096000" y="4572000"/>
            <a:ext cx="12700" cy="1447800"/>
          </a:xfrm>
          <a:custGeom>
            <a:avLst/>
            <a:gdLst/>
            <a:ahLst/>
            <a:cxnLst/>
            <a:rect l="l" t="t" r="r" b="b"/>
            <a:pathLst>
              <a:path w="1" h="114">
                <a:moveTo>
                  <a:pt x="0" y="0"/>
                </a:moveTo>
                <a:lnTo>
                  <a:pt x="0" y="11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6" name="people-head"/>
          <p:cNvSpPr txBox="1"/>
          <p:nvPr/>
        </p:nvSpPr>
        <p:spPr>
          <a:xfrm>
            <a:off x="6477000" y="45720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ЛЮДИ И ПОДДЕРЖКА ИЗМЕНЕНИЙ</a:t>
            </a:r>
            <a:endParaRPr lang="en-US" sz="1100" noProof="1"/>
          </a:p>
        </p:txBody>
      </p:sp>
      <p:sp>
        <p:nvSpPr>
          <p:cNvPr id="17" name="people"/>
          <p:cNvSpPr txBox="1"/>
          <p:nvPr/>
        </p:nvSpPr>
        <p:spPr>
          <a:xfrm>
            <a:off x="6477000" y="4902200"/>
            <a:ext cx="51054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Обучение за одну смену: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интерфейс, ошибки и действия при сбое.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Амбассадор: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старший оператор или мастер смены помогает коллегам, не меняя модель.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Замечания - еженедельно; данные - для улучшения, не для наказаний.</a:t>
            </a:r>
            <a:endParaRPr lang="en-US" sz="1150" noProof="1"/>
          </a:p>
        </p:txBody>
      </p:sp>
      <p:sp>
        <p:nvSpPr>
          <p:cNvPr id="18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9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Дополнительные датчики температуры оправданы, если после корректировки режима снижаются конденсат, возвраты, списания и потери</a:t>
            </a:r>
            <a:endParaRPr lang="en-US" sz="1100" noProof="1"/>
          </a:p>
        </p:txBody>
      </p:sp>
      <p:sp>
        <p:nvSpPr>
          <p:cNvPr id="20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Плановая промышленная приёмка первой линии - 24-26 недели. Увольнение не является условием проекта.</a:t>
            </a:r>
            <a:endParaRPr lang="en-US" sz="900" noProof="1"/>
          </a:p>
        </p:txBody>
      </p:sp>
      <p:sp>
        <p:nvSpPr>
          <p:cNvPr id="21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3168</Words>
  <Application>Microsoft Office PowerPoint</Application>
  <PresentationFormat>Широкоэкранный</PresentationFormat>
  <Paragraphs>455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Tatsyana Patalitsyna</dc:creator>
  <cp:lastModifiedBy>Tatsyana Patalitsyna</cp:lastModifiedBy>
  <cp:revision>3</cp:revision>
  <dcterms:created xsi:type="dcterms:W3CDTF">2026-10-29T17:46:01Z</dcterms:created>
  <dcterms:modified xsi:type="dcterms:W3CDTF">2026-10-29T18:03:55Z</dcterms:modified>
</cp:coreProperties>
</file>