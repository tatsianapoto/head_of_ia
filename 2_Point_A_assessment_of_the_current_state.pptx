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12192000" cy="6858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БАЗОВЫЕ МЕТРИКИ</a:t>
            </a:r>
            <a:endParaRPr lang="en-US" sz="1000" noProof="1"/>
          </a:p>
        </p:txBody>
      </p:sp>
      <p:sp>
        <p:nvSpPr>
          <p:cNvPr id="3" name="period"/>
          <p:cNvSpPr txBox="1"/>
          <p:nvPr/>
        </p:nvSpPr>
        <p:spPr>
          <a:xfrm>
            <a:off x="8026400" y="304800"/>
            <a:ext cx="355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5000"/>
              </a:lnSpc>
            </a:pPr>
            <a:r>
              <a:rPr lang="en-US" sz="1100" noProof="1">
                <a:solidFill>
                  <a:srgbClr val="657475"/>
                </a:solidFill>
                <a:latin typeface="Arial"/>
                <a:ea typeface="Arial"/>
              </a:rPr>
              <a:t>Единый период • партия • смена • маршрут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До внедрения фиксируем качество, трудозатраты
и потери - эта база определит эффект проекта</a:t>
            </a:r>
            <a:endParaRPr lang="en-US" sz="2800" noProof="1"/>
          </a:p>
        </p:txBody>
      </p:sp>
      <p:sp>
        <p:nvSpPr>
          <p:cNvPr id="5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6" name="stage-head"/>
          <p:cNvSpPr txBox="1"/>
          <p:nvPr/>
        </p:nvSpPr>
        <p:spPr>
          <a:xfrm>
            <a:off x="609600" y="18415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ЭТАП</a:t>
            </a:r>
            <a:endParaRPr lang="en-US" sz="1000" noProof="1"/>
          </a:p>
        </p:txBody>
      </p:sp>
      <p:sp>
        <p:nvSpPr>
          <p:cNvPr id="7" name="metrics-head"/>
          <p:cNvSpPr txBox="1"/>
          <p:nvPr/>
        </p:nvSpPr>
        <p:spPr>
          <a:xfrm>
            <a:off x="3022600" y="18415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ЧТО ИЗМЕРЯЕМ</a:t>
            </a:r>
            <a:endParaRPr lang="en-US" sz="1000" noProof="1"/>
          </a:p>
        </p:txBody>
      </p:sp>
      <p:sp>
        <p:nvSpPr>
          <p:cNvPr id="8" name="evidence-head"/>
          <p:cNvSpPr txBox="1"/>
          <p:nvPr/>
        </p:nvSpPr>
        <p:spPr>
          <a:xfrm>
            <a:off x="8102600" y="1841500"/>
            <a:ext cx="3479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КАК ПОДТВЕРЖДАЕМ</a:t>
            </a:r>
            <a:endParaRPr lang="en-US" sz="1000" noProof="1"/>
          </a:p>
        </p:txBody>
      </p:sp>
      <p:sp>
        <p:nvSpPr>
          <p:cNvPr id="9" name="header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1463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10" name="row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eyJpY29uTmFtZSI6ImZhczp0ZW1wZXJhdHVyZS1sb3cifQ</pptd:icon>
              </p:ext>
            </p:extLst>
          </p:nvPr>
        </p:nvSpPr>
        <p:spPr>
          <a:xfrm>
            <a:off x="609600" y="24257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96"/>
                </a:moveTo>
                <a:cubicBezTo>
                  <a:pt x="96" y="43"/>
                  <a:pt x="139" y="0"/>
                  <a:pt x="192" y="0"/>
                </a:cubicBezTo>
                <a:cubicBezTo>
                  <a:pt x="245" y="0"/>
                  <a:pt x="288" y="43"/>
                  <a:pt x="288" y="96"/>
                </a:cubicBezTo>
                <a:lnTo>
                  <a:pt x="288" y="261"/>
                </a:lnTo>
                <a:cubicBezTo>
                  <a:pt x="318" y="287"/>
                  <a:pt x="336" y="325"/>
                  <a:pt x="336" y="368"/>
                </a:cubicBezTo>
                <a:cubicBezTo>
                  <a:pt x="336" y="448"/>
                  <a:pt x="272" y="512"/>
                  <a:pt x="192" y="512"/>
                </a:cubicBezTo>
                <a:cubicBezTo>
                  <a:pt x="113" y="512"/>
                  <a:pt x="48" y="448"/>
                  <a:pt x="48" y="368"/>
                </a:cubicBezTo>
                <a:cubicBezTo>
                  <a:pt x="48" y="325"/>
                  <a:pt x="67" y="287"/>
                  <a:pt x="96" y="261"/>
                </a:cubicBezTo>
                <a:lnTo>
                  <a:pt x="96" y="96"/>
                </a:lnTo>
                <a:close/>
                <a:moveTo>
                  <a:pt x="192" y="432"/>
                </a:moveTo>
                <a:cubicBezTo>
                  <a:pt x="227" y="432"/>
                  <a:pt x="256" y="403"/>
                  <a:pt x="256" y="368"/>
                </a:cubicBezTo>
                <a:cubicBezTo>
                  <a:pt x="256" y="341"/>
                  <a:pt x="240" y="318"/>
                  <a:pt x="216" y="309"/>
                </a:cubicBez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09"/>
                </a:lnTo>
                <a:cubicBezTo>
                  <a:pt x="145" y="318"/>
                  <a:pt x="128" y="341"/>
                  <a:pt x="128" y="368"/>
                </a:cubicBezTo>
                <a:cubicBezTo>
                  <a:pt x="128" y="403"/>
                  <a:pt x="157" y="432"/>
                  <a:pt x="192" y="432"/>
                </a:cubicBezTo>
                <a:close/>
              </a:path>
              <a:path w="512" h="512">
                <a:moveTo>
                  <a:pt x="352" y="80"/>
                </a:moveTo>
                <a:cubicBezTo>
                  <a:pt x="352" y="36"/>
                  <a:pt x="388" y="0"/>
                  <a:pt x="432" y="0"/>
                </a:cubicBezTo>
                <a:cubicBezTo>
                  <a:pt x="476" y="0"/>
                  <a:pt x="512" y="36"/>
                  <a:pt x="512" y="80"/>
                </a:cubicBezTo>
                <a:cubicBezTo>
                  <a:pt x="512" y="124"/>
                  <a:pt x="476" y="160"/>
                  <a:pt x="432" y="160"/>
                </a:cubicBezTo>
                <a:cubicBezTo>
                  <a:pt x="388" y="160"/>
                  <a:pt x="352" y="124"/>
                  <a:pt x="352" y="80"/>
                </a:cubicBezTo>
                <a:close/>
                <a:moveTo>
                  <a:pt x="464" y="80"/>
                </a:moveTo>
                <a:cubicBezTo>
                  <a:pt x="464" y="62"/>
                  <a:pt x="450" y="48"/>
                  <a:pt x="432" y="48"/>
                </a:cubicBezTo>
                <a:cubicBezTo>
                  <a:pt x="414" y="48"/>
                  <a:pt x="400" y="62"/>
                  <a:pt x="400" y="80"/>
                </a:cubicBezTo>
                <a:cubicBezTo>
                  <a:pt x="400" y="98"/>
                  <a:pt x="414" y="112"/>
                  <a:pt x="432" y="112"/>
                </a:cubicBezTo>
                <a:cubicBezTo>
                  <a:pt x="450" y="112"/>
                  <a:pt x="464" y="98"/>
                  <a:pt x="464" y="80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1" name="row1-stage"/>
          <p:cNvSpPr txBox="1"/>
          <p:nvPr/>
        </p:nvSpPr>
        <p:spPr>
          <a:xfrm>
            <a:off x="1079500" y="23241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охлаждение партий</a:t>
            </a:r>
            <a:endParaRPr lang="en-US" sz="1500" noProof="1"/>
          </a:p>
        </p:txBody>
      </p:sp>
      <p:sp>
        <p:nvSpPr>
          <p:cNvPr id="12" name="row1-metrics"/>
          <p:cNvSpPr txBox="1"/>
          <p:nvPr/>
        </p:nvSpPr>
        <p:spPr>
          <a:xfrm>
            <a:off x="3022600" y="2311400"/>
            <a:ext cx="46355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Температура, время и скорость охлаждения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партий в норме / вне нормы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партий с конденсатом после охлаждения</a:t>
            </a:r>
            <a:endParaRPr lang="en-US" sz="1300" noProof="1"/>
          </a:p>
        </p:txBody>
      </p:sp>
      <p:sp>
        <p:nvSpPr>
          <p:cNvPr id="13" name="row1-evidence"/>
          <p:cNvSpPr txBox="1"/>
          <p:nvPr/>
        </p:nvSpPr>
        <p:spPr>
          <a:xfrm>
            <a:off x="8102600" y="2311400"/>
            <a:ext cx="3479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Норматив технолога, журнал охлаждения и качества.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Тепловизор + контактный термометр для </a:t>
            </a:r>
            <a:r>
              <a:rPr lang="ru-RU" sz="1200" noProof="1">
                <a:solidFill>
                  <a:srgbClr val="657475"/>
                </a:solidFill>
                <a:latin typeface="Arial"/>
                <a:ea typeface="Arial"/>
              </a:rPr>
              <a:t>дополнительной проверки</a:t>
            </a: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 температуры.</a:t>
            </a:r>
            <a:endParaRPr lang="en-US" sz="1200" noProof="1"/>
          </a:p>
        </p:txBody>
      </p:sp>
      <p:sp>
        <p:nvSpPr>
          <p:cNvPr id="14" name="row1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34671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5" name="row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eyJpY29uTmFtZSI6ImZhczpib3gtb3BlbiJ9</pptd:icon>
              </p:ext>
            </p:extLst>
          </p:nvPr>
        </p:nvSpPr>
        <p:spPr>
          <a:xfrm>
            <a:off x="609600" y="37592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560" y="237"/>
                </a:moveTo>
                <a:cubicBezTo>
                  <a:pt x="571" y="249"/>
                  <a:pt x="589" y="252"/>
                  <a:pt x="602" y="243"/>
                </a:cubicBezTo>
                <a:cubicBezTo>
                  <a:pt x="617" y="233"/>
                  <a:pt x="621" y="213"/>
                  <a:pt x="611" y="198"/>
                </a:cubicBezTo>
                <a:lnTo>
                  <a:pt x="563" y="126"/>
                </a:lnTo>
                <a:cubicBezTo>
                  <a:pt x="560" y="122"/>
                  <a:pt x="556" y="119"/>
                  <a:pt x="552" y="116"/>
                </a:cubicBezTo>
                <a:lnTo>
                  <a:pt x="351" y="5"/>
                </a:lnTo>
                <a:cubicBezTo>
                  <a:pt x="332" y="-6"/>
                  <a:pt x="309" y="-6"/>
                  <a:pt x="289" y="5"/>
                </a:cubicBezTo>
                <a:lnTo>
                  <a:pt x="89" y="116"/>
                </a:lnTo>
                <a:cubicBezTo>
                  <a:pt x="83" y="119"/>
                  <a:pt x="79" y="123"/>
                  <a:pt x="76" y="129"/>
                </a:cubicBezTo>
                <a:lnTo>
                  <a:pt x="28" y="219"/>
                </a:lnTo>
                <a:cubicBezTo>
                  <a:pt x="15" y="242"/>
                  <a:pt x="24" y="271"/>
                  <a:pt x="47" y="284"/>
                </a:cubicBezTo>
                <a:lnTo>
                  <a:pt x="80" y="301"/>
                </a:lnTo>
                <a:lnTo>
                  <a:pt x="80" y="355"/>
                </a:lnTo>
                <a:cubicBezTo>
                  <a:pt x="80" y="378"/>
                  <a:pt x="93" y="399"/>
                  <a:pt x="113" y="410"/>
                </a:cubicBezTo>
                <a:lnTo>
                  <a:pt x="289" y="510"/>
                </a:lnTo>
                <a:cubicBezTo>
                  <a:pt x="308" y="521"/>
                  <a:pt x="332" y="521"/>
                  <a:pt x="352" y="510"/>
                </a:cubicBezTo>
                <a:lnTo>
                  <a:pt x="528" y="410"/>
                </a:lnTo>
                <a:cubicBezTo>
                  <a:pt x="548" y="399"/>
                  <a:pt x="560" y="378"/>
                  <a:pt x="560" y="355"/>
                </a:cubicBezTo>
                <a:lnTo>
                  <a:pt x="560" y="237"/>
                </a:lnTo>
                <a:close/>
                <a:moveTo>
                  <a:pt x="320" y="227"/>
                </a:moveTo>
                <a:lnTo>
                  <a:pt x="170" y="144"/>
                </a:lnTo>
                <a:lnTo>
                  <a:pt x="320" y="61"/>
                </a:lnTo>
                <a:lnTo>
                  <a:pt x="470" y="144"/>
                </a:lnTo>
                <a:lnTo>
                  <a:pt x="320" y="227"/>
                </a:lnTo>
                <a:close/>
                <a:moveTo>
                  <a:pt x="279" y="278"/>
                </a:moveTo>
                <a:lnTo>
                  <a:pt x="257" y="324"/>
                </a:lnTo>
                <a:lnTo>
                  <a:pt x="92" y="235"/>
                </a:lnTo>
                <a:lnTo>
                  <a:pt x="117" y="188"/>
                </a:lnTo>
                <a:lnTo>
                  <a:pt x="279" y="278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6" name="row2-stage"/>
          <p:cNvSpPr txBox="1"/>
          <p:nvPr/>
        </p:nvSpPr>
        <p:spPr>
          <a:xfrm>
            <a:off x="1079500" y="36576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линия и контроль</a:t>
            </a:r>
            <a:endParaRPr lang="en-US" sz="1500" noProof="1"/>
          </a:p>
        </p:txBody>
      </p:sp>
      <p:sp>
        <p:nvSpPr>
          <p:cNvPr id="17" name="row2-metrics"/>
          <p:cNvSpPr txBox="1"/>
          <p:nvPr/>
        </p:nvSpPr>
        <p:spPr>
          <a:xfrm>
            <a:off x="3022600" y="3644900"/>
            <a:ext cx="46355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Скорость, выпуск, простои и задержанные лотки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человеко-часы и стоимость ручного контроля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доля пропущенных дефектов: Nпроп / (Nвыявл + Nпроп)</a:t>
            </a:r>
            <a:endParaRPr lang="en-US" sz="1300" noProof="1"/>
          </a:p>
        </p:txBody>
      </p:sp>
      <p:sp>
        <p:nvSpPr>
          <p:cNvPr id="18" name="row2-evidence"/>
          <p:cNvSpPr txBox="1"/>
          <p:nvPr/>
        </p:nvSpPr>
        <p:spPr>
          <a:xfrm>
            <a:off x="8102600" y="3644900"/>
            <a:ext cx="34798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Счётчик линии, журнал простоев, табель и журнал дефектов.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Повторный контроль выборки сразу после ручной проверки.</a:t>
            </a:r>
            <a:endParaRPr lang="en-US" sz="1200" noProof="1"/>
          </a:p>
        </p:txBody>
      </p:sp>
      <p:sp>
        <p:nvSpPr>
          <p:cNvPr id="19" name="row2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8514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0" name="row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09600" y="5130800"/>
            <a:ext cx="317500" cy="3175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1" name="row3-stage"/>
          <p:cNvSpPr txBox="1"/>
          <p:nvPr/>
        </p:nvSpPr>
        <p:spPr>
          <a:xfrm>
            <a:off x="1079500" y="5041900"/>
            <a:ext cx="17780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endParaRPr lang="en-US" sz="1500" noProof="1"/>
          </a:p>
          <a:p>
            <a:pPr>
              <a:lnSpc>
                <a:spcPct val="120000"/>
              </a:lnSpc>
            </a:pPr>
            <a:r>
              <a:rPr lang="en-US" sz="1000" b="1" noProof="1">
                <a:solidFill>
                  <a:srgbClr val="657475"/>
                </a:solidFill>
                <a:latin typeface="Arial"/>
                <a:ea typeface="Arial"/>
              </a:rPr>
              <a:t>рейсы до магазина</a:t>
            </a:r>
            <a:endParaRPr lang="en-US" sz="1500" noProof="1"/>
          </a:p>
        </p:txBody>
      </p:sp>
      <p:sp>
        <p:nvSpPr>
          <p:cNvPr id="22" name="row3-metrics"/>
          <p:cNvSpPr txBox="1"/>
          <p:nvPr/>
        </p:nvSpPr>
        <p:spPr>
          <a:xfrm>
            <a:off x="3022600" y="5029200"/>
            <a:ext cx="46355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6"/>
                </a:solidFill>
                <a:latin typeface="Arial"/>
                <a:ea typeface="Arial"/>
              </a:rPr>
              <a:t>Время доставки и потеря остаточного срока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рейсы с температурой вне нормы</a:t>
            </a:r>
            <a:endParaRPr lang="en-US" sz="1300" noProof="1"/>
          </a:p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172526"/>
                </a:solidFill>
                <a:latin typeface="Arial"/>
                <a:ea typeface="Arial"/>
              </a:rPr>
              <a:t>• возвраты, списания и рекламации</a:t>
            </a:r>
            <a:endParaRPr lang="en-US" sz="1300" noProof="1"/>
          </a:p>
        </p:txBody>
      </p:sp>
      <p:sp>
        <p:nvSpPr>
          <p:cNvPr id="23" name="row3-evidence"/>
          <p:cNvSpPr txBox="1"/>
          <p:nvPr/>
        </p:nvSpPr>
        <p:spPr>
          <a:xfrm>
            <a:off x="8102600" y="5029200"/>
            <a:ext cx="347980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Путевые листы, GPS, терморегистратор, акты и реестр рекламаций.</a:t>
            </a:r>
            <a:endParaRPr lang="en-US" sz="1200" noProof="1"/>
          </a:p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Каждая рекламация связана с партией и рейсом.</a:t>
            </a:r>
            <a:endParaRPr lang="en-US" sz="1200" noProof="1"/>
          </a:p>
        </p:txBody>
      </p:sp>
      <p:sp>
        <p:nvSpPr>
          <p:cNvPr id="24" name="common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5" name="common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Общий принцип долей: N единиц с признаком / N всех проверенных единиц × 100%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6040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Источник: раздел 2 «Оценка текущего состояния - точка А». Замеры - в одинаковых контрольных точках.</a:t>
            </a:r>
            <a:endParaRPr lang="en-US" sz="900" noProof="1"/>
          </a:p>
        </p:txBody>
      </p:sp>
      <p:sp>
        <p:nvSpPr>
          <p:cNvPr id="27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ФИНАНСОВАЯ БАЗА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Общие потери в точке А складываются из четырёх частей. </a:t>
            </a:r>
            <a:r>
              <a:rPr lang="ru-RU" sz="2800" b="1" noProof="1">
                <a:solidFill>
                  <a:srgbClr val="172526"/>
                </a:solidFill>
                <a:latin typeface="Georgia"/>
                <a:ea typeface="Georgia"/>
              </a:rPr>
              <a:t>О</a:t>
            </a: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дну себестоимость учитываем только один раз</a:t>
            </a:r>
            <a:endParaRPr lang="en-US" sz="28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total-label"/>
          <p:cNvSpPr txBox="1"/>
          <p:nvPr/>
        </p:nvSpPr>
        <p:spPr>
          <a:xfrm>
            <a:off x="609600" y="18796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ОБЩИЕ ФИНАНСОВЫЕ ПОТЕРИ ЗА ЕДИНЫЙ ПЕРИОД</a:t>
            </a:r>
            <a:endParaRPr lang="en-US" sz="1000" noProof="1"/>
          </a:p>
        </p:txBody>
      </p:sp>
      <p:sp>
        <p:nvSpPr>
          <p:cNvPr id="6" name="total-formula"/>
          <p:cNvSpPr txBox="1"/>
          <p:nvPr/>
        </p:nvSpPr>
        <p:spPr>
          <a:xfrm>
            <a:off x="609600" y="2209800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2400" b="1" noProof="1">
                <a:solidFill>
                  <a:srgbClr val="083F40"/>
                </a:solidFill>
                <a:latin typeface="Arial"/>
                <a:ea typeface="Arial"/>
              </a:rPr>
              <a:t>C общие = C контроля + C простоя + C списаний + C возвратов</a:t>
            </a:r>
            <a:endParaRPr lang="en-US" sz="2400" noProof="1"/>
          </a:p>
        </p:txBody>
      </p:sp>
      <p:sp>
        <p:nvSpPr>
          <p:cNvPr id="7" name="total-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28448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25400" cap="rnd">
            <a:solidFill>
              <a:srgbClr val="083F40"/>
            </a:solidFill>
            <a:round/>
          </a:ln>
        </p:spPr>
      </p:sp>
      <p:sp>
        <p:nvSpPr>
          <p:cNvPr id="8" name="item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609600" y="3162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9" name="item1-title"/>
          <p:cNvSpPr txBox="1"/>
          <p:nvPr/>
        </p:nvSpPr>
        <p:spPr>
          <a:xfrm>
            <a:off x="1104900" y="30861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01  Ручной контроль</a:t>
            </a:r>
            <a:endParaRPr lang="en-US" sz="1800" noProof="1"/>
          </a:p>
        </p:txBody>
      </p:sp>
      <p:sp>
        <p:nvSpPr>
          <p:cNvPr id="10" name="item1-formula"/>
          <p:cNvSpPr txBox="1"/>
          <p:nvPr/>
        </p:nvSpPr>
        <p:spPr>
          <a:xfrm>
            <a:off x="1104900" y="34925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человеко-часы × стоимость часа</a:t>
            </a:r>
            <a:endParaRPr lang="en-US" sz="1400" noProof="1"/>
          </a:p>
        </p:txBody>
      </p:sp>
      <p:sp>
        <p:nvSpPr>
          <p:cNvPr id="11" name="item1-note"/>
          <p:cNvSpPr txBox="1"/>
          <p:nvPr/>
        </p:nvSpPr>
        <p:spPr>
          <a:xfrm>
            <a:off x="1104900" y="3873500"/>
            <a:ext cx="4445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Операторы × время контроля; дополнительно - трудозатраты на один проверенный лоток.</a:t>
            </a:r>
            <a:endParaRPr lang="en-US" sz="1200" noProof="1"/>
          </a:p>
        </p:txBody>
      </p:sp>
      <p:sp>
        <p:nvSpPr>
          <p:cNvPr id="12" name="item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eyJpY29uTmFtZSI6ImZhczpwYXVzZSJ9</pptd:icon>
              </p:ext>
            </p:extLst>
          </p:nvPr>
        </p:nvSpPr>
        <p:spPr>
          <a:xfrm>
            <a:off x="6642100" y="31623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48" y="32"/>
                </a:moveTo>
                <a:cubicBezTo>
                  <a:pt x="22" y="32"/>
                  <a:pt x="0" y="54"/>
                  <a:pt x="0" y="80"/>
                </a:cubicBezTo>
                <a:lnTo>
                  <a:pt x="0" y="432"/>
                </a:lnTo>
                <a:cubicBezTo>
                  <a:pt x="0" y="459"/>
                  <a:pt x="22" y="480"/>
                  <a:pt x="48" y="480"/>
                </a:cubicBezTo>
                <a:lnTo>
                  <a:pt x="112" y="480"/>
                </a:lnTo>
                <a:cubicBezTo>
                  <a:pt x="139" y="480"/>
                  <a:pt x="160" y="459"/>
                  <a:pt x="160" y="432"/>
                </a:cubicBezTo>
                <a:lnTo>
                  <a:pt x="160" y="80"/>
                </a:lnTo>
                <a:cubicBezTo>
                  <a:pt x="160" y="54"/>
                  <a:pt x="139" y="32"/>
                  <a:pt x="112" y="32"/>
                </a:cubicBezTo>
                <a:lnTo>
                  <a:pt x="48" y="32"/>
                </a:lnTo>
                <a:close/>
                <a:moveTo>
                  <a:pt x="272" y="32"/>
                </a:moveTo>
                <a:cubicBezTo>
                  <a:pt x="246" y="32"/>
                  <a:pt x="224" y="54"/>
                  <a:pt x="224" y="80"/>
                </a:cubicBezTo>
                <a:lnTo>
                  <a:pt x="224" y="432"/>
                </a:lnTo>
                <a:cubicBezTo>
                  <a:pt x="224" y="459"/>
                  <a:pt x="246" y="480"/>
                  <a:pt x="272" y="480"/>
                </a:cubicBezTo>
                <a:lnTo>
                  <a:pt x="336" y="480"/>
                </a:lnTo>
                <a:cubicBezTo>
                  <a:pt x="363" y="480"/>
                  <a:pt x="384" y="459"/>
                  <a:pt x="384" y="432"/>
                </a:cubicBezTo>
                <a:lnTo>
                  <a:pt x="384" y="80"/>
                </a:lnTo>
                <a:cubicBezTo>
                  <a:pt x="384" y="54"/>
                  <a:pt x="363" y="32"/>
                  <a:pt x="336" y="32"/>
                </a:cubicBezTo>
                <a:lnTo>
                  <a:pt x="272" y="32"/>
                </a:ln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3" name="item2-title"/>
          <p:cNvSpPr txBox="1"/>
          <p:nvPr/>
        </p:nvSpPr>
        <p:spPr>
          <a:xfrm>
            <a:off x="7137400" y="30861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02  Простои линии</a:t>
            </a:r>
            <a:endParaRPr lang="en-US" sz="1800" noProof="1"/>
          </a:p>
        </p:txBody>
      </p:sp>
      <p:sp>
        <p:nvSpPr>
          <p:cNvPr id="14" name="item2-formula"/>
          <p:cNvSpPr txBox="1"/>
          <p:nvPr/>
        </p:nvSpPr>
        <p:spPr>
          <a:xfrm>
            <a:off x="7137400" y="34925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минуты остановок × стоимость минуты</a:t>
            </a:r>
            <a:endParaRPr lang="en-US" sz="1400" noProof="1"/>
          </a:p>
        </p:txBody>
      </p:sp>
      <p:sp>
        <p:nvSpPr>
          <p:cNvPr id="15" name="item2-note"/>
          <p:cNvSpPr txBox="1"/>
          <p:nvPr/>
        </p:nvSpPr>
        <p:spPr>
          <a:xfrm>
            <a:off x="7137400" y="3873500"/>
            <a:ext cx="4445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Отдельно фиксируем долю простоя и количество лотков, выпуск которых задержан.</a:t>
            </a:r>
            <a:endParaRPr lang="en-US" sz="1200" noProof="1"/>
          </a:p>
        </p:txBody>
      </p:sp>
      <p:sp>
        <p:nvSpPr>
          <p:cNvPr id="16" name="mid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eyJ2aWV3Qm94IjpbMSwxMDVdLCJwb2ludHMiOiIwLDAgMCwxMDUifQ</pptd:line>
              </p:ext>
            </p:extLst>
          </p:nvPr>
        </p:nvSpPr>
        <p:spPr>
          <a:xfrm>
            <a:off x="6032500" y="3111500"/>
            <a:ext cx="12700" cy="1333500"/>
          </a:xfrm>
          <a:custGeom>
            <a:avLst/>
            <a:gdLst/>
            <a:ahLst/>
            <a:cxnLst/>
            <a:rect l="l" t="t" r="r" b="b"/>
            <a:pathLst>
              <a:path w="1" h="105">
                <a:moveTo>
                  <a:pt x="0" y="0"/>
                </a:moveTo>
                <a:lnTo>
                  <a:pt x="0" y="105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7" name="row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eyJ2aWV3Qm94IjpbODY0LDFdLCJwb2ludHMiOiIwLDAgODY0LDAifQ</pptd:line>
              </p:ext>
            </p:extLst>
          </p:nvPr>
        </p:nvSpPr>
        <p:spPr>
          <a:xfrm>
            <a:off x="609600" y="4610100"/>
            <a:ext cx="10972800" cy="12700"/>
          </a:xfrm>
          <a:custGeom>
            <a:avLst/>
            <a:gdLst/>
            <a:ahLst/>
            <a:cxnLst/>
            <a:rect l="l" t="t" r="r" b="b"/>
            <a:pathLst>
              <a:path w="864" h="1">
                <a:moveTo>
                  <a:pt x="0" y="0"/>
                </a:moveTo>
                <a:lnTo>
                  <a:pt x="864" y="0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18" name="item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eyJpY29uTmFtZSI6ImZhczp0cmFzaC1jYW4ifQ</pptd:icon>
              </p:ext>
            </p:extLst>
          </p:nvPr>
        </p:nvSpPr>
        <p:spPr>
          <a:xfrm>
            <a:off x="609600" y="49022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37" y="6"/>
                </a:moveTo>
                <a:cubicBezTo>
                  <a:pt x="141" y="-7"/>
                  <a:pt x="153" y="-16"/>
                  <a:pt x="167" y="-16"/>
                </a:cubicBezTo>
                <a:lnTo>
                  <a:pt x="281" y="-16"/>
                </a:lnTo>
                <a:cubicBezTo>
                  <a:pt x="295" y="-16"/>
                  <a:pt x="307" y="-7"/>
                  <a:pt x="311" y="6"/>
                </a:cubicBezTo>
                <a:lnTo>
                  <a:pt x="320" y="32"/>
                </a:lnTo>
                <a:lnTo>
                  <a:pt x="416" y="32"/>
                </a:lnTo>
                <a:cubicBezTo>
                  <a:pt x="434" y="32"/>
                  <a:pt x="448" y="46"/>
                  <a:pt x="448" y="64"/>
                </a:cubicBezTo>
                <a:cubicBezTo>
                  <a:pt x="448" y="82"/>
                  <a:pt x="434" y="96"/>
                  <a:pt x="416" y="96"/>
                </a:cubicBezTo>
                <a:lnTo>
                  <a:pt x="32" y="96"/>
                </a:lnTo>
                <a:cubicBezTo>
                  <a:pt x="14" y="96"/>
                  <a:pt x="0" y="82"/>
                  <a:pt x="0" y="64"/>
                </a:cubicBezTo>
                <a:cubicBezTo>
                  <a:pt x="0" y="46"/>
                  <a:pt x="14" y="32"/>
                  <a:pt x="32" y="32"/>
                </a:cubicBezTo>
                <a:lnTo>
                  <a:pt x="128" y="32"/>
                </a:lnTo>
                <a:lnTo>
                  <a:pt x="137" y="6"/>
                </a:lnTo>
                <a:close/>
              </a:path>
              <a:path w="448" h="512">
                <a:moveTo>
                  <a:pt x="32" y="144"/>
                </a:moveTo>
                <a:lnTo>
                  <a:pt x="416" y="144"/>
                </a:lnTo>
                <a:lnTo>
                  <a:pt x="416" y="448"/>
                </a:lnTo>
                <a:cubicBezTo>
                  <a:pt x="416" y="483"/>
                  <a:pt x="387" y="512"/>
                  <a:pt x="352" y="512"/>
                </a:cubicBezTo>
                <a:lnTo>
                  <a:pt x="96" y="512"/>
                </a:lnTo>
                <a:cubicBezTo>
                  <a:pt x="61" y="512"/>
                  <a:pt x="32" y="483"/>
                  <a:pt x="32" y="448"/>
                </a:cubicBezTo>
                <a:lnTo>
                  <a:pt x="32" y="144"/>
                </a:lnTo>
                <a:close/>
                <a:moveTo>
                  <a:pt x="120" y="208"/>
                </a:moveTo>
                <a:cubicBezTo>
                  <a:pt x="107" y="208"/>
                  <a:pt x="96" y="219"/>
                  <a:pt x="96" y="232"/>
                </a:cubicBezTo>
                <a:lnTo>
                  <a:pt x="96" y="424"/>
                </a:lnTo>
                <a:cubicBezTo>
                  <a:pt x="96" y="437"/>
                  <a:pt x="107" y="448"/>
                  <a:pt x="120" y="448"/>
                </a:cubicBezTo>
                <a:cubicBezTo>
                  <a:pt x="133" y="448"/>
                  <a:pt x="144" y="437"/>
                  <a:pt x="144" y="424"/>
                </a:cubicBezTo>
                <a:lnTo>
                  <a:pt x="144" y="232"/>
                </a:lnTo>
                <a:cubicBezTo>
                  <a:pt x="144" y="219"/>
                  <a:pt x="133" y="208"/>
                  <a:pt x="120" y="208"/>
                </a:cubicBezTo>
                <a:close/>
                <a:moveTo>
                  <a:pt x="224" y="208"/>
                </a:moveTo>
                <a:cubicBezTo>
                  <a:pt x="211" y="208"/>
                  <a:pt x="200" y="219"/>
                  <a:pt x="200" y="232"/>
                </a:cubicBezTo>
                <a:lnTo>
                  <a:pt x="200" y="424"/>
                </a:lnTo>
                <a:cubicBezTo>
                  <a:pt x="200" y="437"/>
                  <a:pt x="211" y="448"/>
                  <a:pt x="224" y="448"/>
                </a:cubicBezTo>
                <a:cubicBezTo>
                  <a:pt x="237" y="448"/>
                  <a:pt x="248" y="437"/>
                  <a:pt x="248" y="424"/>
                </a:cubicBezTo>
                <a:lnTo>
                  <a:pt x="248" y="232"/>
                </a:lnTo>
                <a:cubicBezTo>
                  <a:pt x="248" y="219"/>
                  <a:pt x="237" y="208"/>
                  <a:pt x="224" y="208"/>
                </a:cubicBezTo>
                <a:close/>
                <a:moveTo>
                  <a:pt x="328" y="208"/>
                </a:moveTo>
                <a:cubicBezTo>
                  <a:pt x="315" y="208"/>
                  <a:pt x="304" y="219"/>
                  <a:pt x="304" y="232"/>
                </a:cubicBezTo>
                <a:lnTo>
                  <a:pt x="304" y="424"/>
                </a:lnTo>
                <a:cubicBezTo>
                  <a:pt x="304" y="437"/>
                  <a:pt x="315" y="448"/>
                  <a:pt x="328" y="448"/>
                </a:cubicBezTo>
                <a:cubicBezTo>
                  <a:pt x="341" y="448"/>
                  <a:pt x="352" y="437"/>
                  <a:pt x="352" y="424"/>
                </a:cubicBezTo>
                <a:lnTo>
                  <a:pt x="352" y="232"/>
                </a:lnTo>
                <a:cubicBezTo>
                  <a:pt x="352" y="219"/>
                  <a:pt x="341" y="208"/>
                  <a:pt x="328" y="208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19" name="item3-title"/>
          <p:cNvSpPr txBox="1"/>
          <p:nvPr/>
        </p:nvSpPr>
        <p:spPr>
          <a:xfrm>
            <a:off x="1104900" y="48260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03  Списания</a:t>
            </a:r>
            <a:endParaRPr lang="en-US" sz="1800" noProof="1"/>
          </a:p>
        </p:txBody>
      </p:sp>
      <p:sp>
        <p:nvSpPr>
          <p:cNvPr id="20" name="item3-formula"/>
          <p:cNvSpPr txBox="1"/>
          <p:nvPr/>
        </p:nvSpPr>
        <p:spPr>
          <a:xfrm>
            <a:off x="1104900" y="5232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списанные лотки × себестоимость + утилизация</a:t>
            </a:r>
            <a:endParaRPr lang="en-US" sz="1400" noProof="1"/>
          </a:p>
        </p:txBody>
      </p:sp>
      <p:sp>
        <p:nvSpPr>
          <p:cNvPr id="21" name="item3-note"/>
          <p:cNvSpPr txBox="1"/>
          <p:nvPr/>
        </p:nvSpPr>
        <p:spPr>
          <a:xfrm>
            <a:off x="1104900" y="5613400"/>
            <a:ext cx="444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Количество и причина подтверждаются актом списания.</a:t>
            </a:r>
            <a:endParaRPr lang="en-US" sz="1200" noProof="1"/>
          </a:p>
        </p:txBody>
      </p:sp>
      <p:sp>
        <p:nvSpPr>
          <p:cNvPr id="22" name="item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eyJpY29uTmFtZSI6ImZhczpyb3RhdGUtbGVmdCJ9</pptd:icon>
              </p:ext>
            </p:extLst>
          </p:nvPr>
        </p:nvSpPr>
        <p:spPr>
          <a:xfrm>
            <a:off x="6642100" y="490220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4" y="192"/>
                </a:moveTo>
                <a:lnTo>
                  <a:pt x="168" y="192"/>
                </a:lnTo>
                <a:cubicBezTo>
                  <a:pt x="178" y="192"/>
                  <a:pt x="187" y="186"/>
                  <a:pt x="190" y="177"/>
                </a:cubicBezTo>
                <a:cubicBezTo>
                  <a:pt x="194" y="168"/>
                  <a:pt x="192" y="158"/>
                  <a:pt x="185" y="151"/>
                </a:cubicBezTo>
                <a:lnTo>
                  <a:pt x="138" y="104"/>
                </a:lnTo>
                <a:cubicBezTo>
                  <a:pt x="214" y="46"/>
                  <a:pt x="323" y="51"/>
                  <a:pt x="392" y="120"/>
                </a:cubicBezTo>
                <a:cubicBezTo>
                  <a:pt x="467" y="195"/>
                  <a:pt x="467" y="317"/>
                  <a:pt x="392" y="392"/>
                </a:cubicBezTo>
                <a:cubicBezTo>
                  <a:pt x="317" y="467"/>
                  <a:pt x="195" y="467"/>
                  <a:pt x="120" y="392"/>
                </a:cubicBezTo>
                <a:cubicBezTo>
                  <a:pt x="110" y="382"/>
                  <a:pt x="101" y="370"/>
                  <a:pt x="94" y="359"/>
                </a:cubicBezTo>
                <a:cubicBezTo>
                  <a:pt x="84" y="344"/>
                  <a:pt x="65" y="339"/>
                  <a:pt x="50" y="349"/>
                </a:cubicBezTo>
                <a:cubicBezTo>
                  <a:pt x="35" y="358"/>
                  <a:pt x="30" y="378"/>
                  <a:pt x="40" y="393"/>
                </a:cubicBezTo>
                <a:cubicBezTo>
                  <a:pt x="50" y="409"/>
                  <a:pt x="61" y="424"/>
                  <a:pt x="75" y="437"/>
                </a:cubicBezTo>
                <a:cubicBezTo>
                  <a:pt x="175" y="537"/>
                  <a:pt x="337" y="537"/>
                  <a:pt x="437" y="437"/>
                </a:cubicBezTo>
                <a:cubicBezTo>
                  <a:pt x="537" y="337"/>
                  <a:pt x="537" y="175"/>
                  <a:pt x="437" y="75"/>
                </a:cubicBezTo>
                <a:cubicBezTo>
                  <a:pt x="343" y="-19"/>
                  <a:pt x="193" y="-25"/>
                  <a:pt x="93" y="59"/>
                </a:cubicBezTo>
                <a:lnTo>
                  <a:pt x="41" y="7"/>
                </a:lnTo>
                <a:cubicBezTo>
                  <a:pt x="34" y="0"/>
                  <a:pt x="24" y="-2"/>
                  <a:pt x="15" y="2"/>
                </a:cubicBezTo>
                <a:cubicBezTo>
                  <a:pt x="6" y="6"/>
                  <a:pt x="0" y="14"/>
                  <a:pt x="0" y="24"/>
                </a:cubicBezTo>
                <a:lnTo>
                  <a:pt x="0" y="168"/>
                </a:lnTo>
                <a:cubicBezTo>
                  <a:pt x="0" y="181"/>
                  <a:pt x="11" y="192"/>
                  <a:pt x="24" y="192"/>
                </a:cubicBezTo>
                <a:close/>
              </a:path>
            </a:pathLst>
          </a:custGeom>
          <a:solidFill>
            <a:srgbClr val="0B5D5E"/>
          </a:solidFill>
          <a:ln>
            <a:noFill/>
          </a:ln>
        </p:spPr>
      </p:sp>
      <p:sp>
        <p:nvSpPr>
          <p:cNvPr id="23" name="item4-title"/>
          <p:cNvSpPr txBox="1"/>
          <p:nvPr/>
        </p:nvSpPr>
        <p:spPr>
          <a:xfrm>
            <a:off x="7137400" y="4826000"/>
            <a:ext cx="4445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6"/>
                </a:solidFill>
                <a:latin typeface="Arial"/>
                <a:ea typeface="Arial"/>
              </a:rPr>
              <a:t>04  Возвраты</a:t>
            </a:r>
            <a:endParaRPr lang="en-US" sz="1800" noProof="1"/>
          </a:p>
        </p:txBody>
      </p:sp>
      <p:sp>
        <p:nvSpPr>
          <p:cNvPr id="24" name="item4-formula"/>
          <p:cNvSpPr txBox="1"/>
          <p:nvPr/>
        </p:nvSpPr>
        <p:spPr>
          <a:xfrm>
            <a:off x="7137400" y="5232400"/>
            <a:ext cx="4445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083F40"/>
                </a:solidFill>
                <a:latin typeface="Arial"/>
                <a:ea typeface="Arial"/>
              </a:rPr>
              <a:t>продукция + обратная логистика + утилизация</a:t>
            </a:r>
            <a:endParaRPr lang="en-US" sz="1400" noProof="1"/>
          </a:p>
        </p:txBody>
      </p:sp>
      <p:sp>
        <p:nvSpPr>
          <p:cNvPr id="25" name="item4-note"/>
          <p:cNvSpPr txBox="1"/>
          <p:nvPr/>
        </p:nvSpPr>
        <p:spPr>
          <a:xfrm>
            <a:off x="7137400" y="5613400"/>
            <a:ext cx="4445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Причина возврата подтверждается контролем качества и связывается с партией и рейсом.</a:t>
            </a:r>
            <a:endParaRPr lang="en-US" sz="1200" noProof="1"/>
          </a:p>
        </p:txBody>
      </p:sp>
      <p:sp>
        <p:nvSpPr>
          <p:cNvPr id="26" name="lower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eyJ2aWV3Qm94IjpbMSw5NF0sInBvaW50cyI6IjAsMCAwLDk0In0</pptd:line>
              </p:ext>
            </p:extLst>
          </p:nvPr>
        </p:nvSpPr>
        <p:spPr>
          <a:xfrm>
            <a:off x="6032500" y="4851400"/>
            <a:ext cx="12700" cy="1193800"/>
          </a:xfrm>
          <a:custGeom>
            <a:avLst/>
            <a:gdLst/>
            <a:ahLst/>
            <a:cxnLst/>
            <a:rect l="l" t="t" r="r" b="b"/>
            <a:pathLst>
              <a:path w="1" h="94">
                <a:moveTo>
                  <a:pt x="0" y="0"/>
                </a:moveTo>
                <a:lnTo>
                  <a:pt x="0" y="94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7" name="warning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28" name="warning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083F40"/>
                </a:solidFill>
                <a:latin typeface="Arial"/>
                <a:ea typeface="Arial"/>
              </a:rPr>
              <a:t>Контроль двойного счёта: себестоимость одной продукции не учитываем одновременно в списаниях и возвратах</a:t>
            </a:r>
            <a:endParaRPr lang="en-US" sz="1100" noProof="1"/>
          </a:p>
        </p:txBody>
      </p:sp>
      <p:sp>
        <p:nvSpPr>
          <p:cNvPr id="29" name="source"/>
          <p:cNvSpPr txBox="1"/>
          <p:nvPr/>
        </p:nvSpPr>
        <p:spPr>
          <a:xfrm>
            <a:off x="609600" y="66040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Все статьи рассчитываются за один период и связываются по партиям, сменам и маршрутам.</a:t>
            </a:r>
            <a:endParaRPr lang="en-US" sz="900" noProof="1"/>
          </a:p>
        </p:txBody>
      </p:sp>
      <p:sp>
        <p:nvSpPr>
          <p:cNvPr id="30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5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048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40" noProof="1">
                <a:solidFill>
                  <a:srgbClr val="0B5D5E"/>
                </a:solidFill>
                <a:latin typeface="Arial"/>
                <a:ea typeface="Arial"/>
              </a:rPr>
              <a:t>ЧАСТЬ 2 • ТОЧКА А • ОТВЕТСТВЕННОСТЬ И УТВЕРЖДЕНИЕ</a:t>
            </a:r>
            <a:endParaRPr lang="en-US" sz="10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22300"/>
            <a:ext cx="10795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2000"/>
              </a:lnSpc>
            </a:pPr>
            <a:r>
              <a:rPr lang="en-US" sz="2800" b="1" noProof="1">
                <a:solidFill>
                  <a:srgbClr val="172526"/>
                </a:solidFill>
                <a:latin typeface="Georgia"/>
                <a:ea typeface="Georgia"/>
              </a:rPr>
              <a:t>Издержки относим на первый подтверждённый этап;
нераспределённые не делим до завершения проверки</a:t>
            </a:r>
            <a:endParaRPr lang="en-US" sz="28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574800"/>
            <a:ext cx="914400" cy="508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5" name="flow-head"/>
          <p:cNvSpPr txBox="1"/>
          <p:nvPr/>
        </p:nvSpPr>
        <p:spPr>
          <a:xfrm>
            <a:off x="609600" y="1841500"/>
            <a:ext cx="1097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ТРИ КОНТРОЛЬНЫЕ ТОЧКИ ПО КАЖДОЙ ПАРТИИ</a:t>
            </a:r>
            <a:endParaRPr lang="en-US" sz="1000" noProof="1"/>
          </a:p>
        </p:txBody>
      </p:sp>
      <p:sp>
        <p:nvSpPr>
          <p:cNvPr id="6" name="point1-num"/>
          <p:cNvSpPr txBox="1"/>
          <p:nvPr/>
        </p:nvSpPr>
        <p:spPr>
          <a:xfrm>
            <a:off x="6096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01</a:t>
            </a:r>
            <a:endParaRPr lang="en-US" sz="2200" noProof="1"/>
          </a:p>
        </p:txBody>
      </p:sp>
      <p:sp>
        <p:nvSpPr>
          <p:cNvPr id="7" name="point1-title"/>
          <p:cNvSpPr txBox="1"/>
          <p:nvPr/>
        </p:nvSpPr>
        <p:spPr>
          <a:xfrm>
            <a:off x="1117600" y="2209800"/>
            <a:ext cx="2667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После охлаждения</a:t>
            </a:r>
            <a:endParaRPr lang="en-US" sz="1500" noProof="1"/>
          </a:p>
        </p:txBody>
      </p:sp>
      <p:sp>
        <p:nvSpPr>
          <p:cNvPr id="8" name="point1-note"/>
          <p:cNvSpPr txBox="1"/>
          <p:nvPr/>
        </p:nvSpPr>
        <p:spPr>
          <a:xfrm>
            <a:off x="1117600" y="2565400"/>
            <a:ext cx="26670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Норма температуры и времени; отсутствие конденсата.</a:t>
            </a:r>
            <a:endParaRPr lang="en-US" sz="1200" noProof="1"/>
          </a:p>
        </p:txBody>
      </p:sp>
      <p:sp>
        <p:nvSpPr>
          <p:cNvPr id="9" name="arrow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eyJ2aWV3Qm94IjpbNDcsMV0sInBvaW50cyI6IjAsMCA0NywwIn0</pptd:line>
              </p:ext>
            </p:extLst>
          </p:nvPr>
        </p:nvSpPr>
        <p:spPr>
          <a:xfrm>
            <a:off x="3886200" y="2628900"/>
            <a:ext cx="596900" cy="12700"/>
          </a:xfrm>
          <a:custGeom>
            <a:avLst/>
            <a:gdLst/>
            <a:ahLst/>
            <a:cxnLst/>
            <a:rect l="l" t="t" r="r" b="b"/>
            <a:pathLst>
              <a:path w="47" h="1">
                <a:moveTo>
                  <a:pt x="0" y="0"/>
                </a:moveTo>
                <a:lnTo>
                  <a:pt x="47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0" name="point2-num"/>
          <p:cNvSpPr txBox="1"/>
          <p:nvPr/>
        </p:nvSpPr>
        <p:spPr>
          <a:xfrm>
            <a:off x="46355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02</a:t>
            </a:r>
            <a:endParaRPr lang="en-US" sz="2200" noProof="1"/>
          </a:p>
        </p:txBody>
      </p:sp>
      <p:sp>
        <p:nvSpPr>
          <p:cNvPr id="11" name="point2-title"/>
          <p:cNvSpPr txBox="1"/>
          <p:nvPr/>
        </p:nvSpPr>
        <p:spPr>
          <a:xfrm>
            <a:off x="5143500" y="2209800"/>
            <a:ext cx="26035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После упаковки</a:t>
            </a:r>
            <a:endParaRPr lang="en-US" sz="1500" noProof="1"/>
          </a:p>
        </p:txBody>
      </p:sp>
      <p:sp>
        <p:nvSpPr>
          <p:cNvPr id="12" name="point2-note"/>
          <p:cNvSpPr txBox="1"/>
          <p:nvPr/>
        </p:nvSpPr>
        <p:spPr>
          <a:xfrm>
            <a:off x="5143500" y="2565400"/>
            <a:ext cx="26035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До отгрузки: отсутствие конденсата на крышке.</a:t>
            </a:r>
            <a:endParaRPr lang="en-US" sz="1200" noProof="1"/>
          </a:p>
        </p:txBody>
      </p:sp>
      <p:sp>
        <p:nvSpPr>
          <p:cNvPr id="13" name="arrow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eyJ2aWV3Qm94IjpbNDcsMV0sInBvaW50cyI6IjAsMCA0NywwIn0</pptd:line>
              </p:ext>
            </p:extLst>
          </p:nvPr>
        </p:nvSpPr>
        <p:spPr>
          <a:xfrm>
            <a:off x="7861300" y="2628900"/>
            <a:ext cx="596900" cy="12700"/>
          </a:xfrm>
          <a:custGeom>
            <a:avLst/>
            <a:gdLst/>
            <a:ahLst/>
            <a:cxnLst/>
            <a:rect l="l" t="t" r="r" b="b"/>
            <a:pathLst>
              <a:path w="47" h="1">
                <a:moveTo>
                  <a:pt x="0" y="0"/>
                </a:moveTo>
                <a:lnTo>
                  <a:pt x="47" y="0"/>
                </a:lnTo>
              </a:path>
            </a:pathLst>
          </a:custGeom>
          <a:noFill/>
          <a:ln w="25400" cap="rnd">
            <a:solidFill>
              <a:srgbClr val="8BBDB9"/>
            </a:solidFill>
            <a:round/>
            <a:tailEnd type="stealth"/>
          </a:ln>
        </p:spPr>
      </p:sp>
      <p:sp>
        <p:nvSpPr>
          <p:cNvPr id="14" name="point3-num"/>
          <p:cNvSpPr txBox="1"/>
          <p:nvPr/>
        </p:nvSpPr>
        <p:spPr>
          <a:xfrm>
            <a:off x="8610600" y="2247900"/>
            <a:ext cx="381000" cy="31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0B5D5E"/>
                </a:solidFill>
                <a:latin typeface="Arial"/>
                <a:ea typeface="Arial"/>
              </a:rPr>
              <a:t>03</a:t>
            </a:r>
            <a:endParaRPr lang="en-US" sz="2200" noProof="1"/>
          </a:p>
        </p:txBody>
      </p:sp>
      <p:sp>
        <p:nvSpPr>
          <p:cNvPr id="15" name="point3-title"/>
          <p:cNvSpPr txBox="1"/>
          <p:nvPr/>
        </p:nvSpPr>
        <p:spPr>
          <a:xfrm>
            <a:off x="9118600" y="2209800"/>
            <a:ext cx="2463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6"/>
                </a:solidFill>
                <a:latin typeface="Arial"/>
                <a:ea typeface="Arial"/>
              </a:rPr>
              <a:t>Передача магазину</a:t>
            </a:r>
            <a:endParaRPr lang="en-US" sz="1500" noProof="1"/>
          </a:p>
        </p:txBody>
      </p:sp>
      <p:sp>
        <p:nvSpPr>
          <p:cNvPr id="16" name="point3-note"/>
          <p:cNvSpPr txBox="1"/>
          <p:nvPr/>
        </p:nvSpPr>
        <p:spPr>
          <a:xfrm>
            <a:off x="9118600" y="2565400"/>
            <a:ext cx="2463800" cy="622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200" noProof="1">
                <a:solidFill>
                  <a:srgbClr val="657475"/>
                </a:solidFill>
                <a:latin typeface="Arial"/>
                <a:ea typeface="Arial"/>
              </a:rPr>
              <a:t>Конденсат, температура и сроки доставки.</a:t>
            </a:r>
            <a:endParaRPr lang="en-US" sz="1200" noProof="1"/>
          </a:p>
        </p:txBody>
      </p:sp>
      <p:sp>
        <p:nvSpPr>
          <p:cNvPr id="17" name="rule-bg"/>
          <p:cNvSpPr/>
          <p:nvPr/>
        </p:nvSpPr>
        <p:spPr>
          <a:xfrm>
            <a:off x="609600" y="3390900"/>
            <a:ext cx="10972800" cy="508000"/>
          </a:xfrm>
          <a:prstGeom prst="rect">
            <a:avLst/>
          </a:prstGeom>
          <a:solidFill>
            <a:srgbClr val="E7F2F1"/>
          </a:solidFill>
          <a:ln>
            <a:noFill/>
          </a:ln>
        </p:spPr>
      </p:sp>
      <p:sp>
        <p:nvSpPr>
          <p:cNvPr id="18" name="rule-bar"/>
          <p:cNvSpPr/>
          <p:nvPr/>
        </p:nvSpPr>
        <p:spPr>
          <a:xfrm>
            <a:off x="609600" y="3390900"/>
            <a:ext cx="63500" cy="5080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19" name="rule"/>
          <p:cNvSpPr txBox="1"/>
          <p:nvPr/>
        </p:nvSpPr>
        <p:spPr>
          <a:xfrm>
            <a:off x="850900" y="3479800"/>
            <a:ext cx="1054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Правило: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раннее отклонение останавливает передачу партии; последующая «норма» возможна только после устранения и повторного контроля.</a:t>
            </a:r>
            <a:endParaRPr lang="en-US" sz="1200" noProof="1"/>
          </a:p>
        </p:txBody>
      </p:sp>
      <p:sp>
        <p:nvSpPr>
          <p:cNvPr id="20" name="scenarios-head"/>
          <p:cNvSpPr txBox="1"/>
          <p:nvPr/>
        </p:nvSpPr>
        <p:spPr>
          <a:xfrm>
            <a:off x="609600" y="41529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КУДА ОТНОСИМ ИЗДЕРЖКИ</a:t>
            </a:r>
            <a:endParaRPr lang="en-US" sz="1000" noProof="1"/>
          </a:p>
        </p:txBody>
      </p:sp>
      <p:sp>
        <p:nvSpPr>
          <p:cNvPr id="21" name="scenarios"/>
          <p:cNvSpPr txBox="1"/>
          <p:nvPr/>
        </p:nvSpPr>
        <p:spPr>
          <a:xfrm>
            <a:off x="609600" y="4495800"/>
            <a:ext cx="71120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Изготовление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отклонение уже после охлаждения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Упаковка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изготовление в норме, дефект после упаковки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Доставка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предыдущие этапы в норме; подтверждены условия рейса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Магазин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все контроли пройдены, нарушено хранение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Нераспределённые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- причина или прослеживаемость не подтверждены</a:t>
            </a:r>
            <a:endParaRPr lang="en-US" sz="1200" noProof="1"/>
          </a:p>
        </p:txBody>
      </p:sp>
      <p:sp>
        <p:nvSpPr>
          <p:cNvPr id="22" name="side-sep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eyJ2aWV3Qm94IjpbMSwxNDNdLCJwb2ludHMiOiIwLDAgMCwxNDMifQ</pptd:line>
              </p:ext>
            </p:extLst>
          </p:nvPr>
        </p:nvSpPr>
        <p:spPr>
          <a:xfrm>
            <a:off x="8128000" y="4165600"/>
            <a:ext cx="12700" cy="1816100"/>
          </a:xfrm>
          <a:custGeom>
            <a:avLst/>
            <a:gdLst/>
            <a:ahLst/>
            <a:cxnLst/>
            <a:rect l="l" t="t" r="r" b="b"/>
            <a:pathLst>
              <a:path w="1" h="143">
                <a:moveTo>
                  <a:pt x="0" y="0"/>
                </a:moveTo>
                <a:lnTo>
                  <a:pt x="0" y="143"/>
                </a:lnTo>
              </a:path>
            </a:pathLst>
          </a:custGeom>
          <a:noFill/>
          <a:ln w="12700" cap="rnd">
            <a:solidFill>
              <a:srgbClr val="D9E2E2"/>
            </a:solidFill>
            <a:round/>
          </a:ln>
        </p:spPr>
      </p:sp>
      <p:sp>
        <p:nvSpPr>
          <p:cNvPr id="23" name="approval-head"/>
          <p:cNvSpPr txBox="1"/>
          <p:nvPr/>
        </p:nvSpPr>
        <p:spPr>
          <a:xfrm>
            <a:off x="8534400" y="41529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120" noProof="1">
                <a:solidFill>
                  <a:srgbClr val="657475"/>
                </a:solidFill>
                <a:latin typeface="Arial"/>
                <a:ea typeface="Arial"/>
              </a:rPr>
              <a:t>КАК УТВЕРЖДАЕМ ТОЧКУ А</a:t>
            </a:r>
            <a:endParaRPr lang="en-US" sz="1000" noProof="1"/>
          </a:p>
        </p:txBody>
      </p:sp>
      <p:sp>
        <p:nvSpPr>
          <p:cNvPr id="24" name="approval"/>
          <p:cNvSpPr txBox="1"/>
          <p:nvPr/>
        </p:nvSpPr>
        <p:spPr>
          <a:xfrm>
            <a:off x="8534400" y="4495800"/>
            <a:ext cx="3048000" cy="148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1.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Собрать данные за единый период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2.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Сверить выпуск, поставки и возвраты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3.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Распределить издержки по доказательствам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b="1" noProof="1">
                <a:solidFill>
                  <a:srgbClr val="172526"/>
                </a:solidFill>
                <a:latin typeface="Arial"/>
                <a:ea typeface="Arial"/>
              </a:rPr>
              <a:t>4.</a:t>
            </a:r>
            <a:r>
              <a:rPr lang="en-US" sz="1200" noProof="1">
                <a:solidFill>
                  <a:srgbClr val="172526"/>
                </a:solidFill>
                <a:latin typeface="Arial"/>
                <a:ea typeface="Arial"/>
              </a:rPr>
              <a:t> Утвердить у куратора и начальников цехов</a:t>
            </a:r>
            <a:endParaRPr lang="en-US" sz="1200" noProof="1"/>
          </a:p>
        </p:txBody>
      </p:sp>
      <p:sp>
        <p:nvSpPr>
          <p:cNvPr id="25" name="result-bg"/>
          <p:cNvSpPr/>
          <p:nvPr/>
        </p:nvSpPr>
        <p:spPr>
          <a:xfrm>
            <a:off x="609600" y="6172200"/>
            <a:ext cx="10972800" cy="317500"/>
          </a:xfrm>
          <a:prstGeom prst="rect">
            <a:avLst/>
          </a:prstGeom>
          <a:solidFill>
            <a:srgbClr val="0B5D5E"/>
          </a:solidFill>
          <a:ln>
            <a:noFill/>
          </a:ln>
        </p:spPr>
      </p:sp>
      <p:sp>
        <p:nvSpPr>
          <p:cNvPr id="26" name="result"/>
          <p:cNvSpPr txBox="1"/>
          <p:nvPr/>
        </p:nvSpPr>
        <p:spPr>
          <a:xfrm>
            <a:off x="762000" y="6235700"/>
            <a:ext cx="1066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100" b="1" noProof="1">
                <a:solidFill>
                  <a:srgbClr val="FFFFFF"/>
                </a:solidFill>
                <a:latin typeface="Arial"/>
                <a:ea typeface="Arial"/>
              </a:rPr>
              <a:t>Результат: утверждённые метрики, сумма потерь и ответственные этапы - база для оценки эффекта внедрения</a:t>
            </a:r>
            <a:endParaRPr lang="en-US" sz="1100" noProof="1"/>
          </a:p>
        </p:txBody>
      </p:sp>
      <p:sp>
        <p:nvSpPr>
          <p:cNvPr id="27" name="source"/>
          <p:cNvSpPr txBox="1"/>
          <p:nvPr/>
        </p:nvSpPr>
        <p:spPr>
          <a:xfrm>
            <a:off x="609600" y="6604000"/>
            <a:ext cx="990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57475"/>
                </a:solidFill>
                <a:latin typeface="Arial"/>
                <a:ea typeface="Arial"/>
              </a:rPr>
              <a:t>Нераспределённые издержки не делятся между цехами до завершения проверки.</a:t>
            </a:r>
            <a:endParaRPr lang="en-US" sz="900" noProof="1"/>
          </a:p>
        </p:txBody>
      </p:sp>
      <p:sp>
        <p:nvSpPr>
          <p:cNvPr id="28" name="page-num"/>
          <p:cNvSpPr txBox="1"/>
          <p:nvPr/>
        </p:nvSpPr>
        <p:spPr>
          <a:xfrm>
            <a:off x="11226800" y="6578600"/>
            <a:ext cx="3556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57475"/>
                </a:solidFill>
                <a:latin typeface="Arial"/>
                <a:ea typeface="Arial"/>
              </a:rPr>
              <a:t>0</a:t>
            </a:r>
            <a:r>
              <a:rPr lang="ru-RU" sz="1000" noProof="1">
                <a:solidFill>
                  <a:srgbClr val="657475"/>
                </a:solidFill>
                <a:latin typeface="Arial"/>
                <a:ea typeface="Arial"/>
              </a:rPr>
              <a:t>6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</Words>
  <Application>Microsoft Office PowerPoint</Application>
  <PresentationFormat>Широкоэкранный</PresentationFormat>
  <Paragraphs>76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Georgia</vt:lpstr>
      <vt:lpstr>MiSans</vt:lpstr>
      <vt:lpstr>PPTD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Точка А — оценка текущего состояния</dc:title>
  <cp:lastModifiedBy>Tatsyana Patalitsyna</cp:lastModifiedBy>
  <cp:revision>4</cp:revision>
  <dcterms:modified xsi:type="dcterms:W3CDTF">2026-10-25T17:36:59Z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