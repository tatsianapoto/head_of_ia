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12192000" cy="6858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3 • АНАЛИЗ ДАННЫХ • РЕШЕНИЕ НА ЛИНИИ</a:t>
            </a:r>
            <a:endParaRPr lang="en-US" sz="1000" noProof="1"/>
          </a:p>
        </p:txBody>
      </p:sp>
      <p:sp>
        <p:nvSpPr>
          <p:cNvPr id="3" name="scope"/>
          <p:cNvSpPr txBox="1"/>
          <p:nvPr/>
        </p:nvSpPr>
        <p:spPr>
          <a:xfrm>
            <a:off x="8318500" y="304800"/>
            <a:ext cx="32639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Видимый конденсат на крышке лотка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172526"/>
                </a:solidFill>
                <a:latin typeface="Georgia"/>
                <a:ea typeface="Georgia"/>
              </a:rPr>
              <a:t>Камера выявляет дефект, а толкатель удаляет лоток:
линия продолжает работать без остановки</a:t>
            </a:r>
            <a:endParaRPr lang="en-US" sz="28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kpi1-value"/>
          <p:cNvSpPr txBox="1"/>
          <p:nvPr/>
        </p:nvSpPr>
        <p:spPr>
          <a:xfrm>
            <a:off x="609600" y="18415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1 лоток / 1,2 сек</a:t>
            </a:r>
            <a:endParaRPr lang="en-US" sz="2500" noProof="1"/>
          </a:p>
        </p:txBody>
      </p:sp>
      <p:sp>
        <p:nvSpPr>
          <p:cNvPr id="7" name="kpi1-label"/>
          <p:cNvSpPr txBox="1"/>
          <p:nvPr/>
        </p:nvSpPr>
        <p:spPr>
          <a:xfrm>
            <a:off x="609600" y="22606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темп поступления на контроль</a:t>
            </a:r>
            <a:endParaRPr lang="en-US" sz="1100" noProof="1"/>
          </a:p>
        </p:txBody>
      </p:sp>
      <p:sp>
        <p:nvSpPr>
          <p:cNvPr id="8" name="sep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33274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9" name="kpi2-value"/>
          <p:cNvSpPr txBox="1"/>
          <p:nvPr/>
        </p:nvSpPr>
        <p:spPr>
          <a:xfrm>
            <a:off x="3683000" y="18415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24 000 лотков</a:t>
            </a:r>
            <a:endParaRPr lang="en-US" sz="2500" noProof="1"/>
          </a:p>
        </p:txBody>
      </p:sp>
      <p:sp>
        <p:nvSpPr>
          <p:cNvPr id="10" name="kpi2-label"/>
          <p:cNvSpPr txBox="1"/>
          <p:nvPr/>
        </p:nvSpPr>
        <p:spPr>
          <a:xfrm>
            <a:off x="3683000" y="2260600"/>
            <a:ext cx="2159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за 8-часовую смену</a:t>
            </a:r>
            <a:endParaRPr lang="en-US" sz="1100" noProof="1"/>
          </a:p>
        </p:txBody>
      </p:sp>
      <p:sp>
        <p:nvSpPr>
          <p:cNvPr id="11" name="sep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62230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2" name="kpi3-value"/>
          <p:cNvSpPr txBox="1"/>
          <p:nvPr/>
        </p:nvSpPr>
        <p:spPr>
          <a:xfrm>
            <a:off x="6604000" y="18415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≤ 200 мс</a:t>
            </a:r>
            <a:endParaRPr lang="en-US" sz="2500" noProof="1"/>
          </a:p>
        </p:txBody>
      </p:sp>
      <p:sp>
        <p:nvSpPr>
          <p:cNvPr id="13" name="kpi3-label"/>
          <p:cNvSpPr txBox="1"/>
          <p:nvPr/>
        </p:nvSpPr>
        <p:spPr>
          <a:xfrm>
            <a:off x="6604000" y="22606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проектная цель решения модели</a:t>
            </a:r>
            <a:endParaRPr lang="en-US" sz="1100" noProof="1"/>
          </a:p>
        </p:txBody>
      </p:sp>
      <p:sp>
        <p:nvSpPr>
          <p:cNvPr id="14" name="sep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eyJ2aWV3Qm94IjpbMSw0N10sInBvaW50cyI6IjAsMCAwLDQ3In0</pptd:line>
              </p:ext>
            </p:extLst>
          </p:nvPr>
        </p:nvSpPr>
        <p:spPr>
          <a:xfrm>
            <a:off x="91440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5" name="kpi4-value"/>
          <p:cNvSpPr txBox="1"/>
          <p:nvPr/>
        </p:nvSpPr>
        <p:spPr>
          <a:xfrm>
            <a:off x="9525000" y="1841500"/>
            <a:ext cx="2057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2–3 кадра</a:t>
            </a:r>
            <a:endParaRPr lang="en-US" sz="2500" noProof="1"/>
          </a:p>
        </p:txBody>
      </p:sp>
      <p:sp>
        <p:nvSpPr>
          <p:cNvPr id="16" name="kpi4-label"/>
          <p:cNvSpPr txBox="1"/>
          <p:nvPr/>
        </p:nvSpPr>
        <p:spPr>
          <a:xfrm>
            <a:off x="9525000" y="2260600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на один лоток</a:t>
            </a:r>
            <a:endParaRPr lang="en-US" sz="1100" noProof="1"/>
          </a:p>
        </p:txBody>
      </p:sp>
      <p:sp>
        <p:nvSpPr>
          <p:cNvPr id="17" name="flow-head"/>
          <p:cNvSpPr txBox="1"/>
          <p:nvPr/>
        </p:nvSpPr>
        <p:spPr>
          <a:xfrm>
            <a:off x="609600" y="27559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АВТОМАТИЧЕСКИЙ КОНТУР КОНТРОЛЯ</a:t>
            </a:r>
            <a:endParaRPr lang="en-US" sz="1000" noProof="1"/>
          </a:p>
        </p:txBody>
      </p:sp>
      <p:sp>
        <p:nvSpPr>
          <p:cNvPr id="18" name="flow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eyJpY29uTmFtZSI6ImZhczpjYW1lcmEifQ</pptd:icon>
              </p:ext>
            </p:extLst>
          </p:nvPr>
        </p:nvSpPr>
        <p:spPr>
          <a:xfrm>
            <a:off x="622300" y="3213100"/>
            <a:ext cx="393700" cy="3937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49" y="65"/>
                </a:moveTo>
                <a:lnTo>
                  <a:pt x="139" y="96"/>
                </a:lnTo>
                <a:lnTo>
                  <a:pt x="64" y="96"/>
                </a:lnTo>
                <a:cubicBezTo>
                  <a:pt x="29" y="96"/>
                  <a:pt x="0" y="125"/>
                  <a:pt x="0" y="160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448" y="480"/>
                </a:lnTo>
                <a:cubicBezTo>
                  <a:pt x="483" y="480"/>
                  <a:pt x="512" y="451"/>
                  <a:pt x="512" y="416"/>
                </a:cubicBezTo>
                <a:lnTo>
                  <a:pt x="512" y="160"/>
                </a:lnTo>
                <a:cubicBezTo>
                  <a:pt x="512" y="125"/>
                  <a:pt x="483" y="96"/>
                  <a:pt x="448" y="96"/>
                </a:cubicBezTo>
                <a:lnTo>
                  <a:pt x="373" y="96"/>
                </a:lnTo>
                <a:lnTo>
                  <a:pt x="363" y="65"/>
                </a:lnTo>
                <a:cubicBezTo>
                  <a:pt x="356" y="45"/>
                  <a:pt x="338" y="32"/>
                  <a:pt x="317" y="32"/>
                </a:cubicBezTo>
                <a:lnTo>
                  <a:pt x="195" y="32"/>
                </a:lnTo>
                <a:cubicBezTo>
                  <a:pt x="174" y="32"/>
                  <a:pt x="156" y="45"/>
                  <a:pt x="149" y="65"/>
                </a:cubicBezTo>
                <a:close/>
                <a:moveTo>
                  <a:pt x="256" y="192"/>
                </a:moveTo>
                <a:cubicBezTo>
                  <a:pt x="309" y="192"/>
                  <a:pt x="352" y="235"/>
                  <a:pt x="352" y="288"/>
                </a:cubicBezTo>
                <a:cubicBezTo>
                  <a:pt x="352" y="341"/>
                  <a:pt x="309" y="384"/>
                  <a:pt x="256" y="384"/>
                </a:cubicBezTo>
                <a:cubicBezTo>
                  <a:pt x="203" y="384"/>
                  <a:pt x="160" y="341"/>
                  <a:pt x="160" y="288"/>
                </a:cubicBezTo>
                <a:cubicBezTo>
                  <a:pt x="160" y="235"/>
                  <a:pt x="203" y="192"/>
                  <a:pt x="256" y="192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9" name="flow1-title"/>
          <p:cNvSpPr txBox="1"/>
          <p:nvPr/>
        </p:nvSpPr>
        <p:spPr>
          <a:xfrm>
            <a:off x="609600" y="37338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1. Съёмка</a:t>
            </a:r>
            <a:endParaRPr lang="en-US" sz="1400" noProof="1"/>
          </a:p>
        </p:txBody>
      </p:sp>
      <p:sp>
        <p:nvSpPr>
          <p:cNvPr id="20" name="flow1-note"/>
          <p:cNvSpPr txBox="1"/>
          <p:nvPr/>
        </p:nvSpPr>
        <p:spPr>
          <a:xfrm>
            <a:off x="609600" y="4051300"/>
            <a:ext cx="1651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Датчик запуска, камера и управляемая подсветка.</a:t>
            </a:r>
            <a:endParaRPr lang="en-US" sz="1100" noProof="1"/>
          </a:p>
        </p:txBody>
      </p:sp>
      <p:sp>
        <p:nvSpPr>
          <p:cNvPr id="21" name="arrow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eyJ2aWV3Qm94IjpbNDIsMV0sInBvaW50cyI6IjAsMCA0MiwwIn0</pptd:line>
              </p:ext>
            </p:extLst>
          </p:nvPr>
        </p:nvSpPr>
        <p:spPr>
          <a:xfrm>
            <a:off x="2336800" y="3403600"/>
            <a:ext cx="533400" cy="12700"/>
          </a:xfrm>
          <a:custGeom>
            <a:avLst/>
            <a:gdLst/>
            <a:ahLst/>
            <a:cxnLst/>
            <a:rect l="l" t="t" r="r" b="b"/>
            <a:pathLst>
              <a:path w="42" h="1">
                <a:moveTo>
                  <a:pt x="0" y="0"/>
                </a:moveTo>
                <a:lnTo>
                  <a:pt x="42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22" name="flow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eyJpY29uTmFtZSI6ImZhczptaWNyb2NoaXAifQ</pptd:icon>
              </p:ext>
            </p:extLst>
          </p:nvPr>
        </p:nvSpPr>
        <p:spPr>
          <a:xfrm>
            <a:off x="2997200" y="3213100"/>
            <a:ext cx="393700" cy="3937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23" name="flow2-title"/>
          <p:cNvSpPr txBox="1"/>
          <p:nvPr/>
        </p:nvSpPr>
        <p:spPr>
          <a:xfrm>
            <a:off x="2984500" y="37338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2. Решение CV</a:t>
            </a:r>
            <a:endParaRPr lang="en-US" sz="1400" noProof="1"/>
          </a:p>
        </p:txBody>
      </p:sp>
      <p:sp>
        <p:nvSpPr>
          <p:cNvPr id="24" name="flow2-note"/>
          <p:cNvSpPr txBox="1"/>
          <p:nvPr/>
        </p:nvSpPr>
        <p:spPr>
          <a:xfrm>
            <a:off x="2984500" y="4051300"/>
            <a:ext cx="177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Локальная YOLO-модель: «норма» / «конденсат».</a:t>
            </a:r>
            <a:endParaRPr lang="en-US" sz="1100" noProof="1"/>
          </a:p>
        </p:txBody>
      </p:sp>
      <p:sp>
        <p:nvSpPr>
          <p:cNvPr id="25" name="arrow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eyJ2aWV3Qm94IjpbNDIsMV0sInBvaW50cyI6IjAsMCA0MiwwIn0</pptd:line>
              </p:ext>
            </p:extLst>
          </p:nvPr>
        </p:nvSpPr>
        <p:spPr>
          <a:xfrm>
            <a:off x="4902200" y="3403600"/>
            <a:ext cx="533400" cy="12700"/>
          </a:xfrm>
          <a:custGeom>
            <a:avLst/>
            <a:gdLst/>
            <a:ahLst/>
            <a:cxnLst/>
            <a:rect l="l" t="t" r="r" b="b"/>
            <a:pathLst>
              <a:path w="42" h="1">
                <a:moveTo>
                  <a:pt x="0" y="0"/>
                </a:moveTo>
                <a:lnTo>
                  <a:pt x="42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26" name="flow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eyJpY29uTmFtZSI6ImZhczpnZWFycyJ9</pptd:icon>
              </p:ext>
            </p:extLst>
          </p:nvPr>
        </p:nvSpPr>
        <p:spPr>
          <a:xfrm>
            <a:off x="5562600" y="3213100"/>
            <a:ext cx="393700" cy="3937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416" y="211"/>
                </a:moveTo>
                <a:cubicBezTo>
                  <a:pt x="428" y="207"/>
                  <a:pt x="441" y="213"/>
                  <a:pt x="446" y="224"/>
                </a:cubicBezTo>
                <a:lnTo>
                  <a:pt x="465" y="262"/>
                </a:lnTo>
                <a:cubicBezTo>
                  <a:pt x="475" y="263"/>
                  <a:pt x="485" y="266"/>
                  <a:pt x="495" y="270"/>
                </a:cubicBezTo>
                <a:lnTo>
                  <a:pt x="530" y="247"/>
                </a:lnTo>
                <a:cubicBezTo>
                  <a:pt x="540" y="240"/>
                  <a:pt x="554" y="241"/>
                  <a:pt x="563" y="250"/>
                </a:cubicBezTo>
                <a:lnTo>
                  <a:pt x="582" y="269"/>
                </a:lnTo>
                <a:cubicBezTo>
                  <a:pt x="591" y="278"/>
                  <a:pt x="593" y="292"/>
                  <a:pt x="586" y="303"/>
                </a:cubicBezTo>
                <a:lnTo>
                  <a:pt x="562" y="337"/>
                </a:lnTo>
                <a:cubicBezTo>
                  <a:pt x="564" y="342"/>
                  <a:pt x="566" y="347"/>
                  <a:pt x="567" y="352"/>
                </a:cubicBezTo>
                <a:cubicBezTo>
                  <a:pt x="569" y="357"/>
                  <a:pt x="570" y="362"/>
                  <a:pt x="570" y="367"/>
                </a:cubicBezTo>
                <a:lnTo>
                  <a:pt x="608" y="386"/>
                </a:lnTo>
                <a:cubicBezTo>
                  <a:pt x="619" y="392"/>
                  <a:pt x="625" y="404"/>
                  <a:pt x="622" y="416"/>
                </a:cubicBezTo>
                <a:lnTo>
                  <a:pt x="615" y="443"/>
                </a:lnTo>
                <a:cubicBezTo>
                  <a:pt x="612" y="455"/>
                  <a:pt x="600" y="463"/>
                  <a:pt x="588" y="462"/>
                </a:cubicBezTo>
                <a:lnTo>
                  <a:pt x="546" y="459"/>
                </a:lnTo>
                <a:cubicBezTo>
                  <a:pt x="539" y="468"/>
                  <a:pt x="532" y="475"/>
                  <a:pt x="524" y="481"/>
                </a:cubicBezTo>
                <a:lnTo>
                  <a:pt x="527" y="523"/>
                </a:lnTo>
                <a:cubicBezTo>
                  <a:pt x="527" y="536"/>
                  <a:pt x="519" y="547"/>
                  <a:pt x="507" y="551"/>
                </a:cubicBezTo>
                <a:lnTo>
                  <a:pt x="481" y="558"/>
                </a:lnTo>
                <a:cubicBezTo>
                  <a:pt x="469" y="561"/>
                  <a:pt x="456" y="555"/>
                  <a:pt x="450" y="544"/>
                </a:cubicBezTo>
                <a:lnTo>
                  <a:pt x="432" y="506"/>
                </a:lnTo>
                <a:cubicBezTo>
                  <a:pt x="421" y="505"/>
                  <a:pt x="411" y="502"/>
                  <a:pt x="402" y="498"/>
                </a:cubicBezTo>
                <a:lnTo>
                  <a:pt x="367" y="521"/>
                </a:lnTo>
                <a:cubicBezTo>
                  <a:pt x="356" y="528"/>
                  <a:pt x="342" y="527"/>
                  <a:pt x="334" y="518"/>
                </a:cubicBezTo>
                <a:lnTo>
                  <a:pt x="314" y="499"/>
                </a:lnTo>
                <a:cubicBezTo>
                  <a:pt x="305" y="490"/>
                  <a:pt x="304" y="476"/>
                  <a:pt x="311" y="466"/>
                </a:cubicBezTo>
                <a:lnTo>
                  <a:pt x="334" y="431"/>
                </a:lnTo>
                <a:cubicBezTo>
                  <a:pt x="332" y="426"/>
                  <a:pt x="331" y="421"/>
                  <a:pt x="329" y="416"/>
                </a:cubicBezTo>
                <a:cubicBezTo>
                  <a:pt x="328" y="411"/>
                  <a:pt x="327" y="406"/>
                  <a:pt x="326" y="401"/>
                </a:cubicBezTo>
                <a:lnTo>
                  <a:pt x="289" y="382"/>
                </a:lnTo>
                <a:cubicBezTo>
                  <a:pt x="277" y="376"/>
                  <a:pt x="272" y="364"/>
                  <a:pt x="275" y="352"/>
                </a:cubicBezTo>
                <a:lnTo>
                  <a:pt x="282" y="325"/>
                </a:lnTo>
                <a:cubicBezTo>
                  <a:pt x="285" y="313"/>
                  <a:pt x="296" y="305"/>
                  <a:pt x="309" y="306"/>
                </a:cubicBezTo>
                <a:lnTo>
                  <a:pt x="351" y="309"/>
                </a:lnTo>
                <a:cubicBezTo>
                  <a:pt x="357" y="300"/>
                  <a:pt x="365" y="293"/>
                  <a:pt x="373" y="287"/>
                </a:cubicBezTo>
                <a:lnTo>
                  <a:pt x="370" y="245"/>
                </a:lnTo>
                <a:cubicBezTo>
                  <a:pt x="369" y="232"/>
                  <a:pt x="377" y="221"/>
                  <a:pt x="390" y="218"/>
                </a:cubicBezTo>
                <a:lnTo>
                  <a:pt x="416" y="211"/>
                </a:lnTo>
                <a:close/>
                <a:moveTo>
                  <a:pt x="448" y="340"/>
                </a:moveTo>
                <a:cubicBezTo>
                  <a:pt x="424" y="340"/>
                  <a:pt x="404" y="360"/>
                  <a:pt x="404" y="384"/>
                </a:cubicBezTo>
                <a:cubicBezTo>
                  <a:pt x="404" y="408"/>
                  <a:pt x="424" y="428"/>
                  <a:pt x="449" y="428"/>
                </a:cubicBezTo>
                <a:cubicBezTo>
                  <a:pt x="473" y="428"/>
                  <a:pt x="492" y="408"/>
                  <a:pt x="492" y="384"/>
                </a:cubicBezTo>
                <a:cubicBezTo>
                  <a:pt x="492" y="360"/>
                  <a:pt x="473" y="340"/>
                  <a:pt x="448" y="340"/>
                </a:cubicBezTo>
                <a:close/>
              </a:path>
              <a:path w="640" h="512">
                <a:moveTo>
                  <a:pt x="225" y="-45"/>
                </a:moveTo>
                <a:lnTo>
                  <a:pt x="251" y="-38"/>
                </a:lnTo>
                <a:cubicBezTo>
                  <a:pt x="263" y="-35"/>
                  <a:pt x="271" y="-24"/>
                  <a:pt x="271" y="-11"/>
                </a:cubicBezTo>
                <a:lnTo>
                  <a:pt x="268" y="30"/>
                </a:lnTo>
                <a:cubicBezTo>
                  <a:pt x="276" y="37"/>
                  <a:pt x="284" y="44"/>
                  <a:pt x="290" y="53"/>
                </a:cubicBezTo>
                <a:lnTo>
                  <a:pt x="332" y="50"/>
                </a:lnTo>
                <a:cubicBezTo>
                  <a:pt x="344" y="49"/>
                  <a:pt x="356" y="57"/>
                  <a:pt x="359" y="69"/>
                </a:cubicBezTo>
                <a:lnTo>
                  <a:pt x="366" y="96"/>
                </a:lnTo>
                <a:cubicBezTo>
                  <a:pt x="369" y="108"/>
                  <a:pt x="364" y="120"/>
                  <a:pt x="352" y="126"/>
                </a:cubicBezTo>
                <a:lnTo>
                  <a:pt x="315" y="145"/>
                </a:lnTo>
                <a:cubicBezTo>
                  <a:pt x="314" y="150"/>
                  <a:pt x="313" y="155"/>
                  <a:pt x="312" y="160"/>
                </a:cubicBezTo>
                <a:cubicBezTo>
                  <a:pt x="310" y="165"/>
                  <a:pt x="308" y="170"/>
                  <a:pt x="307" y="174"/>
                </a:cubicBezTo>
                <a:lnTo>
                  <a:pt x="330" y="209"/>
                </a:lnTo>
                <a:cubicBezTo>
                  <a:pt x="337" y="220"/>
                  <a:pt x="335" y="234"/>
                  <a:pt x="327" y="243"/>
                </a:cubicBezTo>
                <a:lnTo>
                  <a:pt x="307" y="262"/>
                </a:lnTo>
                <a:cubicBezTo>
                  <a:pt x="298" y="271"/>
                  <a:pt x="285" y="272"/>
                  <a:pt x="274" y="265"/>
                </a:cubicBezTo>
                <a:lnTo>
                  <a:pt x="239" y="242"/>
                </a:lnTo>
                <a:cubicBezTo>
                  <a:pt x="230" y="246"/>
                  <a:pt x="219" y="249"/>
                  <a:pt x="209" y="250"/>
                </a:cubicBezTo>
                <a:lnTo>
                  <a:pt x="191" y="288"/>
                </a:lnTo>
                <a:cubicBezTo>
                  <a:pt x="185" y="299"/>
                  <a:pt x="172" y="305"/>
                  <a:pt x="160" y="302"/>
                </a:cubicBezTo>
                <a:lnTo>
                  <a:pt x="134" y="295"/>
                </a:lnTo>
                <a:cubicBezTo>
                  <a:pt x="122" y="291"/>
                  <a:pt x="114" y="280"/>
                  <a:pt x="114" y="267"/>
                </a:cubicBezTo>
                <a:lnTo>
                  <a:pt x="117" y="225"/>
                </a:lnTo>
                <a:cubicBezTo>
                  <a:pt x="109" y="219"/>
                  <a:pt x="101" y="212"/>
                  <a:pt x="95" y="203"/>
                </a:cubicBezTo>
                <a:lnTo>
                  <a:pt x="53" y="206"/>
                </a:lnTo>
                <a:cubicBezTo>
                  <a:pt x="41" y="207"/>
                  <a:pt x="29" y="199"/>
                  <a:pt x="26" y="187"/>
                </a:cubicBezTo>
                <a:lnTo>
                  <a:pt x="19" y="160"/>
                </a:lnTo>
                <a:cubicBezTo>
                  <a:pt x="16" y="148"/>
                  <a:pt x="21" y="136"/>
                  <a:pt x="33" y="130"/>
                </a:cubicBezTo>
                <a:lnTo>
                  <a:pt x="70" y="111"/>
                </a:lnTo>
                <a:cubicBezTo>
                  <a:pt x="71" y="106"/>
                  <a:pt x="72" y="101"/>
                  <a:pt x="73" y="96"/>
                </a:cubicBezTo>
                <a:cubicBezTo>
                  <a:pt x="75" y="91"/>
                  <a:pt x="76" y="86"/>
                  <a:pt x="78" y="81"/>
                </a:cubicBezTo>
                <a:lnTo>
                  <a:pt x="55" y="47"/>
                </a:lnTo>
                <a:cubicBezTo>
                  <a:pt x="48" y="36"/>
                  <a:pt x="50" y="22"/>
                  <a:pt x="58" y="13"/>
                </a:cubicBezTo>
                <a:lnTo>
                  <a:pt x="78" y="-6"/>
                </a:lnTo>
                <a:cubicBezTo>
                  <a:pt x="87" y="-15"/>
                  <a:pt x="100" y="-16"/>
                  <a:pt x="111" y="-9"/>
                </a:cubicBezTo>
                <a:lnTo>
                  <a:pt x="146" y="14"/>
                </a:lnTo>
                <a:cubicBezTo>
                  <a:pt x="155" y="10"/>
                  <a:pt x="165" y="7"/>
                  <a:pt x="176" y="6"/>
                </a:cubicBezTo>
                <a:lnTo>
                  <a:pt x="194" y="-32"/>
                </a:lnTo>
                <a:cubicBezTo>
                  <a:pt x="200" y="-43"/>
                  <a:pt x="213" y="-49"/>
                  <a:pt x="225" y="-45"/>
                </a:cubicBezTo>
                <a:close/>
                <a:moveTo>
                  <a:pt x="192" y="84"/>
                </a:moveTo>
                <a:cubicBezTo>
                  <a:pt x="168" y="84"/>
                  <a:pt x="148" y="104"/>
                  <a:pt x="148" y="128"/>
                </a:cubicBezTo>
                <a:cubicBezTo>
                  <a:pt x="148" y="152"/>
                  <a:pt x="168" y="172"/>
                  <a:pt x="192" y="172"/>
                </a:cubicBezTo>
                <a:cubicBezTo>
                  <a:pt x="217" y="172"/>
                  <a:pt x="236" y="152"/>
                  <a:pt x="236" y="128"/>
                </a:cubicBezTo>
                <a:cubicBezTo>
                  <a:pt x="236" y="104"/>
                  <a:pt x="217" y="84"/>
                  <a:pt x="192" y="84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27" name="flow3-title"/>
          <p:cNvSpPr txBox="1"/>
          <p:nvPr/>
        </p:nvSpPr>
        <p:spPr>
          <a:xfrm>
            <a:off x="5549900" y="3733800"/>
            <a:ext cx="184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3. Отбраковка</a:t>
            </a:r>
            <a:endParaRPr lang="en-US" sz="1400" noProof="1"/>
          </a:p>
        </p:txBody>
      </p:sp>
      <p:sp>
        <p:nvSpPr>
          <p:cNvPr id="28" name="flow3-note"/>
          <p:cNvSpPr txBox="1"/>
          <p:nvPr/>
        </p:nvSpPr>
        <p:spPr>
          <a:xfrm>
            <a:off x="5549900" y="4051300"/>
            <a:ext cx="18415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ПЛК активирует толкатель точного лотка.</a:t>
            </a:r>
            <a:endParaRPr lang="en-US" sz="1100" noProof="1"/>
          </a:p>
        </p:txBody>
      </p:sp>
      <p:sp>
        <p:nvSpPr>
          <p:cNvPr id="29" name="arrow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eyJ2aWV3Qm94IjpbNDIsMV0sInBvaW50cyI6IjAsMCA0MiwwIn0</pptd:line>
              </p:ext>
            </p:extLst>
          </p:nvPr>
        </p:nvSpPr>
        <p:spPr>
          <a:xfrm>
            <a:off x="7518400" y="3403600"/>
            <a:ext cx="533400" cy="12700"/>
          </a:xfrm>
          <a:custGeom>
            <a:avLst/>
            <a:gdLst/>
            <a:ahLst/>
            <a:cxnLst/>
            <a:rect l="l" t="t" r="r" b="b"/>
            <a:pathLst>
              <a:path w="42" h="1">
                <a:moveTo>
                  <a:pt x="0" y="0"/>
                </a:moveTo>
                <a:lnTo>
                  <a:pt x="42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30" name="flow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8178800" y="3213100"/>
            <a:ext cx="393700" cy="3937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31" name="flow4-title"/>
          <p:cNvSpPr txBox="1"/>
          <p:nvPr/>
        </p:nvSpPr>
        <p:spPr>
          <a:xfrm>
            <a:off x="8166100" y="3733800"/>
            <a:ext cx="184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4. Подтверждение</a:t>
            </a:r>
            <a:endParaRPr lang="en-US" sz="1400" noProof="1"/>
          </a:p>
        </p:txBody>
      </p:sp>
      <p:sp>
        <p:nvSpPr>
          <p:cNvPr id="32" name="flow4-note"/>
          <p:cNvSpPr txBox="1"/>
          <p:nvPr/>
        </p:nvSpPr>
        <p:spPr>
          <a:xfrm>
            <a:off x="8166100" y="4051300"/>
            <a:ext cx="18415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Датчик подтверждает удаление дефектного лотка.</a:t>
            </a:r>
            <a:endParaRPr lang="en-US" sz="1100" noProof="1"/>
          </a:p>
        </p:txBody>
      </p:sp>
      <p:sp>
        <p:nvSpPr>
          <p:cNvPr id="33" name="arrow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eyJ2aWV3Qm94IjpbNDIsMV0sInBvaW50cyI6IjAsMCA0MiwwIn0</pptd:line>
              </p:ext>
            </p:extLst>
          </p:nvPr>
        </p:nvSpPr>
        <p:spPr>
          <a:xfrm>
            <a:off x="10134600" y="3403600"/>
            <a:ext cx="533400" cy="12700"/>
          </a:xfrm>
          <a:custGeom>
            <a:avLst/>
            <a:gdLst/>
            <a:ahLst/>
            <a:cxnLst/>
            <a:rect l="l" t="t" r="r" b="b"/>
            <a:pathLst>
              <a:path w="42" h="1">
                <a:moveTo>
                  <a:pt x="0" y="0"/>
                </a:moveTo>
                <a:lnTo>
                  <a:pt x="42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34" name="flow5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eyJpY29uTmFtZSI6ImZhczpkYXRhYmFzZSJ9</pptd:icon>
              </p:ext>
            </p:extLst>
          </p:nvPr>
        </p:nvSpPr>
        <p:spPr>
          <a:xfrm>
            <a:off x="10795000" y="3213100"/>
            <a:ext cx="393700" cy="3937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35" name="flow5-title"/>
          <p:cNvSpPr txBox="1"/>
          <p:nvPr/>
        </p:nvSpPr>
        <p:spPr>
          <a:xfrm>
            <a:off x="10782300" y="3733800"/>
            <a:ext cx="8001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6"/>
                </a:solidFill>
                <a:latin typeface="Arial"/>
                <a:ea typeface="Arial"/>
              </a:rPr>
              <a:t>5. Журнал</a:t>
            </a:r>
            <a:endParaRPr lang="en-US" sz="1400" noProof="1"/>
          </a:p>
        </p:txBody>
      </p:sp>
      <p:sp>
        <p:nvSpPr>
          <p:cNvPr id="36" name="flow5-note"/>
          <p:cNvSpPr txBox="1"/>
          <p:nvPr/>
        </p:nvSpPr>
        <p:spPr>
          <a:xfrm>
            <a:off x="10439400" y="4051300"/>
            <a:ext cx="1143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Изображение, партия, решение и версия модели.</a:t>
            </a:r>
            <a:endParaRPr lang="en-US" sz="1100" noProof="1"/>
          </a:p>
        </p:txBody>
      </p:sp>
      <p:sp>
        <p:nvSpPr>
          <p:cNvPr id="37" name="infra-head"/>
          <p:cNvSpPr txBox="1"/>
          <p:nvPr/>
        </p:nvSpPr>
        <p:spPr>
          <a:xfrm>
            <a:off x="609600" y="49911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ПРОИЗВОДСТВЕННАЯ КОНФИГУРАЦИЯ</a:t>
            </a:r>
            <a:endParaRPr lang="en-US" sz="1000" noProof="1"/>
          </a:p>
        </p:txBody>
      </p:sp>
      <p:sp>
        <p:nvSpPr>
          <p:cNvPr id="38" name="infra"/>
          <p:cNvSpPr txBox="1"/>
          <p:nvPr/>
        </p:nvSpPr>
        <p:spPr>
          <a:xfrm>
            <a:off x="609600" y="5334000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Базово: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одна камера над линией, 2–5 Мп, глобальный затвор, защита IP65/IP67, поляризованная подсветка.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Локальный контур: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GPU от 8 ГБ, RAM от 32 ГБ, NVMe от 1 ТБ; ПЛК, датчики и ИБП. Облако не требуется.</a:t>
            </a:r>
            <a:endParaRPr lang="en-US" sz="1200" noProof="1"/>
          </a:p>
        </p:txBody>
      </p:sp>
      <p:sp>
        <p:nvSpPr>
          <p:cNvPr id="39" name="note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40" name="note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83F40"/>
                </a:solidFill>
                <a:latin typeface="Arial"/>
                <a:ea typeface="Arial"/>
              </a:rPr>
              <a:t>Вторая камера - только если стендовый тест покажет, что одна не видит всю крышку или часть дефектов</a:t>
            </a:r>
            <a:endParaRPr lang="en-US" sz="1100" noProof="1"/>
          </a:p>
        </p:txBody>
      </p:sp>
      <p:sp>
        <p:nvSpPr>
          <p:cNvPr id="41" name="source"/>
          <p:cNvSpPr txBox="1"/>
          <p:nvPr/>
        </p:nvSpPr>
        <p:spPr>
          <a:xfrm>
            <a:off x="609600" y="6604000"/>
            <a:ext cx="9652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3. Лимит 200 мс уточняется после замера расстояния до толкателя и скорости конвейера.</a:t>
            </a:r>
            <a:endParaRPr lang="en-US" sz="900" noProof="1"/>
          </a:p>
        </p:txBody>
      </p:sp>
      <p:sp>
        <p:nvSpPr>
          <p:cNvPr id="42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01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3 • АНАЛИЗ ДАННЫХ • ДАННЫЕ И МОДЕЛЬ</a:t>
            </a:r>
            <a:endParaRPr lang="en-US" sz="1000" noProof="1"/>
          </a:p>
        </p:txBody>
      </p:sp>
      <p:sp>
        <p:nvSpPr>
          <p:cNvPr id="3" name="owner"/>
          <p:cNvSpPr txBox="1"/>
          <p:nvPr/>
        </p:nvSpPr>
        <p:spPr>
          <a:xfrm>
            <a:off x="8064500" y="304800"/>
            <a:ext cx="35179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Норму дефекта задаёт технолог / качество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172526"/>
                </a:solidFill>
                <a:latin typeface="Georgia"/>
                <a:ea typeface="Georgia"/>
              </a:rPr>
              <a:t>Надёжная модель начинается с производственных данных и независимого теста - не с общей точности</a:t>
            </a:r>
            <a:endParaRPr lang="en-US" sz="28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data-head"/>
          <p:cNvSpPr txBox="1"/>
          <p:nvPr/>
        </p:nvSpPr>
        <p:spPr>
          <a:xfrm>
            <a:off x="609600" y="1841500"/>
            <a:ext cx="520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01  СТАРТОВЫЙ НАБОР ДАННЫХ</a:t>
            </a:r>
            <a:endParaRPr lang="en-US" sz="1100" noProof="1"/>
          </a:p>
        </p:txBody>
      </p:sp>
      <p:sp>
        <p:nvSpPr>
          <p:cNvPr id="7" name="data-num1"/>
          <p:cNvSpPr txBox="1"/>
          <p:nvPr/>
        </p:nvSpPr>
        <p:spPr>
          <a:xfrm>
            <a:off x="609600" y="2247900"/>
            <a:ext cx="2286000" cy="393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5 000–10 000</a:t>
            </a:r>
            <a:endParaRPr lang="en-US" sz="2500" noProof="1"/>
          </a:p>
        </p:txBody>
      </p:sp>
      <p:sp>
        <p:nvSpPr>
          <p:cNvPr id="8" name="data-label1"/>
          <p:cNvSpPr txBox="1"/>
          <p:nvPr/>
        </p:nvSpPr>
        <p:spPr>
          <a:xfrm>
            <a:off x="609600" y="26924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изображений лотков</a:t>
            </a:r>
            <a:endParaRPr lang="en-US" sz="1100" noProof="1"/>
          </a:p>
        </p:txBody>
      </p:sp>
      <p:sp>
        <p:nvSpPr>
          <p:cNvPr id="9" name="data-num2"/>
          <p:cNvSpPr txBox="1"/>
          <p:nvPr/>
        </p:nvSpPr>
        <p:spPr>
          <a:xfrm>
            <a:off x="3390900" y="2247900"/>
            <a:ext cx="2413000" cy="393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≥ 1 000</a:t>
            </a:r>
            <a:endParaRPr lang="en-US" sz="2500" noProof="1"/>
          </a:p>
        </p:txBody>
      </p:sp>
      <p:sp>
        <p:nvSpPr>
          <p:cNvPr id="10" name="data-label2"/>
          <p:cNvSpPr txBox="1"/>
          <p:nvPr/>
        </p:nvSpPr>
        <p:spPr>
          <a:xfrm>
            <a:off x="3390900" y="26924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с подтверждённым конденсатом</a:t>
            </a:r>
            <a:endParaRPr lang="en-US" sz="1100" noProof="1"/>
          </a:p>
        </p:txBody>
      </p:sp>
      <p:sp>
        <p:nvSpPr>
          <p:cNvPr id="11" name="coverage"/>
          <p:cNvSpPr txBox="1"/>
          <p:nvPr/>
        </p:nvSpPr>
        <p:spPr>
          <a:xfrm>
            <a:off x="609600" y="3149600"/>
            <a:ext cx="5207000" cy="10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Покрываем: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все типы продукции и крышек; партии, смены и дни.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Различаем: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слабый, средний и выраженный конденсат.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Сложные нормы: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блики, загрязнения и похожие объекты.</a:t>
            </a:r>
            <a:endParaRPr lang="en-US" sz="1200" noProof="1"/>
          </a:p>
        </p:txBody>
      </p:sp>
      <p:sp>
        <p:nvSpPr>
          <p:cNvPr id="12" name="quality-head"/>
          <p:cNvSpPr txBox="1"/>
          <p:nvPr/>
        </p:nvSpPr>
        <p:spPr>
          <a:xfrm>
            <a:off x="609600" y="4457700"/>
            <a:ext cx="520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02  КОНТРОЛЬ КАЧЕСТВА ДАННЫХ</a:t>
            </a:r>
            <a:endParaRPr lang="en-US" sz="1100" noProof="1"/>
          </a:p>
        </p:txBody>
      </p:sp>
      <p:sp>
        <p:nvSpPr>
          <p:cNvPr id="13" name="quality"/>
          <p:cNvSpPr txBox="1"/>
          <p:nvPr/>
        </p:nvSpPr>
        <p:spPr>
          <a:xfrm>
            <a:off x="609600" y="4813300"/>
            <a:ext cx="5207000" cy="1155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двойная разметка не менее </a:t>
            </a: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10%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изображений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эксперт разбирает все спорные примеры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</a:t>
            </a: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100%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сложных и неуверенных решений проверяются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контроль смаза, экспозиции, дубликатов и кадрирования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фиксируются версии данных, разметки и инструкции</a:t>
            </a:r>
            <a:endParaRPr lang="en-US" sz="1200" noProof="1"/>
          </a:p>
        </p:txBody>
      </p:sp>
      <p:sp>
        <p:nvSpPr>
          <p:cNvPr id="14" name="mid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eyJ2aWV3Qm94IjpbMSwzMjRdLCJwb2ludHMiOiIwLDAgMCwzMjQifQ</pptd:line>
              </p:ext>
            </p:extLst>
          </p:nvPr>
        </p:nvSpPr>
        <p:spPr>
          <a:xfrm>
            <a:off x="6350000" y="1854200"/>
            <a:ext cx="12700" cy="4114800"/>
          </a:xfrm>
          <a:custGeom>
            <a:avLst/>
            <a:gdLst/>
            <a:ahLst/>
            <a:cxnLst/>
            <a:rect l="l" t="t" r="r" b="b"/>
            <a:pathLst>
              <a:path w="1" h="324">
                <a:moveTo>
                  <a:pt x="0" y="0"/>
                </a:moveTo>
                <a:lnTo>
                  <a:pt x="0" y="324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5" name="split-head"/>
          <p:cNvSpPr txBox="1"/>
          <p:nvPr/>
        </p:nvSpPr>
        <p:spPr>
          <a:xfrm>
            <a:off x="6794500" y="1841500"/>
            <a:ext cx="47879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03  ЧЕСТНОЕ РАЗДЕЛЕНИЕ ВЫБОРОК</a:t>
            </a:r>
            <a:endParaRPr lang="en-US" sz="1100" noProof="1"/>
          </a:p>
        </p:txBody>
      </p:sp>
      <p:sp>
        <p:nvSpPr>
          <p:cNvPr id="16" name="split-train"/>
          <p:cNvSpPr/>
          <p:nvPr/>
        </p:nvSpPr>
        <p:spPr>
          <a:xfrm>
            <a:off x="6794500" y="2286000"/>
            <a:ext cx="3352800" cy="304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17" name="split-val"/>
          <p:cNvSpPr/>
          <p:nvPr/>
        </p:nvSpPr>
        <p:spPr>
          <a:xfrm>
            <a:off x="10147300" y="2286000"/>
            <a:ext cx="711200" cy="304800"/>
          </a:xfrm>
          <a:prstGeom prst="rect">
            <a:avLst/>
          </a:prstGeom>
          <a:solidFill>
            <a:srgbClr val="8BBDB9"/>
          </a:solidFill>
          <a:ln>
            <a:noFill/>
          </a:ln>
        </p:spPr>
      </p:sp>
      <p:sp>
        <p:nvSpPr>
          <p:cNvPr id="18" name="split-test"/>
          <p:cNvSpPr/>
          <p:nvPr/>
        </p:nvSpPr>
        <p:spPr>
          <a:xfrm>
            <a:off x="10858500" y="2286000"/>
            <a:ext cx="723900" cy="304800"/>
          </a:xfrm>
          <a:prstGeom prst="rect">
            <a:avLst/>
          </a:prstGeom>
          <a:solidFill>
            <a:srgbClr val="D9E2E2"/>
          </a:solidFill>
          <a:ln>
            <a:noFill/>
          </a:ln>
        </p:spPr>
      </p:sp>
      <p:sp>
        <p:nvSpPr>
          <p:cNvPr id="19" name="split-labels"/>
          <p:cNvSpPr txBox="1"/>
          <p:nvPr/>
        </p:nvSpPr>
        <p:spPr>
          <a:xfrm>
            <a:off x="6794500" y="2679700"/>
            <a:ext cx="4787900" cy="24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70% обучение        15% валидация        15% тест</a:t>
            </a:r>
            <a:endParaRPr lang="en-US" sz="1200" noProof="1"/>
          </a:p>
        </p:txBody>
      </p:sp>
      <p:sp>
        <p:nvSpPr>
          <p:cNvPr id="20" name="split-note"/>
          <p:cNvSpPr txBox="1"/>
          <p:nvPr/>
        </p:nvSpPr>
        <p:spPr>
          <a:xfrm>
            <a:off x="6794500" y="3060700"/>
            <a:ext cx="47879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Делим по партии и производственному дню, не по кадрам.</a:t>
            </a:r>
            <a:endParaRPr lang="en-US" sz="1300" noProof="1"/>
          </a:p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Кадры одного лотка не попадают в разные выборки - иначе результат теста будет завышен.</a:t>
            </a:r>
            <a:endParaRPr lang="en-US" sz="1300" noProof="1"/>
          </a:p>
        </p:txBody>
      </p:sp>
      <p:sp>
        <p:nvSpPr>
          <p:cNvPr id="21" name="model-head"/>
          <p:cNvSpPr txBox="1"/>
          <p:nvPr/>
        </p:nvSpPr>
        <p:spPr>
          <a:xfrm>
            <a:off x="6794500" y="4191000"/>
            <a:ext cx="47879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04  МОДЕЛЬ И ЦИКЛ УЛУЧШЕНИЯ</a:t>
            </a:r>
            <a:endParaRPr lang="en-US" sz="1100" noProof="1"/>
          </a:p>
        </p:txBody>
      </p:sp>
      <p:sp>
        <p:nvSpPr>
          <p:cNvPr id="22" name="model"/>
          <p:cNvSpPr txBox="1"/>
          <p:nvPr/>
        </p:nvSpPr>
        <p:spPr>
          <a:xfrm>
            <a:off x="6794500" y="4546600"/>
            <a:ext cx="47879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3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YOLO-детекция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показывает не только наличие, но и зону конденсата.</a:t>
            </a:r>
            <a:endParaRPr lang="en-US" sz="1200" noProof="1"/>
          </a:p>
          <a:p>
            <a:pPr>
              <a:lnSpc>
                <a:spcPct val="143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Обучение → разбор пропусков и ложных срабатываний → добавление сложных примеров → повторное обучение.</a:t>
            </a:r>
            <a:endParaRPr lang="en-US" sz="1200" noProof="1"/>
          </a:p>
          <a:p>
            <a:pPr>
              <a:lnSpc>
                <a:spcPct val="143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Финал: фиксированный тест, порог уверенности, экспорт ONNX / TensorRT и проверка скорости на производственном ПК.</a:t>
            </a:r>
            <a:endParaRPr lang="en-US" sz="1200" noProof="1"/>
          </a:p>
        </p:txBody>
      </p:sp>
      <p:sp>
        <p:nvSpPr>
          <p:cNvPr id="23" name="note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24" name="note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83F40"/>
                </a:solidFill>
                <a:latin typeface="Arial"/>
                <a:ea typeface="Arial"/>
              </a:rPr>
              <a:t>Тестовая выборка не изменяется после начала сравнения моделей; искусственные условия отдельно отмечаются в метаданных</a:t>
            </a:r>
            <a:endParaRPr lang="en-US" sz="1100" noProof="1"/>
          </a:p>
        </p:txBody>
      </p:sp>
      <p:sp>
        <p:nvSpPr>
          <p:cNvPr id="25" name="source"/>
          <p:cNvSpPr txBox="1"/>
          <p:nvPr/>
        </p:nvSpPr>
        <p:spPr>
          <a:xfrm>
            <a:off x="609600" y="6604000"/>
            <a:ext cx="9652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3. Перед промышленным использованием юрист проверяет лицензию выбранной модели.</a:t>
            </a:r>
            <a:endParaRPr lang="en-US" sz="900" noProof="1"/>
          </a:p>
        </p:txBody>
      </p:sp>
      <p:sp>
        <p:nvSpPr>
          <p:cNvPr id="26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3 • АНАЛИЗ ДАННЫХ • ПРИЁМКА И ЭФФЕКТ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Промышленный запуск - после доказательства качества, стабильной отбраковки и эффектотносительно точки А</a:t>
            </a:r>
            <a:endParaRPr lang="en-US" sz="26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5" name="test-head"/>
          <p:cNvSpPr txBox="1"/>
          <p:nvPr/>
        </p:nvSpPr>
        <p:spPr>
          <a:xfrm>
            <a:off x="609600" y="1841500"/>
            <a:ext cx="463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01  ПАРНОЕ ИСПЫТАНИЕ: ЛЮДИ ↔ КАМЕРА</a:t>
            </a:r>
            <a:endParaRPr lang="en-US" sz="1100" noProof="1"/>
          </a:p>
        </p:txBody>
      </p:sp>
      <p:sp>
        <p:nvSpPr>
          <p:cNvPr id="6" name="test-title"/>
          <p:cNvSpPr txBox="1"/>
          <p:nvPr/>
        </p:nvSpPr>
        <p:spPr>
          <a:xfrm>
            <a:off x="609600" y="2209800"/>
            <a:ext cx="46355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172526"/>
                </a:solidFill>
                <a:latin typeface="Arial"/>
                <a:ea typeface="Arial"/>
              </a:rPr>
              <a:t>1 месяц, сопоставимые периоды</a:t>
            </a:r>
            <a:endParaRPr lang="en-US" sz="1700" noProof="1"/>
          </a:p>
        </p:txBody>
      </p:sp>
      <p:sp>
        <p:nvSpPr>
          <p:cNvPr id="7" name="test-note"/>
          <p:cNvSpPr txBox="1"/>
          <p:nvPr/>
        </p:nvSpPr>
        <p:spPr>
          <a:xfrm>
            <a:off x="609600" y="2628900"/>
            <a:ext cx="46355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Режимы чередуются по неделям. Эталон устанавливают два эксперта по качеству; спорный случай разбирает третий эксперт или технолог.</a:t>
            </a:r>
            <a:endParaRPr lang="en-US" sz="1200" noProof="1"/>
          </a:p>
        </p:txBody>
      </p:sp>
      <p:sp>
        <p:nvSpPr>
          <p:cNvPr id="8" name="sample"/>
          <p:cNvSpPr txBox="1"/>
          <p:nvPr/>
        </p:nvSpPr>
        <p:spPr>
          <a:xfrm>
            <a:off x="609600" y="3454400"/>
            <a:ext cx="4635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≥20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производственных смен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≥300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дефектных лотков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≥3 000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лотков без дефекта</a:t>
            </a:r>
            <a:endParaRPr lang="en-US" sz="1300" noProof="1"/>
          </a:p>
        </p:txBody>
      </p:sp>
      <p:sp>
        <p:nvSpPr>
          <p:cNvPr id="9" name="shadow"/>
          <p:cNvSpPr txBox="1"/>
          <p:nvPr/>
        </p:nvSpPr>
        <p:spPr>
          <a:xfrm>
            <a:off x="609600" y="4470400"/>
            <a:ext cx="4635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Сначала теневой режим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- без управления толкателем.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Затем автоматическая отбраковка под наблюдением и приёмка.</a:t>
            </a:r>
            <a:endParaRPr lang="en-US" sz="1200" noProof="1"/>
          </a:p>
        </p:txBody>
      </p:sp>
      <p:sp>
        <p:nvSpPr>
          <p:cNvPr id="10" name="economics-head"/>
          <p:cNvSpPr txBox="1"/>
          <p:nvPr/>
        </p:nvSpPr>
        <p:spPr>
          <a:xfrm>
            <a:off x="609600" y="5486400"/>
            <a:ext cx="463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10" noProof="1">
                <a:solidFill>
                  <a:srgbClr val="657475"/>
                </a:solidFill>
                <a:latin typeface="Arial"/>
                <a:ea typeface="Arial"/>
              </a:rPr>
              <a:t>ЭКОНОМИКА ОТНОСИТЕЛЬНО ТОЧКИ А</a:t>
            </a:r>
            <a:endParaRPr lang="en-US" sz="1000" noProof="1"/>
          </a:p>
        </p:txBody>
      </p:sp>
      <p:sp>
        <p:nvSpPr>
          <p:cNvPr id="11" name="economics"/>
          <p:cNvSpPr txBox="1"/>
          <p:nvPr/>
        </p:nvSpPr>
        <p:spPr>
          <a:xfrm>
            <a:off x="609600" y="5816600"/>
            <a:ext cx="4635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Эффект/мес. = снижение потерь − эксплуатация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Окупаемость = CAPEX / эффект в месяц</a:t>
            </a:r>
            <a:endParaRPr lang="en-US" sz="1200" noProof="1"/>
          </a:p>
        </p:txBody>
      </p:sp>
      <p:sp>
        <p:nvSpPr>
          <p:cNvPr id="12" name="mid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eyJ2aWV3Qm94IjpbMSwzNTRdLCJwb2ludHMiOiIwLDAgMCwzNTQifQ</pptd:line>
              </p:ext>
            </p:extLst>
          </p:nvPr>
        </p:nvSpPr>
        <p:spPr>
          <a:xfrm>
            <a:off x="5651500" y="1854200"/>
            <a:ext cx="12700" cy="4495800"/>
          </a:xfrm>
          <a:custGeom>
            <a:avLst/>
            <a:gdLst/>
            <a:ahLst/>
            <a:cxnLst/>
            <a:rect l="l" t="t" r="r" b="b"/>
            <a:pathLst>
              <a:path w="1" h="354">
                <a:moveTo>
                  <a:pt x="0" y="0"/>
                </a:moveTo>
                <a:lnTo>
                  <a:pt x="0" y="354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3" name="accept-head"/>
          <p:cNvSpPr txBox="1"/>
          <p:nvPr/>
        </p:nvSpPr>
        <p:spPr>
          <a:xfrm>
            <a:off x="6070600" y="1841500"/>
            <a:ext cx="5511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02  ПРЕДЛАГАЕМЫЕ КРИТЕРИИ ПРИЁМКИ</a:t>
            </a:r>
            <a:endParaRPr lang="en-US" sz="1100" noProof="1"/>
          </a:p>
        </p:txBody>
      </p:sp>
      <p:sp>
        <p:nvSpPr>
          <p:cNvPr id="14" name="metric1"/>
          <p:cNvSpPr txBox="1"/>
          <p:nvPr/>
        </p:nvSpPr>
        <p:spPr>
          <a:xfrm>
            <a:off x="6070600" y="2222500"/>
            <a:ext cx="26035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83F40"/>
                </a:solidFill>
                <a:latin typeface="Arial"/>
                <a:ea typeface="Arial"/>
              </a:rPr>
              <a:t>≥99%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полнота обнаружения</a:t>
            </a:r>
            <a:endParaRPr lang="en-US" sz="1200" noProof="1"/>
          </a:p>
        </p:txBody>
      </p:sp>
      <p:sp>
        <p:nvSpPr>
          <p:cNvPr id="15" name="metric2"/>
          <p:cNvSpPr txBox="1"/>
          <p:nvPr/>
        </p:nvSpPr>
        <p:spPr>
          <a:xfrm>
            <a:off x="8978900" y="2222500"/>
            <a:ext cx="26035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83F40"/>
                </a:solidFill>
                <a:latin typeface="Arial"/>
                <a:ea typeface="Arial"/>
              </a:rPr>
              <a:t>≥50%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снижение пропусков vs операторы</a:t>
            </a:r>
            <a:endParaRPr lang="en-US" sz="1200" noProof="1"/>
          </a:p>
        </p:txBody>
      </p:sp>
      <p:sp>
        <p:nvSpPr>
          <p:cNvPr id="16" name="metric3"/>
          <p:cNvSpPr txBox="1"/>
          <p:nvPr/>
        </p:nvSpPr>
        <p:spPr>
          <a:xfrm>
            <a:off x="6070600" y="2997200"/>
            <a:ext cx="26035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83F40"/>
                </a:solidFill>
                <a:latin typeface="Arial"/>
                <a:ea typeface="Arial"/>
              </a:rPr>
              <a:t>≤1%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ложная отбраковка</a:t>
            </a:r>
            <a:endParaRPr lang="en-US" sz="1200" noProof="1"/>
          </a:p>
        </p:txBody>
      </p:sp>
      <p:sp>
        <p:nvSpPr>
          <p:cNvPr id="17" name="metric4"/>
          <p:cNvSpPr txBox="1"/>
          <p:nvPr/>
        </p:nvSpPr>
        <p:spPr>
          <a:xfrm>
            <a:off x="8978900" y="2997200"/>
            <a:ext cx="26035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83F40"/>
                </a:solidFill>
                <a:latin typeface="Arial"/>
                <a:ea typeface="Arial"/>
              </a:rPr>
              <a:t>≥99,5%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успех срабатывания толкателя</a:t>
            </a:r>
            <a:endParaRPr lang="en-US" sz="1200" noProof="1"/>
          </a:p>
        </p:txBody>
      </p:sp>
      <p:sp>
        <p:nvSpPr>
          <p:cNvPr id="18" name="metric5"/>
          <p:cNvSpPr txBox="1"/>
          <p:nvPr/>
        </p:nvSpPr>
        <p:spPr>
          <a:xfrm>
            <a:off x="6070600" y="3771900"/>
            <a:ext cx="26035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83F40"/>
                </a:solidFill>
                <a:latin typeface="Arial"/>
                <a:ea typeface="Arial"/>
              </a:rPr>
              <a:t>≤200 мс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программное решение</a:t>
            </a:r>
            <a:endParaRPr lang="en-US" sz="1200" noProof="1"/>
          </a:p>
        </p:txBody>
      </p:sp>
      <p:sp>
        <p:nvSpPr>
          <p:cNvPr id="19" name="metric6"/>
          <p:cNvSpPr txBox="1"/>
          <p:nvPr/>
        </p:nvSpPr>
        <p:spPr>
          <a:xfrm>
            <a:off x="8978900" y="3771900"/>
            <a:ext cx="26035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83F40"/>
                </a:solidFill>
                <a:latin typeface="Arial"/>
                <a:ea typeface="Arial"/>
              </a:rPr>
              <a:t>≥99% / 0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доступность / остановки по модели</a:t>
            </a:r>
            <a:endParaRPr lang="en-US" sz="1200" noProof="1"/>
          </a:p>
        </p:txBody>
      </p:sp>
      <p:sp>
        <p:nvSpPr>
          <p:cNvPr id="20" name="timeline-head"/>
          <p:cNvSpPr txBox="1"/>
          <p:nvPr/>
        </p:nvSpPr>
        <p:spPr>
          <a:xfrm>
            <a:off x="6070600" y="4635500"/>
            <a:ext cx="5511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10" noProof="1">
                <a:solidFill>
                  <a:srgbClr val="657475"/>
                </a:solidFill>
                <a:latin typeface="Arial"/>
                <a:ea typeface="Arial"/>
              </a:rPr>
              <a:t>ОРИЕНТИРОВОЧНЫЕ СРОКИ</a:t>
            </a:r>
            <a:endParaRPr lang="en-US" sz="1000" noProof="1"/>
          </a:p>
        </p:txBody>
      </p:sp>
      <p:sp>
        <p:nvSpPr>
          <p:cNvPr id="21" name="time1"/>
          <p:cNvSpPr txBox="1"/>
          <p:nvPr/>
        </p:nvSpPr>
        <p:spPr>
          <a:xfrm>
            <a:off x="6070600" y="4953000"/>
            <a:ext cx="15240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172526"/>
                </a:solidFill>
                <a:latin typeface="Arial"/>
                <a:ea typeface="Arial"/>
              </a:rPr>
              <a:t>6–9 недель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172526"/>
                </a:solidFill>
                <a:latin typeface="Arial"/>
                <a:ea typeface="Arial"/>
              </a:rPr>
              <a:t>данные + первая пригодная модель</a:t>
            </a:r>
            <a:endParaRPr lang="en-US" sz="1100" noProof="1"/>
          </a:p>
        </p:txBody>
      </p:sp>
      <p:sp>
        <p:nvSpPr>
          <p:cNvPr id="22" name="time2"/>
          <p:cNvSpPr txBox="1"/>
          <p:nvPr/>
        </p:nvSpPr>
        <p:spPr>
          <a:xfrm>
            <a:off x="7835900" y="4953000"/>
            <a:ext cx="15240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172526"/>
                </a:solidFill>
                <a:latin typeface="Arial"/>
                <a:ea typeface="Arial"/>
              </a:rPr>
              <a:t>12–16 недель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172526"/>
                </a:solidFill>
                <a:latin typeface="Arial"/>
                <a:ea typeface="Arial"/>
              </a:rPr>
              <a:t>пилот с автоматическим толкателем</a:t>
            </a:r>
            <a:endParaRPr lang="en-US" sz="1100" noProof="1"/>
          </a:p>
        </p:txBody>
      </p:sp>
      <p:sp>
        <p:nvSpPr>
          <p:cNvPr id="23" name="time3"/>
          <p:cNvSpPr txBox="1"/>
          <p:nvPr/>
        </p:nvSpPr>
        <p:spPr>
          <a:xfrm>
            <a:off x="9715500" y="4953000"/>
            <a:ext cx="18669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172526"/>
                </a:solidFill>
                <a:latin typeface="Arial"/>
                <a:ea typeface="Arial"/>
              </a:rPr>
              <a:t>16–20 недель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172526"/>
                </a:solidFill>
                <a:latin typeface="Arial"/>
                <a:ea typeface="Arial"/>
              </a:rPr>
              <a:t>промышленная версия после приёмки</a:t>
            </a:r>
            <a:endParaRPr lang="en-US" sz="1100" noProof="1"/>
          </a:p>
        </p:txBody>
      </p:sp>
      <p:sp>
        <p:nvSpPr>
          <p:cNvPr id="24" name="decision-bg"/>
          <p:cNvSpPr/>
          <p:nvPr/>
        </p:nvSpPr>
        <p:spPr>
          <a:xfrm>
            <a:off x="6070600" y="6032500"/>
            <a:ext cx="5511800" cy="3175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25" name="decision"/>
          <p:cNvSpPr txBox="1"/>
          <p:nvPr/>
        </p:nvSpPr>
        <p:spPr>
          <a:xfrm>
            <a:off x="6197600" y="6096000"/>
            <a:ext cx="525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Arial"/>
                <a:ea typeface="Arial"/>
              </a:rPr>
              <a:t>Сравниваем полноту, пропуски и ложные отбраковки - не общую точность</a:t>
            </a:r>
            <a:endParaRPr lang="en-US" sz="1100" noProof="1"/>
          </a:p>
        </p:txBody>
      </p:sp>
      <p:sp>
        <p:nvSpPr>
          <p:cNvPr id="26" name="source"/>
          <p:cNvSpPr txBox="1"/>
          <p:nvPr/>
        </p:nvSpPr>
        <p:spPr>
          <a:xfrm>
            <a:off x="609600" y="6604000"/>
            <a:ext cx="990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Сроки зависят от доступа к линии, участия технолога и достаточного числа дефектных примеров.</a:t>
            </a:r>
            <a:endParaRPr lang="en-US" sz="900" noProof="1"/>
          </a:p>
        </p:txBody>
      </p:sp>
      <p:sp>
        <p:nvSpPr>
          <p:cNvPr id="27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</Words>
  <Application>Microsoft Office PowerPoint</Application>
  <PresentationFormat>Широкоэкранный</PresentationFormat>
  <Paragraphs>92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Georgia</vt:lpstr>
      <vt:lpstr>MiSans</vt:lpstr>
      <vt:lpstr>PPTD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данных и CV-контроль конденсата</dc:title>
  <cp:lastModifiedBy>Tatsyana Patalitsyna</cp:lastModifiedBy>
  <cp:revision>1</cp:revision>
  <dcterms:modified xsi:type="dcterms:W3CDTF">2026-10-29T17:48:55Z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