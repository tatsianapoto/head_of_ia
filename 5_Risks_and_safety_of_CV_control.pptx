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12192000" cy="6858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5 • РИСКИ • ЦЕНА ОШИБКИ И ЗАЩИТА</a:t>
            </a:r>
            <a:endParaRPr lang="en-US" sz="1000" noProof="1"/>
          </a:p>
        </p:txBody>
      </p:sp>
      <p:sp>
        <p:nvSpPr>
          <p:cNvPr id="3" name="principle"/>
          <p:cNvSpPr txBox="1"/>
          <p:nvPr/>
        </p:nvSpPr>
        <p:spPr>
          <a:xfrm>
            <a:off x="8064500" y="304800"/>
            <a:ext cx="35179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Критические решения остаются за человеком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Пропуск дефекта обычно дороже лишней отбраковки,
поэтому приоритет - не выпустить конденсат в магазин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compare1-head"/>
          <p:cNvSpPr txBox="1"/>
          <p:nvPr/>
        </p:nvSpPr>
        <p:spPr>
          <a:xfrm>
            <a:off x="609600" y="18415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ОШИБКА 1 • ДЕФЕКТ ПРОПУЩЕН</a:t>
            </a:r>
            <a:endParaRPr lang="en-US" sz="1100" noProof="1"/>
          </a:p>
        </p:txBody>
      </p:sp>
      <p:sp>
        <p:nvSpPr>
          <p:cNvPr id="7" name="compare1-title"/>
          <p:cNvSpPr txBox="1"/>
          <p:nvPr/>
        </p:nvSpPr>
        <p:spPr>
          <a:xfrm>
            <a:off x="609600" y="2209800"/>
            <a:ext cx="51435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Ошибка доходит до магазина</a:t>
            </a:r>
            <a:endParaRPr lang="en-US" sz="1800" noProof="1"/>
          </a:p>
        </p:txBody>
      </p:sp>
      <p:sp>
        <p:nvSpPr>
          <p:cNvPr id="8" name="compare1-loss"/>
          <p:cNvSpPr txBox="1"/>
          <p:nvPr/>
        </p:nvSpPr>
        <p:spPr>
          <a:xfrm>
            <a:off x="609600" y="2628900"/>
            <a:ext cx="51435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Потери: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сокращённый срок годности, возврат, обратная логистика, утилизация и ущерб репутации.</a:t>
            </a:r>
            <a:endParaRPr lang="en-US" sz="1300" noProof="1"/>
          </a:p>
        </p:txBody>
      </p:sp>
      <p:sp>
        <p:nvSpPr>
          <p:cNvPr id="9" name="compare1-control"/>
          <p:cNvSpPr txBox="1"/>
          <p:nvPr/>
        </p:nvSpPr>
        <p:spPr>
          <a:xfrm>
            <a:off x="609600" y="3429000"/>
            <a:ext cx="51435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083F40"/>
                </a:solidFill>
                <a:latin typeface="Arial"/>
                <a:ea typeface="Arial"/>
              </a:rPr>
              <a:t>Защита:</a:t>
            </a:r>
            <a:r>
              <a:rPr lang="en-US" sz="1300" noProof="1">
                <a:solidFill>
                  <a:srgbClr val="083F40"/>
                </a:solidFill>
                <a:latin typeface="Arial"/>
                <a:ea typeface="Arial"/>
              </a:rPr>
              <a:t> полнота обнаружения ≥99%, выборочный контроль основной линии и разбор каждого подтверждённого пропуска.</a:t>
            </a:r>
            <a:endParaRPr lang="en-US" sz="1300" noProof="1"/>
          </a:p>
        </p:txBody>
      </p:sp>
      <p:sp>
        <p:nvSpPr>
          <p:cNvPr id="10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eyJ2aWV3Qm94IjpbMSwxOTBdLCJwb2ludHMiOiIwLDAgMCwxOTAifQ</pptd:line>
              </p:ext>
            </p:extLst>
          </p:nvPr>
        </p:nvSpPr>
        <p:spPr>
          <a:xfrm>
            <a:off x="6096000" y="1841500"/>
            <a:ext cx="12700" cy="2413000"/>
          </a:xfrm>
          <a:custGeom>
            <a:avLst/>
            <a:gdLst/>
            <a:ahLst/>
            <a:cxnLst/>
            <a:rect l="l" t="t" r="r" b="b"/>
            <a:pathLst>
              <a:path w="1" h="190">
                <a:moveTo>
                  <a:pt x="0" y="0"/>
                </a:moveTo>
                <a:lnTo>
                  <a:pt x="0" y="19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1" name="compare2-head"/>
          <p:cNvSpPr txBox="1"/>
          <p:nvPr/>
        </p:nvSpPr>
        <p:spPr>
          <a:xfrm>
            <a:off x="6477000" y="18415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ОШИБКА 2 • КАЧЕСТВЕННЫЙ ЛОТОК ОТБРАКОВАН</a:t>
            </a:r>
            <a:endParaRPr lang="en-US" sz="1100" noProof="1"/>
          </a:p>
        </p:txBody>
      </p:sp>
      <p:sp>
        <p:nvSpPr>
          <p:cNvPr id="12" name="compare2-title"/>
          <p:cNvSpPr txBox="1"/>
          <p:nvPr/>
        </p:nvSpPr>
        <p:spPr>
          <a:xfrm>
            <a:off x="6477000" y="2209800"/>
            <a:ext cx="51054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Ошибка остаётся внутри производства</a:t>
            </a:r>
            <a:endParaRPr lang="en-US" sz="1800" noProof="1"/>
          </a:p>
        </p:txBody>
      </p:sp>
      <p:sp>
        <p:nvSpPr>
          <p:cNvPr id="13" name="compare2-loss"/>
          <p:cNvSpPr txBox="1"/>
          <p:nvPr/>
        </p:nvSpPr>
        <p:spPr>
          <a:xfrm>
            <a:off x="6477000" y="2628900"/>
            <a:ext cx="5105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Потери: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повторная проверка, переработка, дополнительная нагрузка и возможное списание качественной продукции.</a:t>
            </a:r>
            <a:endParaRPr lang="en-US" sz="1300" noProof="1"/>
          </a:p>
        </p:txBody>
      </p:sp>
      <p:sp>
        <p:nvSpPr>
          <p:cNvPr id="14" name="compare2-control"/>
          <p:cNvSpPr txBox="1"/>
          <p:nvPr/>
        </p:nvSpPr>
        <p:spPr>
          <a:xfrm>
            <a:off x="6477000" y="3429000"/>
            <a:ext cx="51054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083F40"/>
                </a:solidFill>
                <a:latin typeface="Arial"/>
                <a:ea typeface="Arial"/>
              </a:rPr>
              <a:t>Защита:</a:t>
            </a:r>
            <a:r>
              <a:rPr lang="en-US" sz="1300" noProof="1">
                <a:solidFill>
                  <a:srgbClr val="083F40"/>
                </a:solidFill>
                <a:latin typeface="Arial"/>
                <a:ea typeface="Arial"/>
              </a:rPr>
              <a:t> оператор повторно проверяет отбракованное; порог настраивается, ложная отбраковка - не более 1%.</a:t>
            </a:r>
            <a:endParaRPr lang="en-US" sz="1300" noProof="1"/>
          </a:p>
        </p:txBody>
      </p:sp>
      <p:sp>
        <p:nvSpPr>
          <p:cNvPr id="15" name="balance"/>
          <p:cNvSpPr txBox="1"/>
          <p:nvPr/>
        </p:nvSpPr>
        <p:spPr>
          <a:xfrm>
            <a:off x="609600" y="43561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Окончательный баланс порога модели определяется по фактическим затратам из точки А</a:t>
            </a:r>
            <a:endParaRPr lang="en-US" sz="1100" noProof="1"/>
          </a:p>
        </p:txBody>
      </p:sp>
      <p:sp>
        <p:nvSpPr>
          <p:cNvPr id="16" name="map-head"/>
          <p:cNvSpPr txBox="1"/>
          <p:nvPr/>
        </p:nvSpPr>
        <p:spPr>
          <a:xfrm>
            <a:off x="609600" y="48260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ЧТО ЕЩЁ МОЖЕТ ПОЙТИ НЕ ТАК - И КАК ЭТО ОГРАНИЧИВАЕМ</a:t>
            </a:r>
            <a:endParaRPr lang="en-US" sz="1000" noProof="1"/>
          </a:p>
        </p:txBody>
      </p:sp>
      <p:sp>
        <p:nvSpPr>
          <p:cNvPr id="17" name="risk1"/>
          <p:cNvSpPr txBox="1"/>
          <p:nvPr/>
        </p:nvSpPr>
        <p:spPr>
          <a:xfrm>
            <a:off x="609600" y="5194300"/>
            <a:ext cx="33655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Новая крышка / условия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Проверка перед запуском формата; контроль по сменам.</a:t>
            </a:r>
            <a:endParaRPr lang="en-US" sz="1200" noProof="1"/>
          </a:p>
        </p:txBody>
      </p:sp>
      <p:sp>
        <p:nvSpPr>
          <p:cNvPr id="18" name="risk2"/>
          <p:cNvSpPr txBox="1"/>
          <p:nvPr/>
        </p:nvSpPr>
        <p:spPr>
          <a:xfrm>
            <a:off x="4419600" y="5194300"/>
            <a:ext cx="33655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Грязная камера / подсветка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Контроль кадра, предупреждение и регламент очистки.</a:t>
            </a:r>
            <a:endParaRPr lang="en-US" sz="1200" noProof="1"/>
          </a:p>
        </p:txBody>
      </p:sp>
      <p:sp>
        <p:nvSpPr>
          <p:cNvPr id="19" name="risk3"/>
          <p:cNvSpPr txBox="1"/>
          <p:nvPr/>
        </p:nvSpPr>
        <p:spPr>
          <a:xfrm>
            <a:off x="8229600" y="5194300"/>
            <a:ext cx="33528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Отбракован не тот лоток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Энкодер, синхронизация с ПЛК и датчик подтверждения.</a:t>
            </a:r>
            <a:endParaRPr lang="en-US" sz="1200" noProof="1"/>
          </a:p>
        </p:txBody>
      </p:sp>
      <p:sp>
        <p:nvSpPr>
          <p:cNvPr id="20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1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Отдельный контроль: изменения модели утверждаются, права разграничены, каждая версия и действие фиксируются в журнале</a:t>
            </a:r>
            <a:endParaRPr lang="en-US" sz="1100" noProof="1"/>
          </a:p>
        </p:txBody>
      </p:sp>
      <p:sp>
        <p:nvSpPr>
          <p:cNvPr id="22" name="source"/>
          <p:cNvSpPr txBox="1"/>
          <p:nvPr/>
        </p:nvSpPr>
        <p:spPr>
          <a:xfrm>
            <a:off x="609600" y="66040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5. «Обычно дороже» - рабочая оценка; точное соотношение подтверждается фактическими затратами.</a:t>
            </a:r>
            <a:endParaRPr lang="en-US" sz="900" noProof="1"/>
          </a:p>
        </p:txBody>
      </p:sp>
      <p:sp>
        <p:nvSpPr>
          <p:cNvPr id="23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1</a:t>
            </a: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2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5 • БЕЗОПАСНОСТЬ • ОТКАЗ И КОНТРОЛЬ</a:t>
            </a:r>
            <a:endParaRPr lang="en-US" sz="1000" noProof="1"/>
          </a:p>
        </p:txBody>
      </p:sp>
      <p:sp>
        <p:nvSpPr>
          <p:cNvPr id="3" name="local"/>
          <p:cNvSpPr txBox="1"/>
          <p:nvPr/>
        </p:nvSpPr>
        <p:spPr>
          <a:xfrm>
            <a:off x="8255000" y="3048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Данные остаются в локальном контуре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При отказе качество не выпускается из-под контроля:
работает ручной регламент, а запуск подтверждает человек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failure-head"/>
          <p:cNvSpPr txBox="1"/>
          <p:nvPr/>
        </p:nvSpPr>
        <p:spPr>
          <a:xfrm>
            <a:off x="609600" y="1841500"/>
            <a:ext cx="698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РЕЗЕРВНЫЙ СЦЕНАРИЙ ПРИ ОТКАЗЕ</a:t>
            </a:r>
            <a:endParaRPr lang="en-US" sz="1100" noProof="1"/>
          </a:p>
        </p:txBody>
      </p:sp>
      <p:sp>
        <p:nvSpPr>
          <p:cNvPr id="7" name="step1"/>
          <p:cNvSpPr txBox="1"/>
          <p:nvPr/>
        </p:nvSpPr>
        <p:spPr>
          <a:xfrm>
            <a:off x="609600" y="2235200"/>
            <a:ext cx="215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01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Сигнал и фиксация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Предупреждение и время отказа.</a:t>
            </a:r>
            <a:endParaRPr lang="en-US" sz="1200" noProof="1"/>
          </a:p>
        </p:txBody>
      </p:sp>
      <p:sp>
        <p:nvSpPr>
          <p:cNvPr id="8" name="step2"/>
          <p:cNvSpPr txBox="1"/>
          <p:nvPr/>
        </p:nvSpPr>
        <p:spPr>
          <a:xfrm>
            <a:off x="3022600" y="2235200"/>
            <a:ext cx="215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02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Ручной контроль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Два оператора по регламенту точки А.</a:t>
            </a:r>
            <a:endParaRPr lang="en-US" sz="1200" noProof="1"/>
          </a:p>
        </p:txBody>
      </p:sp>
      <p:sp>
        <p:nvSpPr>
          <p:cNvPr id="9" name="step3"/>
          <p:cNvSpPr txBox="1"/>
          <p:nvPr/>
        </p:nvSpPr>
        <p:spPr>
          <a:xfrm>
            <a:off x="5435600" y="2235200"/>
            <a:ext cx="215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03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Блок отгрузки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Непроверенная продукция не уходит.</a:t>
            </a:r>
            <a:endParaRPr lang="en-US" sz="1200" noProof="1"/>
          </a:p>
        </p:txBody>
      </p:sp>
      <p:sp>
        <p:nvSpPr>
          <p:cNvPr id="10" name="step4"/>
          <p:cNvSpPr txBox="1"/>
          <p:nvPr/>
        </p:nvSpPr>
        <p:spPr>
          <a:xfrm>
            <a:off x="7848600" y="2235200"/>
            <a:ext cx="1778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04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Восстановление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Инженер проверяет весь контур.</a:t>
            </a:r>
            <a:endParaRPr lang="en-US" sz="1200" noProof="1"/>
          </a:p>
        </p:txBody>
      </p:sp>
      <p:sp>
        <p:nvSpPr>
          <p:cNvPr id="11" name="step5"/>
          <p:cNvSpPr txBox="1"/>
          <p:nvPr/>
        </p:nvSpPr>
        <p:spPr>
          <a:xfrm>
            <a:off x="9880600" y="2235200"/>
            <a:ext cx="17018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000" b="1" noProof="1">
                <a:solidFill>
                  <a:srgbClr val="0B5D5E"/>
                </a:solidFill>
                <a:latin typeface="Arial"/>
                <a:ea typeface="Arial"/>
              </a:rPr>
              <a:t>05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Тест и запуск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Контрольные лотки; разрешение производства.</a:t>
            </a:r>
            <a:endParaRPr lang="en-US" sz="1200" noProof="1"/>
          </a:p>
        </p:txBody>
      </p:sp>
      <p:sp>
        <p:nvSpPr>
          <p:cNvPr id="12" name="stop-rule"/>
          <p:cNvSpPr txBox="1"/>
          <p:nvPr/>
        </p:nvSpPr>
        <p:spPr>
          <a:xfrm>
            <a:off x="609600" y="3632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657475"/>
                </a:solidFill>
                <a:latin typeface="Arial"/>
                <a:ea typeface="Arial"/>
              </a:rPr>
              <a:t>Остановка линии - только по производственному регламенту</a:t>
            </a: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, если безопасный ручной контроль невозможен. Это решение принимает человек, а не модель.</a:t>
            </a:r>
            <a:endParaRPr lang="en-US" sz="1200" noProof="1"/>
          </a:p>
        </p:txBody>
      </p:sp>
      <p:sp>
        <p:nvSpPr>
          <p:cNvPr id="13" name="section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1783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4" name="security-head"/>
          <p:cNvSpPr txBox="1"/>
          <p:nvPr/>
        </p:nvSpPr>
        <p:spPr>
          <a:xfrm>
            <a:off x="609600" y="42545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ДАННЫЕ И МОДЕЛЬ ПОД КОНТРОЛЕМ</a:t>
            </a:r>
            <a:endParaRPr lang="en-US" sz="1100" noProof="1"/>
          </a:p>
        </p:txBody>
      </p:sp>
      <p:sp>
        <p:nvSpPr>
          <p:cNvPr id="15" name="security"/>
          <p:cNvSpPr txBox="1"/>
          <p:nvPr/>
        </p:nvSpPr>
        <p:spPr>
          <a:xfrm>
            <a:off x="609600" y="4555787"/>
            <a:ext cx="5143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изображения и производственные параметры не передаются внешним AI-сервисам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выгрузка данных - только по согласованной процедуре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модель не меняет собственные пороги, правила и журнал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самостоятельное дообучение, остановка линии, списание партии и кадровые решения запрещены</a:t>
            </a:r>
            <a:endParaRPr lang="en-US" sz="1200" noProof="1"/>
          </a:p>
        </p:txBody>
      </p:sp>
      <p:sp>
        <p:nvSpPr>
          <p:cNvPr id="16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eyJ2aWV3Qm94IjpbMSwxMzRdLCJwb2ludHMiOiIwLDAgMCwxMzQifQ</pptd:line>
              </p:ext>
            </p:extLst>
          </p:nvPr>
        </p:nvSpPr>
        <p:spPr>
          <a:xfrm>
            <a:off x="6096000" y="4267200"/>
            <a:ext cx="12700" cy="1701800"/>
          </a:xfrm>
          <a:custGeom>
            <a:avLst/>
            <a:gdLst/>
            <a:ahLst/>
            <a:cxnLst/>
            <a:rect l="l" t="t" r="r" b="b"/>
            <a:pathLst>
              <a:path w="1" h="134">
                <a:moveTo>
                  <a:pt x="0" y="0"/>
                </a:moveTo>
                <a:lnTo>
                  <a:pt x="0" y="13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7" name="people-head"/>
          <p:cNvSpPr txBox="1"/>
          <p:nvPr/>
        </p:nvSpPr>
        <p:spPr>
          <a:xfrm>
            <a:off x="6477000" y="42545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03  ЛЮДИ: НОВАЯ РОЛЬ, НЕ УВОЛЬНЕНИЕ</a:t>
            </a:r>
            <a:endParaRPr lang="en-US" sz="1100" noProof="1"/>
          </a:p>
        </p:txBody>
      </p:sp>
      <p:sp>
        <p:nvSpPr>
          <p:cNvPr id="18" name="people"/>
          <p:cNvSpPr txBox="1"/>
          <p:nvPr/>
        </p:nvSpPr>
        <p:spPr>
          <a:xfrm>
            <a:off x="6477000" y="4551098"/>
            <a:ext cx="51054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операторы переходят на контроль исключений, выборочную проверку и поддержку поста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данные используются для улучшения процесса, а не для наказания сотрудников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операторы участвуют в пилоте; обучение и поддержка - на первых сменах</a:t>
            </a:r>
            <a:endParaRPr lang="en-US" sz="1200" noProof="1"/>
          </a:p>
        </p:txBody>
      </p:sp>
      <p:sp>
        <p:nvSpPr>
          <p:cNvPr id="19" name="result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0" name="result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Итог: замкнутый контур, защищённые данные, ручной резерв и утверждение всех критических решений человеком</a:t>
            </a:r>
            <a:endParaRPr lang="en-US" sz="1100" noProof="1"/>
          </a:p>
        </p:txBody>
      </p:sp>
      <p:sp>
        <p:nvSpPr>
          <p:cNvPr id="21" name="source"/>
          <p:cNvSpPr txBox="1"/>
          <p:nvPr/>
        </p:nvSpPr>
        <p:spPr>
          <a:xfrm>
            <a:off x="609600" y="66040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5. Увольнение не является условием внедрения; проект перераспределяет работу операторов.</a:t>
            </a:r>
            <a:endParaRPr lang="en-US" sz="900" noProof="1"/>
          </a:p>
        </p:txBody>
      </p:sp>
      <p:sp>
        <p:nvSpPr>
          <p:cNvPr id="22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438</Words>
  <Application>Microsoft Office PowerPoint</Application>
  <PresentationFormat>Широкоэкранный</PresentationFormat>
  <Paragraphs>54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Georgia</vt:lpstr>
      <vt:lpstr>MiSans</vt:lpstr>
      <vt:lpstr>PPTD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Риски и безопасность CV-контроля</dc:title>
  <cp:lastModifiedBy>Tatsyana Patalitsyna</cp:lastModifiedBy>
  <cp:revision>3</cp:revision>
  <dcterms:modified xsi:type="dcterms:W3CDTF">2026-10-25T18:29:33Z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