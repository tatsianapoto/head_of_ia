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12192000" cy="6858000"/>
  <p:embeddedFontLst>
    <p:embeddedFont>
      <p:font typeface="Manrope" panose="020B0604020202020204" charset="0"/>
      <p:regular r:id="rId14"/>
    </p:embeddedFont>
    <p:embeddedFont>
      <p:font typeface="PT Serif" panose="020B0604020202020204" charset="-52"/>
      <p:regular r:id="rId15"/>
    </p:embeddedFont>
  </p:embeddedFontLst>
  <p:defaultTextStyle>
    <a:defPPr>
      <a:defRPr lang="ru-BY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odandbeverage.business/featured-article/beyond-the-reject-gate-how-ai-vision-is-turning-quality-control-into-operational-intelligence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3C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hoto"/>
          <p:cNvPicPr/>
          <p:nvPr/>
        </p:nvPicPr>
        <p:blipFill>
          <a:blip r:embed="rId2"/>
          <a:srcRect l="8000" r="2000"/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  <a:ln>
            <a:noFill/>
          </a:ln>
        </p:spPr>
      </p:pic>
      <p:sp>
        <p:nvSpPr>
          <p:cNvPr id="3" name="photo-shade"/>
          <p:cNvSpPr/>
          <p:nvPr/>
        </p:nvSpPr>
        <p:spPr>
          <a:xfrm>
            <a:off x="5334000" y="0"/>
            <a:ext cx="6858000" cy="6858000"/>
          </a:xfrm>
          <a:prstGeom prst="rect">
            <a:avLst/>
          </a:prstGeom>
          <a:solidFill>
            <a:srgbClr val="173C34">
              <a:alpha val="21961"/>
            </a:srgbClr>
          </a:solidFill>
          <a:ln>
            <a:noFill/>
          </a:ln>
        </p:spPr>
      </p:sp>
      <p:sp>
        <p:nvSpPr>
          <p:cNvPr id="4" name="left-panel"/>
          <p:cNvSpPr/>
          <p:nvPr/>
        </p:nvSpPr>
        <p:spPr>
          <a:xfrm>
            <a:off x="0" y="0"/>
            <a:ext cx="5969000" cy="6858000"/>
          </a:xfrm>
          <a:prstGeom prst="rect">
            <a:avLst/>
          </a:prstGeom>
          <a:solidFill>
            <a:srgbClr val="173C34"/>
          </a:solidFill>
          <a:ln>
            <a:noFill/>
          </a:ln>
        </p:spPr>
        <p:txBody>
          <a:bodyPr/>
          <a:lstStyle/>
          <a:p>
            <a:endParaRPr lang="ru-BY" dirty="0"/>
          </a:p>
        </p:txBody>
      </p:sp>
      <p:sp>
        <p:nvSpPr>
          <p:cNvPr id="5" name="accent"/>
          <p:cNvSpPr/>
          <p:nvPr/>
        </p:nvSpPr>
        <p:spPr>
          <a:xfrm>
            <a:off x="609600" y="863600"/>
            <a:ext cx="685800" cy="50800"/>
          </a:xfrm>
          <a:prstGeom prst="rect">
            <a:avLst/>
          </a:prstGeom>
          <a:solidFill>
            <a:srgbClr val="C2623E"/>
          </a:solidFill>
          <a:ln>
            <a:noFill/>
          </a:ln>
        </p:spPr>
      </p:sp>
      <p:sp>
        <p:nvSpPr>
          <p:cNvPr id="6" name="kicker"/>
          <p:cNvSpPr txBox="1"/>
          <p:nvPr/>
        </p:nvSpPr>
        <p:spPr>
          <a:xfrm>
            <a:off x="609600" y="50800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130" noProof="1">
                <a:solidFill>
                  <a:srgbClr val="D8E1DA"/>
                </a:solidFill>
                <a:latin typeface="Manrope"/>
                <a:ea typeface="Manrope"/>
              </a:rPr>
              <a:t>ФИНАЛЬНЫЙ ПРОЕКТ · HEAD OF AI</a:t>
            </a:r>
            <a:endParaRPr lang="en-US" sz="900" noProof="1"/>
          </a:p>
        </p:txBody>
      </p:sp>
      <p:sp>
        <p:nvSpPr>
          <p:cNvPr id="7" name="title"/>
          <p:cNvSpPr txBox="1"/>
          <p:nvPr/>
        </p:nvSpPr>
        <p:spPr>
          <a:xfrm>
            <a:off x="609600" y="1270000"/>
            <a:ext cx="46355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8000"/>
              </a:lnSpc>
            </a:pPr>
            <a:r>
              <a:rPr lang="en-US" sz="3800" b="1" noProof="1">
                <a:solidFill>
                  <a:srgbClr val="FFFFFF"/>
                </a:solidFill>
                <a:latin typeface="PT Serif"/>
                <a:ea typeface="PT Serif"/>
              </a:rPr>
              <a:t>Автоматизация
контроля качества
на производстве</a:t>
            </a:r>
            <a:endParaRPr lang="en-US" sz="3800" noProof="1"/>
          </a:p>
        </p:txBody>
      </p:sp>
      <p:sp>
        <p:nvSpPr>
          <p:cNvPr id="8" name="subtitle"/>
          <p:cNvSpPr txBox="1"/>
          <p:nvPr/>
        </p:nvSpPr>
        <p:spPr>
          <a:xfrm>
            <a:off x="609600" y="3517900"/>
            <a:ext cx="4343400" cy="889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700" noProof="1">
                <a:solidFill>
                  <a:srgbClr val="E2E8E2"/>
                </a:solidFill>
                <a:latin typeface="Manrope"/>
                <a:ea typeface="Manrope"/>
              </a:rPr>
              <a:t>Машинное зрение для выявления
конденсата на крышках лотков -
без остановки упаковочной линии</a:t>
            </a:r>
            <a:endParaRPr lang="en-US" sz="1700" noProof="1"/>
          </a:p>
        </p:txBody>
      </p:sp>
      <p:sp>
        <p:nvSpPr>
          <p:cNvPr id="9" name="divide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eyJ2aWV3Qm94IjpbMzMwLDFdLCJwb2ludHMiOiIwLDAgMzMwLDAifQ</pptd:line>
              </p:ext>
            </p:extLst>
          </p:nvPr>
        </p:nvSpPr>
        <p:spPr>
          <a:xfrm>
            <a:off x="609600" y="4749800"/>
            <a:ext cx="4191000" cy="12700"/>
          </a:xfrm>
          <a:custGeom>
            <a:avLst/>
            <a:gdLst/>
            <a:ahLst/>
            <a:cxnLst/>
            <a:rect l="l" t="t" r="r" b="b"/>
            <a:pathLst>
              <a:path w="330" h="1">
                <a:moveTo>
                  <a:pt x="0" y="0"/>
                </a:moveTo>
                <a:lnTo>
                  <a:pt x="330" y="0"/>
                </a:lnTo>
              </a:path>
            </a:pathLst>
          </a:custGeom>
          <a:noFill/>
          <a:ln w="12700" cap="rnd">
            <a:solidFill>
              <a:srgbClr val="769086"/>
            </a:solidFill>
            <a:round/>
          </a:ln>
        </p:spPr>
      </p:sp>
      <p:sp>
        <p:nvSpPr>
          <p:cNvPr id="10" name="status-label"/>
          <p:cNvSpPr txBox="1"/>
          <p:nvPr/>
        </p:nvSpPr>
        <p:spPr>
          <a:xfrm>
            <a:off x="609600" y="5003800"/>
            <a:ext cx="41910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120" noProof="1">
                <a:solidFill>
                  <a:srgbClr val="BFCFC6"/>
                </a:solidFill>
                <a:latin typeface="Manrope"/>
                <a:ea typeface="Manrope"/>
              </a:rPr>
              <a:t>УПРАВЛЕНЧЕСКИЙ ФОКУС</a:t>
            </a:r>
            <a:endParaRPr lang="en-US" sz="900" noProof="1"/>
          </a:p>
        </p:txBody>
      </p:sp>
      <p:sp>
        <p:nvSpPr>
          <p:cNvPr id="11" name="status"/>
          <p:cNvSpPr txBox="1"/>
          <p:nvPr/>
        </p:nvSpPr>
        <p:spPr>
          <a:xfrm>
            <a:off x="609600" y="5321300"/>
            <a:ext cx="4445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FFFFFF"/>
                </a:solidFill>
                <a:latin typeface="Manrope"/>
                <a:ea typeface="Manrope"/>
              </a:rPr>
              <a:t>Потери · проверка результата · стоимость ·
условия масштабирования</a:t>
            </a:r>
            <a:endParaRPr lang="en-US" sz="1300" noProof="1"/>
          </a:p>
        </p:txBody>
      </p:sp>
      <p:sp>
        <p:nvSpPr>
          <p:cNvPr id="12" name="photo-caption"/>
          <p:cNvSpPr txBox="1"/>
          <p:nvPr/>
        </p:nvSpPr>
        <p:spPr>
          <a:xfrm>
            <a:off x="6527800" y="64770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750" noProof="1">
                <a:solidFill>
                  <a:srgbClr val="FFFFFF">
                    <a:alpha val="85098"/>
                  </a:srgbClr>
                </a:solidFill>
                <a:latin typeface="Manrope"/>
                <a:ea typeface="Manrope"/>
              </a:rPr>
              <a:t>Иллюстрация: </a:t>
            </a:r>
            <a:r>
              <a:rPr lang="en-US" sz="750" u="sng" noProof="1">
                <a:solidFill>
                  <a:srgbClr val="0563C1"/>
                </a:solidFill>
                <a:latin typeface="Manrope"/>
                <a:ea typeface="Manrope"/>
                <a:hlinkClick r:id="rId3"/>
              </a:rPr>
              <a:t>Food and Beverage Business</a:t>
            </a:r>
            <a:endParaRPr lang="en-US" sz="75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175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130" noProof="1">
                <a:solidFill>
                  <a:srgbClr val="315B50"/>
                </a:solidFill>
                <a:latin typeface="Manrope"/>
                <a:ea typeface="Manrope"/>
              </a:rPr>
              <a:t>ТОЧКА А · ПРОИЗВОДСТВЕННЫЙ ПРОЦЕСС ДО ВНЕДРЕНИЯ ИИ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73100"/>
            <a:ext cx="10795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8000"/>
              </a:lnSpc>
            </a:pPr>
            <a:r>
              <a:rPr lang="ru-RU" sz="2900" b="1" noProof="1">
                <a:solidFill>
                  <a:srgbClr val="172520"/>
                </a:solidFill>
                <a:latin typeface="PT Serif"/>
                <a:ea typeface="PT Serif"/>
              </a:rPr>
              <a:t>Контроль</a:t>
            </a:r>
            <a:r>
              <a:rPr lang="en-US" sz="2900" b="1" noProof="1">
                <a:solidFill>
                  <a:srgbClr val="172520"/>
                </a:solidFill>
                <a:latin typeface="PT Serif"/>
                <a:ea typeface="PT Serif"/>
              </a:rPr>
              <a:t> </a:t>
            </a:r>
            <a:r>
              <a:rPr lang="ru-RU" sz="2900" b="1" noProof="1">
                <a:solidFill>
                  <a:srgbClr val="172520"/>
                </a:solidFill>
                <a:latin typeface="PT Serif"/>
                <a:ea typeface="PT Serif"/>
              </a:rPr>
              <a:t>конденсата</a:t>
            </a:r>
            <a:r>
              <a:rPr lang="en-US" sz="2900" b="1" noProof="1">
                <a:solidFill>
                  <a:srgbClr val="172520"/>
                </a:solidFill>
                <a:latin typeface="PT Serif"/>
                <a:ea typeface="PT Serif"/>
              </a:rPr>
              <a:t> контролируют два оператора при поступлении лотка каждые 1,2 секунды</a:t>
            </a:r>
            <a:endParaRPr lang="en-US" sz="29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676400"/>
            <a:ext cx="584200" cy="38100"/>
          </a:xfrm>
          <a:prstGeom prst="rect">
            <a:avLst/>
          </a:prstGeom>
          <a:solidFill>
            <a:srgbClr val="C2623E"/>
          </a:solidFill>
          <a:ln>
            <a:noFill/>
          </a:ln>
        </p:spPr>
      </p:sp>
      <p:sp>
        <p:nvSpPr>
          <p:cNvPr id="5" name="process-label"/>
          <p:cNvSpPr txBox="1"/>
          <p:nvPr/>
        </p:nvSpPr>
        <p:spPr>
          <a:xfrm>
            <a:off x="609600" y="19812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80" noProof="1">
                <a:solidFill>
                  <a:srgbClr val="315B50"/>
                </a:solidFill>
                <a:latin typeface="Manrope"/>
                <a:ea typeface="Manrope"/>
              </a:rPr>
              <a:t>ТРИ ЦЕХА · ОТ ИЗГОТОВЛЕНИЯ ДО МАГАЗИНА</a:t>
            </a:r>
            <a:endParaRPr lang="en-US" sz="1000" noProof="1"/>
          </a:p>
        </p:txBody>
      </p:sp>
      <p:sp>
        <p:nvSpPr>
          <p:cNvPr id="6" name="s1-circle"/>
          <p:cNvSpPr/>
          <p:nvPr/>
        </p:nvSpPr>
        <p:spPr>
          <a:xfrm>
            <a:off x="762000" y="2489200"/>
            <a:ext cx="812800" cy="812800"/>
          </a:xfrm>
          <a:prstGeom prst="ellipse">
            <a:avLst/>
          </a:prstGeom>
          <a:solidFill>
            <a:srgbClr val="DCE3DA"/>
          </a:solidFill>
          <a:ln>
            <a:noFill/>
          </a:ln>
        </p:spPr>
      </p:sp>
      <p:sp>
        <p:nvSpPr>
          <p:cNvPr id="7" name="s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eyJpY29uTmFtZSI6ImZhczp0ZW1wZXJhdHVyZS1sb3cifQ</pptd:icon>
              </p:ext>
            </p:extLst>
          </p:nvPr>
        </p:nvSpPr>
        <p:spPr>
          <a:xfrm>
            <a:off x="977900" y="2692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96" y="96"/>
                </a:moveTo>
                <a:cubicBezTo>
                  <a:pt x="96" y="43"/>
                  <a:pt x="139" y="0"/>
                  <a:pt x="192" y="0"/>
                </a:cubicBezTo>
                <a:cubicBezTo>
                  <a:pt x="245" y="0"/>
                  <a:pt x="288" y="43"/>
                  <a:pt x="288" y="96"/>
                </a:cubicBezTo>
                <a:lnTo>
                  <a:pt x="288" y="261"/>
                </a:lnTo>
                <a:cubicBezTo>
                  <a:pt x="318" y="287"/>
                  <a:pt x="336" y="325"/>
                  <a:pt x="336" y="368"/>
                </a:cubicBezTo>
                <a:cubicBezTo>
                  <a:pt x="336" y="448"/>
                  <a:pt x="272" y="512"/>
                  <a:pt x="192" y="512"/>
                </a:cubicBezTo>
                <a:cubicBezTo>
                  <a:pt x="113" y="512"/>
                  <a:pt x="48" y="448"/>
                  <a:pt x="48" y="368"/>
                </a:cubicBezTo>
                <a:cubicBezTo>
                  <a:pt x="48" y="325"/>
                  <a:pt x="67" y="287"/>
                  <a:pt x="96" y="261"/>
                </a:cubicBezTo>
                <a:lnTo>
                  <a:pt x="96" y="96"/>
                </a:lnTo>
                <a:close/>
                <a:moveTo>
                  <a:pt x="192" y="432"/>
                </a:moveTo>
                <a:cubicBezTo>
                  <a:pt x="227" y="432"/>
                  <a:pt x="256" y="403"/>
                  <a:pt x="256" y="368"/>
                </a:cubicBezTo>
                <a:cubicBezTo>
                  <a:pt x="256" y="341"/>
                  <a:pt x="240" y="318"/>
                  <a:pt x="216" y="309"/>
                </a:cubicBezTo>
                <a:lnTo>
                  <a:pt x="216" y="280"/>
                </a:lnTo>
                <a:cubicBezTo>
                  <a:pt x="216" y="267"/>
                  <a:pt x="205" y="256"/>
                  <a:pt x="192" y="256"/>
                </a:cubicBezTo>
                <a:cubicBezTo>
                  <a:pt x="179" y="256"/>
                  <a:pt x="168" y="267"/>
                  <a:pt x="168" y="280"/>
                </a:cubicBezTo>
                <a:lnTo>
                  <a:pt x="168" y="309"/>
                </a:lnTo>
                <a:cubicBezTo>
                  <a:pt x="145" y="318"/>
                  <a:pt x="128" y="341"/>
                  <a:pt x="128" y="368"/>
                </a:cubicBezTo>
                <a:cubicBezTo>
                  <a:pt x="128" y="403"/>
                  <a:pt x="157" y="432"/>
                  <a:pt x="192" y="432"/>
                </a:cubicBezTo>
                <a:close/>
              </a:path>
              <a:path w="512" h="512">
                <a:moveTo>
                  <a:pt x="352" y="80"/>
                </a:moveTo>
                <a:cubicBezTo>
                  <a:pt x="352" y="36"/>
                  <a:pt x="388" y="0"/>
                  <a:pt x="432" y="0"/>
                </a:cubicBezTo>
                <a:cubicBezTo>
                  <a:pt x="476" y="0"/>
                  <a:pt x="512" y="36"/>
                  <a:pt x="512" y="80"/>
                </a:cubicBezTo>
                <a:cubicBezTo>
                  <a:pt x="512" y="124"/>
                  <a:pt x="476" y="160"/>
                  <a:pt x="432" y="160"/>
                </a:cubicBezTo>
                <a:cubicBezTo>
                  <a:pt x="388" y="160"/>
                  <a:pt x="352" y="124"/>
                  <a:pt x="352" y="80"/>
                </a:cubicBezTo>
                <a:close/>
                <a:moveTo>
                  <a:pt x="464" y="80"/>
                </a:moveTo>
                <a:cubicBezTo>
                  <a:pt x="464" y="62"/>
                  <a:pt x="450" y="48"/>
                  <a:pt x="432" y="48"/>
                </a:cubicBezTo>
                <a:cubicBezTo>
                  <a:pt x="414" y="48"/>
                  <a:pt x="400" y="62"/>
                  <a:pt x="400" y="80"/>
                </a:cubicBezTo>
                <a:cubicBezTo>
                  <a:pt x="400" y="98"/>
                  <a:pt x="414" y="112"/>
                  <a:pt x="432" y="112"/>
                </a:cubicBezTo>
                <a:cubicBezTo>
                  <a:pt x="450" y="112"/>
                  <a:pt x="464" y="98"/>
                  <a:pt x="464" y="80"/>
                </a:cubicBezTo>
                <a:close/>
              </a:path>
            </a:pathLst>
          </a:custGeom>
          <a:solidFill>
            <a:srgbClr val="173C34"/>
          </a:solidFill>
          <a:ln>
            <a:noFill/>
          </a:ln>
        </p:spPr>
      </p:sp>
      <p:sp>
        <p:nvSpPr>
          <p:cNvPr id="8" name="s1-title"/>
          <p:cNvSpPr txBox="1"/>
          <p:nvPr/>
        </p:nvSpPr>
        <p:spPr>
          <a:xfrm>
            <a:off x="118012" y="3505200"/>
            <a:ext cx="2100775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/>
            <a:r>
              <a:rPr lang="en-US" sz="1300" b="1" noProof="1">
                <a:solidFill>
                  <a:srgbClr val="172520"/>
                </a:solidFill>
                <a:latin typeface="Manrope"/>
                <a:ea typeface="Manrope"/>
              </a:rPr>
              <a:t>Изготовление готовой продукции</a:t>
            </a:r>
            <a:endParaRPr lang="en-US" sz="1300" noProof="1"/>
          </a:p>
        </p:txBody>
      </p:sp>
      <p:sp>
        <p:nvSpPr>
          <p:cNvPr id="9" name="s1-note"/>
          <p:cNvSpPr txBox="1"/>
          <p:nvPr/>
        </p:nvSpPr>
        <p:spPr>
          <a:xfrm>
            <a:off x="444500" y="4076700"/>
            <a:ext cx="1447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noProof="1">
                <a:solidFill>
                  <a:srgbClr val="68746F"/>
                </a:solidFill>
                <a:latin typeface="Manrope"/>
                <a:ea typeface="Manrope"/>
              </a:rPr>
              <a:t>Охлаждение продукции перед упаковкой</a:t>
            </a:r>
            <a:endParaRPr lang="en-US" sz="1000" noProof="1"/>
          </a:p>
        </p:txBody>
      </p:sp>
      <p:sp>
        <p:nvSpPr>
          <p:cNvPr id="10" name="a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eyJ2aWV3Qm94IjpbODEsMl0sInBvaW50cyI6IjAsMSA4MSwxIn0</pptd:line>
              </p:ext>
            </p:extLst>
          </p:nvPr>
        </p:nvSpPr>
        <p:spPr>
          <a:xfrm>
            <a:off x="1917700" y="2882900"/>
            <a:ext cx="1028700" cy="25400"/>
          </a:xfrm>
          <a:custGeom>
            <a:avLst/>
            <a:gdLst/>
            <a:ahLst/>
            <a:cxnLst/>
            <a:rect l="l" t="t" r="r" b="b"/>
            <a:pathLst>
              <a:path w="81" h="2">
                <a:moveTo>
                  <a:pt x="0" y="1"/>
                </a:moveTo>
                <a:lnTo>
                  <a:pt x="81" y="1"/>
                </a:lnTo>
              </a:path>
            </a:pathLst>
          </a:custGeom>
          <a:noFill/>
          <a:ln w="25400" cap="rnd">
            <a:solidFill>
              <a:srgbClr val="173C34"/>
            </a:solidFill>
            <a:round/>
            <a:tailEnd type="stealth"/>
          </a:ln>
        </p:spPr>
      </p:sp>
      <p:sp>
        <p:nvSpPr>
          <p:cNvPr id="11" name="s2-circle"/>
          <p:cNvSpPr/>
          <p:nvPr/>
        </p:nvSpPr>
        <p:spPr>
          <a:xfrm>
            <a:off x="3302000" y="2489200"/>
            <a:ext cx="812800" cy="812800"/>
          </a:xfrm>
          <a:prstGeom prst="ellipse">
            <a:avLst/>
          </a:prstGeom>
          <a:solidFill>
            <a:srgbClr val="E9C7B7"/>
          </a:solidFill>
          <a:ln>
            <a:noFill/>
          </a:ln>
        </p:spPr>
      </p:sp>
      <p:sp>
        <p:nvSpPr>
          <p:cNvPr id="12" name="s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eyJpY29uTmFtZSI6ImZhczpib3hlcy1zdGFja2VkIn0</pptd:icon>
              </p:ext>
            </p:extLst>
          </p:nvPr>
        </p:nvSpPr>
        <p:spPr>
          <a:xfrm>
            <a:off x="3517900" y="2692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24" y="0"/>
                </a:moveTo>
                <a:lnTo>
                  <a:pt x="224" y="64"/>
                </a:lnTo>
                <a:cubicBezTo>
                  <a:pt x="224" y="73"/>
                  <a:pt x="231" y="80"/>
                  <a:pt x="240" y="80"/>
                </a:cubicBezTo>
                <a:lnTo>
                  <a:pt x="272" y="80"/>
                </a:lnTo>
                <a:cubicBezTo>
                  <a:pt x="281" y="80"/>
                  <a:pt x="288" y="73"/>
                  <a:pt x="288" y="64"/>
                </a:cubicBezTo>
                <a:lnTo>
                  <a:pt x="288" y="0"/>
                </a:lnTo>
                <a:lnTo>
                  <a:pt x="320" y="0"/>
                </a:lnTo>
                <a:cubicBezTo>
                  <a:pt x="355" y="0"/>
                  <a:pt x="384" y="29"/>
                  <a:pt x="384" y="64"/>
                </a:cubicBezTo>
                <a:lnTo>
                  <a:pt x="384" y="192"/>
                </a:lnTo>
                <a:cubicBezTo>
                  <a:pt x="384" y="198"/>
                  <a:pt x="383" y="203"/>
                  <a:pt x="382" y="208"/>
                </a:cubicBezTo>
                <a:lnTo>
                  <a:pt x="130" y="208"/>
                </a:lnTo>
                <a:cubicBezTo>
                  <a:pt x="129" y="203"/>
                  <a:pt x="128" y="198"/>
                  <a:pt x="128" y="192"/>
                </a:cubicBezTo>
                <a:lnTo>
                  <a:pt x="128" y="64"/>
                </a:lnTo>
                <a:cubicBezTo>
                  <a:pt x="128" y="29"/>
                  <a:pt x="157" y="0"/>
                  <a:pt x="192" y="0"/>
                </a:cubicBezTo>
                <a:lnTo>
                  <a:pt x="224" y="0"/>
                </a:lnTo>
                <a:close/>
              </a:path>
              <a:path w="512" h="512">
                <a:moveTo>
                  <a:pt x="320" y="512"/>
                </a:moveTo>
                <a:cubicBezTo>
                  <a:pt x="309" y="512"/>
                  <a:pt x="298" y="509"/>
                  <a:pt x="289" y="504"/>
                </a:cubicBezTo>
                <a:cubicBezTo>
                  <a:pt x="299" y="488"/>
                  <a:pt x="304" y="468"/>
                  <a:pt x="304" y="448"/>
                </a:cubicBezTo>
                <a:lnTo>
                  <a:pt x="304" y="320"/>
                </a:lnTo>
                <a:cubicBezTo>
                  <a:pt x="304" y="300"/>
                  <a:pt x="299" y="281"/>
                  <a:pt x="289" y="264"/>
                </a:cubicBezTo>
                <a:cubicBezTo>
                  <a:pt x="298" y="259"/>
                  <a:pt x="309" y="256"/>
                  <a:pt x="320" y="256"/>
                </a:cubicBezTo>
                <a:lnTo>
                  <a:pt x="352" y="256"/>
                </a:lnTo>
                <a:lnTo>
                  <a:pt x="352" y="320"/>
                </a:lnTo>
                <a:cubicBezTo>
                  <a:pt x="352" y="329"/>
                  <a:pt x="359" y="336"/>
                  <a:pt x="368" y="336"/>
                </a:cubicBezTo>
                <a:lnTo>
                  <a:pt x="400" y="336"/>
                </a:lnTo>
                <a:cubicBezTo>
                  <a:pt x="409" y="336"/>
                  <a:pt x="416" y="329"/>
                  <a:pt x="416" y="320"/>
                </a:cubicBezTo>
                <a:lnTo>
                  <a:pt x="416" y="256"/>
                </a:lnTo>
                <a:lnTo>
                  <a:pt x="448" y="256"/>
                </a:lnTo>
                <a:cubicBezTo>
                  <a:pt x="483" y="256"/>
                  <a:pt x="512" y="285"/>
                  <a:pt x="512" y="320"/>
                </a:cubicBezTo>
                <a:lnTo>
                  <a:pt x="512" y="448"/>
                </a:lnTo>
                <a:cubicBezTo>
                  <a:pt x="512" y="483"/>
                  <a:pt x="483" y="512"/>
                  <a:pt x="448" y="512"/>
                </a:cubicBezTo>
                <a:lnTo>
                  <a:pt x="320" y="512"/>
                </a:lnTo>
                <a:close/>
              </a:path>
              <a:path w="512" h="512">
                <a:moveTo>
                  <a:pt x="0" y="320"/>
                </a:moveTo>
                <a:cubicBezTo>
                  <a:pt x="0" y="285"/>
                  <a:pt x="29" y="256"/>
                  <a:pt x="64" y="256"/>
                </a:cubicBezTo>
                <a:lnTo>
                  <a:pt x="96" y="256"/>
                </a:lnTo>
                <a:lnTo>
                  <a:pt x="96" y="320"/>
                </a:lnTo>
                <a:cubicBezTo>
                  <a:pt x="96" y="329"/>
                  <a:pt x="103" y="336"/>
                  <a:pt x="112" y="336"/>
                </a:cubicBezTo>
                <a:lnTo>
                  <a:pt x="144" y="336"/>
                </a:lnTo>
                <a:cubicBezTo>
                  <a:pt x="153" y="336"/>
                  <a:pt x="160" y="329"/>
                  <a:pt x="160" y="320"/>
                </a:cubicBezTo>
                <a:lnTo>
                  <a:pt x="160" y="256"/>
                </a:lnTo>
                <a:lnTo>
                  <a:pt x="192" y="256"/>
                </a:lnTo>
                <a:cubicBezTo>
                  <a:pt x="227" y="256"/>
                  <a:pt x="256" y="285"/>
                  <a:pt x="256" y="320"/>
                </a:cubicBezTo>
                <a:lnTo>
                  <a:pt x="256" y="448"/>
                </a:lnTo>
                <a:cubicBezTo>
                  <a:pt x="256" y="483"/>
                  <a:pt x="227" y="512"/>
                  <a:pt x="192" y="512"/>
                </a:cubicBezTo>
                <a:lnTo>
                  <a:pt x="64" y="512"/>
                </a:lnTo>
                <a:cubicBezTo>
                  <a:pt x="29" y="512"/>
                  <a:pt x="0" y="483"/>
                  <a:pt x="0" y="448"/>
                </a:cubicBezTo>
                <a:lnTo>
                  <a:pt x="0" y="320"/>
                </a:lnTo>
                <a:close/>
              </a:path>
            </a:pathLst>
          </a:custGeom>
          <a:solidFill>
            <a:srgbClr val="C2623E"/>
          </a:solidFill>
          <a:ln>
            <a:noFill/>
          </a:ln>
        </p:spPr>
      </p:sp>
      <p:sp>
        <p:nvSpPr>
          <p:cNvPr id="13" name="s2-title"/>
          <p:cNvSpPr txBox="1"/>
          <p:nvPr/>
        </p:nvSpPr>
        <p:spPr>
          <a:xfrm>
            <a:off x="3035300" y="3467100"/>
            <a:ext cx="13462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172520"/>
                </a:solidFill>
                <a:latin typeface="Manrope"/>
                <a:ea typeface="Manrope"/>
              </a:rPr>
              <a:t>Упаковка и ручной контроль</a:t>
            </a:r>
            <a:endParaRPr lang="en-US" sz="1300" noProof="1"/>
          </a:p>
        </p:txBody>
      </p:sp>
      <p:sp>
        <p:nvSpPr>
          <p:cNvPr id="14" name="s2-note"/>
          <p:cNvSpPr txBox="1"/>
          <p:nvPr/>
        </p:nvSpPr>
        <p:spPr>
          <a:xfrm>
            <a:off x="2908300" y="4076700"/>
            <a:ext cx="16002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noProof="1">
                <a:solidFill>
                  <a:srgbClr val="68746F"/>
                </a:solidFill>
                <a:latin typeface="Manrope"/>
                <a:ea typeface="Manrope"/>
              </a:rPr>
              <a:t>50 лотков/мин </a:t>
            </a:r>
            <a:r>
              <a:rPr lang="ru-RU" sz="1000" noProof="1">
                <a:solidFill>
                  <a:srgbClr val="68746F"/>
                </a:solidFill>
                <a:latin typeface="Manrope"/>
                <a:ea typeface="Manrope"/>
              </a:rPr>
              <a:t>*</a:t>
            </a:r>
            <a:r>
              <a:rPr lang="en-US" sz="1000" noProof="1">
                <a:solidFill>
                  <a:srgbClr val="68746F"/>
                </a:solidFill>
                <a:latin typeface="Manrope"/>
                <a:ea typeface="Manrope"/>
              </a:rPr>
              <a:t> два оператора смотрят </a:t>
            </a:r>
            <a:r>
              <a:rPr lang="ru-RU" sz="1000" noProof="1">
                <a:solidFill>
                  <a:srgbClr val="68746F"/>
                </a:solidFill>
                <a:latin typeface="Manrope"/>
                <a:ea typeface="Manrope"/>
              </a:rPr>
              <a:t>наличие конденсата</a:t>
            </a:r>
            <a:endParaRPr lang="en-US" sz="1000" noProof="1"/>
          </a:p>
        </p:txBody>
      </p:sp>
      <p:sp>
        <p:nvSpPr>
          <p:cNvPr id="15" name="a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eyJ2aWV3Qm94IjpbODEsMl0sInBvaW50cyI6IjAsMSA4MSwxIn0</pptd:line>
              </p:ext>
            </p:extLst>
          </p:nvPr>
        </p:nvSpPr>
        <p:spPr>
          <a:xfrm>
            <a:off x="4457700" y="2882900"/>
            <a:ext cx="1028700" cy="25400"/>
          </a:xfrm>
          <a:custGeom>
            <a:avLst/>
            <a:gdLst/>
            <a:ahLst/>
            <a:cxnLst/>
            <a:rect l="l" t="t" r="r" b="b"/>
            <a:pathLst>
              <a:path w="81" h="2">
                <a:moveTo>
                  <a:pt x="0" y="1"/>
                </a:moveTo>
                <a:lnTo>
                  <a:pt x="81" y="1"/>
                </a:lnTo>
              </a:path>
            </a:pathLst>
          </a:custGeom>
          <a:noFill/>
          <a:ln w="25400" cap="rnd">
            <a:solidFill>
              <a:srgbClr val="173C34"/>
            </a:solidFill>
            <a:round/>
            <a:tailEnd type="stealth"/>
          </a:ln>
        </p:spPr>
      </p:sp>
      <p:sp>
        <p:nvSpPr>
          <p:cNvPr id="16" name="s3-circle"/>
          <p:cNvSpPr/>
          <p:nvPr/>
        </p:nvSpPr>
        <p:spPr>
          <a:xfrm>
            <a:off x="5842000" y="2489200"/>
            <a:ext cx="812800" cy="812800"/>
          </a:xfrm>
          <a:prstGeom prst="ellipse">
            <a:avLst/>
          </a:prstGeom>
          <a:solidFill>
            <a:srgbClr val="DCE3DA"/>
          </a:solidFill>
          <a:ln>
            <a:noFill/>
          </a:ln>
        </p:spPr>
      </p:sp>
      <p:sp>
        <p:nvSpPr>
          <p:cNvPr id="17" name="s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eyJpY29uTmFtZSI6ImZhczp0cnVjayJ9</pptd:icon>
              </p:ext>
            </p:extLst>
          </p:nvPr>
        </p:nvSpPr>
        <p:spPr>
          <a:xfrm>
            <a:off x="6057900" y="2692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76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52" y="32"/>
                </a:lnTo>
                <a:cubicBezTo>
                  <a:pt x="387" y="32"/>
                  <a:pt x="416" y="61"/>
                  <a:pt x="416" y="96"/>
                </a:cubicBezTo>
                <a:lnTo>
                  <a:pt x="416" y="128"/>
                </a:lnTo>
                <a:lnTo>
                  <a:pt x="467" y="128"/>
                </a:lnTo>
                <a:cubicBezTo>
                  <a:pt x="484" y="128"/>
                  <a:pt x="500" y="135"/>
                  <a:pt x="512" y="147"/>
                </a:cubicBezTo>
                <a:lnTo>
                  <a:pt x="557" y="192"/>
                </a:lnTo>
                <a:cubicBezTo>
                  <a:pt x="569" y="204"/>
                  <a:pt x="576" y="220"/>
                  <a:pt x="576" y="237"/>
                </a:cubicBezTo>
                <a:lnTo>
                  <a:pt x="576" y="384"/>
                </a:lnTo>
                <a:cubicBezTo>
                  <a:pt x="576" y="419"/>
                  <a:pt x="547" y="448"/>
                  <a:pt x="512" y="448"/>
                </a:cubicBezTo>
                <a:lnTo>
                  <a:pt x="509" y="448"/>
                </a:lnTo>
                <a:cubicBezTo>
                  <a:pt x="498" y="485"/>
                  <a:pt x="464" y="512"/>
                  <a:pt x="424" y="512"/>
                </a:cubicBezTo>
                <a:cubicBezTo>
                  <a:pt x="384" y="512"/>
                  <a:pt x="350" y="485"/>
                  <a:pt x="339" y="448"/>
                </a:cubicBezTo>
                <a:lnTo>
                  <a:pt x="237" y="448"/>
                </a:lnTo>
                <a:cubicBezTo>
                  <a:pt x="226" y="485"/>
                  <a:pt x="192" y="512"/>
                  <a:pt x="152" y="512"/>
                </a:cubicBezTo>
                <a:cubicBezTo>
                  <a:pt x="112" y="512"/>
                  <a:pt x="78" y="485"/>
                  <a:pt x="67" y="448"/>
                </a:cubicBezTo>
                <a:lnTo>
                  <a:pt x="64" y="448"/>
                </a:lnTo>
                <a:cubicBezTo>
                  <a:pt x="29" y="448"/>
                  <a:pt x="0" y="419"/>
                  <a:pt x="0" y="384"/>
                </a:cubicBezTo>
                <a:lnTo>
                  <a:pt x="0" y="96"/>
                </a:lnTo>
                <a:close/>
                <a:moveTo>
                  <a:pt x="512" y="288"/>
                </a:moveTo>
                <a:lnTo>
                  <a:pt x="512" y="237"/>
                </a:lnTo>
                <a:lnTo>
                  <a:pt x="467" y="192"/>
                </a:lnTo>
                <a:lnTo>
                  <a:pt x="416" y="192"/>
                </a:lnTo>
                <a:lnTo>
                  <a:pt x="416" y="288"/>
                </a:lnTo>
                <a:lnTo>
                  <a:pt x="512" y="288"/>
                </a:lnTo>
                <a:close/>
                <a:moveTo>
                  <a:pt x="192" y="424"/>
                </a:moveTo>
                <a:cubicBezTo>
                  <a:pt x="192" y="402"/>
                  <a:pt x="174" y="384"/>
                  <a:pt x="152" y="384"/>
                </a:cubicBezTo>
                <a:cubicBezTo>
                  <a:pt x="130" y="384"/>
                  <a:pt x="112" y="402"/>
                  <a:pt x="112" y="424"/>
                </a:cubicBezTo>
                <a:cubicBezTo>
                  <a:pt x="112" y="446"/>
                  <a:pt x="130" y="464"/>
                  <a:pt x="152" y="464"/>
                </a:cubicBezTo>
                <a:cubicBezTo>
                  <a:pt x="174" y="464"/>
                  <a:pt x="192" y="446"/>
                  <a:pt x="192" y="424"/>
                </a:cubicBezTo>
                <a:close/>
                <a:moveTo>
                  <a:pt x="424" y="464"/>
                </a:moveTo>
                <a:cubicBezTo>
                  <a:pt x="446" y="464"/>
                  <a:pt x="464" y="446"/>
                  <a:pt x="464" y="424"/>
                </a:cubicBezTo>
                <a:cubicBezTo>
                  <a:pt x="464" y="402"/>
                  <a:pt x="446" y="384"/>
                  <a:pt x="424" y="384"/>
                </a:cubicBezTo>
                <a:cubicBezTo>
                  <a:pt x="402" y="384"/>
                  <a:pt x="384" y="402"/>
                  <a:pt x="384" y="424"/>
                </a:cubicBezTo>
                <a:cubicBezTo>
                  <a:pt x="384" y="446"/>
                  <a:pt x="402" y="464"/>
                  <a:pt x="424" y="464"/>
                </a:cubicBezTo>
                <a:close/>
              </a:path>
            </a:pathLst>
          </a:custGeom>
          <a:solidFill>
            <a:srgbClr val="173C34"/>
          </a:solidFill>
          <a:ln>
            <a:noFill/>
          </a:ln>
        </p:spPr>
      </p:sp>
      <p:sp>
        <p:nvSpPr>
          <p:cNvPr id="18" name="s3-title"/>
          <p:cNvSpPr txBox="1"/>
          <p:nvPr/>
        </p:nvSpPr>
        <p:spPr>
          <a:xfrm>
            <a:off x="5281442" y="3454400"/>
            <a:ext cx="1722315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172520"/>
                </a:solidFill>
                <a:latin typeface="Manrope"/>
                <a:ea typeface="Manrope"/>
              </a:rPr>
              <a:t>Доставка продукции в магазин</a:t>
            </a:r>
            <a:endParaRPr lang="en-US" sz="1300" noProof="1"/>
          </a:p>
        </p:txBody>
      </p:sp>
      <p:sp>
        <p:nvSpPr>
          <p:cNvPr id="19" name="s3-note"/>
          <p:cNvSpPr txBox="1"/>
          <p:nvPr/>
        </p:nvSpPr>
        <p:spPr>
          <a:xfrm>
            <a:off x="4987974" y="4089400"/>
            <a:ext cx="231101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ru-RU" sz="1000" noProof="1">
                <a:solidFill>
                  <a:srgbClr val="68746F"/>
                </a:solidFill>
                <a:latin typeface="Manrope"/>
                <a:ea typeface="Manrope"/>
              </a:rPr>
              <a:t>Ожидание погрузки, т</a:t>
            </a:r>
            <a:r>
              <a:rPr lang="en-US" sz="1000" noProof="1">
                <a:solidFill>
                  <a:srgbClr val="68746F"/>
                </a:solidFill>
                <a:latin typeface="Manrope"/>
                <a:ea typeface="Manrope"/>
              </a:rPr>
              <a:t>емпература, время в пути и ожидание разгрузки</a:t>
            </a:r>
            <a:endParaRPr lang="en-US" sz="1000" noProof="1"/>
          </a:p>
        </p:txBody>
      </p:sp>
      <p:sp>
        <p:nvSpPr>
          <p:cNvPr id="20" name="divider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eyJ2aWV3Qm94IjpbMSwxOTldLCJwb2ludHMiOiIwLDAgMCwxOTkifQ</pptd:line>
              </p:ext>
            </p:extLst>
          </p:nvPr>
        </p:nvSpPr>
        <p:spPr>
          <a:xfrm>
            <a:off x="7632700" y="2273300"/>
            <a:ext cx="12700" cy="2527300"/>
          </a:xfrm>
          <a:custGeom>
            <a:avLst/>
            <a:gdLst/>
            <a:ahLst/>
            <a:cxnLst/>
            <a:rect l="l" t="t" r="r" b="b"/>
            <a:pathLst>
              <a:path w="1" h="199">
                <a:moveTo>
                  <a:pt x="0" y="0"/>
                </a:moveTo>
                <a:lnTo>
                  <a:pt x="0" y="199"/>
                </a:lnTo>
              </a:path>
            </a:pathLst>
          </a:custGeom>
          <a:noFill/>
          <a:ln w="12700" cap="rnd">
            <a:solidFill>
              <a:srgbClr val="C9CEC5"/>
            </a:solidFill>
            <a:round/>
          </a:ln>
        </p:spPr>
      </p:sp>
      <p:sp>
        <p:nvSpPr>
          <p:cNvPr id="21" name="rate-label"/>
          <p:cNvSpPr txBox="1"/>
          <p:nvPr/>
        </p:nvSpPr>
        <p:spPr>
          <a:xfrm>
            <a:off x="8191500" y="1993900"/>
            <a:ext cx="3175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80" noProof="1">
                <a:solidFill>
                  <a:srgbClr val="315B50"/>
                </a:solidFill>
                <a:latin typeface="Manrope"/>
                <a:ea typeface="Manrope"/>
              </a:rPr>
              <a:t>НАГРУЗКА НА РУЧНОЙ КОНТРОЛЬ</a:t>
            </a:r>
            <a:endParaRPr lang="en-US" sz="1000" noProof="1"/>
          </a:p>
        </p:txBody>
      </p:sp>
      <p:sp>
        <p:nvSpPr>
          <p:cNvPr id="22" name="rate"/>
          <p:cNvSpPr txBox="1"/>
          <p:nvPr/>
        </p:nvSpPr>
        <p:spPr>
          <a:xfrm>
            <a:off x="8191500" y="2425700"/>
            <a:ext cx="3175000" cy="63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800" b="1" noProof="1">
                <a:solidFill>
                  <a:srgbClr val="173C34"/>
                </a:solidFill>
                <a:latin typeface="Manrope"/>
                <a:ea typeface="Manrope"/>
              </a:rPr>
              <a:t>24 000</a:t>
            </a:r>
            <a:endParaRPr lang="en-US" sz="3800" noProof="1"/>
          </a:p>
        </p:txBody>
      </p:sp>
      <p:sp>
        <p:nvSpPr>
          <p:cNvPr id="23" name="rate-note"/>
          <p:cNvSpPr txBox="1"/>
          <p:nvPr/>
        </p:nvSpPr>
        <p:spPr>
          <a:xfrm>
            <a:off x="8191500" y="3073400"/>
            <a:ext cx="3175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8746F"/>
                </a:solidFill>
                <a:latin typeface="Manrope"/>
                <a:ea typeface="Manrope"/>
              </a:rPr>
              <a:t>лотков за 8-часовую смену · 3 000 лотков в час</a:t>
            </a:r>
            <a:endParaRPr lang="en-US" sz="1100" noProof="1"/>
          </a:p>
        </p:txBody>
      </p:sp>
      <p:sp>
        <p:nvSpPr>
          <p:cNvPr id="24" name="operators"/>
          <p:cNvSpPr txBox="1"/>
          <p:nvPr/>
        </p:nvSpPr>
        <p:spPr>
          <a:xfrm>
            <a:off x="8191500" y="3848100"/>
            <a:ext cx="3175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900" b="1" noProof="1">
                <a:solidFill>
                  <a:srgbClr val="C2623E"/>
                </a:solidFill>
                <a:latin typeface="Manrope"/>
                <a:ea typeface="Manrope"/>
              </a:rPr>
              <a:t>2 оператора</a:t>
            </a:r>
            <a:endParaRPr lang="en-US" sz="2900" noProof="1"/>
          </a:p>
        </p:txBody>
      </p:sp>
      <p:sp>
        <p:nvSpPr>
          <p:cNvPr id="25" name="operators-note"/>
          <p:cNvSpPr txBox="1"/>
          <p:nvPr/>
        </p:nvSpPr>
        <p:spPr>
          <a:xfrm>
            <a:off x="8191500" y="4419600"/>
            <a:ext cx="317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8746F"/>
                </a:solidFill>
                <a:latin typeface="Manrope"/>
                <a:ea typeface="Manrope"/>
              </a:rPr>
              <a:t>визуально проверяют наличие конденсата на каждой крышке</a:t>
            </a:r>
            <a:endParaRPr lang="en-US" sz="1100" noProof="1"/>
          </a:p>
        </p:txBody>
      </p:sp>
      <p:sp>
        <p:nvSpPr>
          <p:cNvPr id="26" name="bottom-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eyJ2aWV3Qm94IjpbODUyLDFdLCJwb2ludHMiOiIwLDAgODUyLDAifQ</pptd:line>
              </p:ext>
            </p:extLst>
          </p:nvPr>
        </p:nvSpPr>
        <p:spPr>
          <a:xfrm>
            <a:off x="609600" y="5016500"/>
            <a:ext cx="10820400" cy="12700"/>
          </a:xfrm>
          <a:custGeom>
            <a:avLst/>
            <a:gdLst/>
            <a:ahLst/>
            <a:cxnLst/>
            <a:rect l="l" t="t" r="r" b="b"/>
            <a:pathLst>
              <a:path w="852" h="1">
                <a:moveTo>
                  <a:pt x="0" y="0"/>
                </a:moveTo>
                <a:lnTo>
                  <a:pt x="852" y="0"/>
                </a:lnTo>
              </a:path>
            </a:pathLst>
          </a:custGeom>
          <a:noFill/>
          <a:ln w="12700" cap="rnd">
            <a:solidFill>
              <a:srgbClr val="173C34"/>
            </a:solidFill>
            <a:round/>
          </a:ln>
        </p:spPr>
      </p:sp>
      <p:sp>
        <p:nvSpPr>
          <p:cNvPr id="27" name="branch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eyJpY29uTmFtZSI6ImZhczpjb2RlLWJyYW5jaCJ9</pptd:icon>
              </p:ext>
            </p:extLst>
          </p:nvPr>
        </p:nvSpPr>
        <p:spPr>
          <a:xfrm>
            <a:off x="622300" y="5334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160" y="80"/>
                </a:moveTo>
                <a:cubicBezTo>
                  <a:pt x="160" y="113"/>
                  <a:pt x="140" y="141"/>
                  <a:pt x="112" y="153"/>
                </a:cubicBezTo>
                <a:lnTo>
                  <a:pt x="112" y="224"/>
                </a:lnTo>
                <a:lnTo>
                  <a:pt x="288" y="224"/>
                </a:lnTo>
                <a:cubicBezTo>
                  <a:pt x="315" y="224"/>
                  <a:pt x="336" y="203"/>
                  <a:pt x="336" y="176"/>
                </a:cubicBezTo>
                <a:lnTo>
                  <a:pt x="336" y="153"/>
                </a:lnTo>
                <a:cubicBezTo>
                  <a:pt x="308" y="141"/>
                  <a:pt x="288" y="113"/>
                  <a:pt x="288" y="80"/>
                </a:cubicBezTo>
                <a:cubicBezTo>
                  <a:pt x="288" y="36"/>
                  <a:pt x="324" y="0"/>
                  <a:pt x="368" y="0"/>
                </a:cubicBezTo>
                <a:cubicBezTo>
                  <a:pt x="412" y="0"/>
                  <a:pt x="448" y="36"/>
                  <a:pt x="448" y="80"/>
                </a:cubicBezTo>
                <a:cubicBezTo>
                  <a:pt x="448" y="113"/>
                  <a:pt x="428" y="141"/>
                  <a:pt x="400" y="153"/>
                </a:cubicBezTo>
                <a:lnTo>
                  <a:pt x="400" y="176"/>
                </a:lnTo>
                <a:cubicBezTo>
                  <a:pt x="400" y="238"/>
                  <a:pt x="350" y="288"/>
                  <a:pt x="288" y="288"/>
                </a:cubicBezTo>
                <a:lnTo>
                  <a:pt x="112" y="288"/>
                </a:lnTo>
                <a:lnTo>
                  <a:pt x="112" y="359"/>
                </a:lnTo>
                <a:cubicBezTo>
                  <a:pt x="140" y="371"/>
                  <a:pt x="160" y="399"/>
                  <a:pt x="160" y="432"/>
                </a:cubicBezTo>
                <a:cubicBezTo>
                  <a:pt x="160" y="476"/>
                  <a:pt x="124" y="512"/>
                  <a:pt x="80" y="512"/>
                </a:cubicBezTo>
                <a:cubicBezTo>
                  <a:pt x="36" y="512"/>
                  <a:pt x="0" y="476"/>
                  <a:pt x="0" y="432"/>
                </a:cubicBezTo>
                <a:cubicBezTo>
                  <a:pt x="0" y="399"/>
                  <a:pt x="20" y="371"/>
                  <a:pt x="48" y="359"/>
                </a:cubicBezTo>
                <a:lnTo>
                  <a:pt x="48" y="153"/>
                </a:lnTo>
                <a:cubicBezTo>
                  <a:pt x="20" y="141"/>
                  <a:pt x="0" y="113"/>
                  <a:pt x="0" y="80"/>
                </a:cubicBezTo>
                <a:cubicBezTo>
                  <a:pt x="0" y="36"/>
                  <a:pt x="36" y="0"/>
                  <a:pt x="80" y="0"/>
                </a:cubicBezTo>
                <a:cubicBezTo>
                  <a:pt x="124" y="0"/>
                  <a:pt x="160" y="36"/>
                  <a:pt x="160" y="80"/>
                </a:cubicBezTo>
                <a:close/>
                <a:moveTo>
                  <a:pt x="80" y="104"/>
                </a:moveTo>
                <a:cubicBezTo>
                  <a:pt x="93" y="104"/>
                  <a:pt x="104" y="93"/>
                  <a:pt x="104" y="80"/>
                </a:cubicBezTo>
                <a:cubicBezTo>
                  <a:pt x="104" y="67"/>
                  <a:pt x="93" y="56"/>
                  <a:pt x="80" y="56"/>
                </a:cubicBezTo>
                <a:cubicBezTo>
                  <a:pt x="67" y="56"/>
                  <a:pt x="56" y="67"/>
                  <a:pt x="56" y="80"/>
                </a:cubicBezTo>
                <a:cubicBezTo>
                  <a:pt x="56" y="93"/>
                  <a:pt x="67" y="104"/>
                  <a:pt x="80" y="104"/>
                </a:cubicBezTo>
                <a:close/>
                <a:moveTo>
                  <a:pt x="392" y="80"/>
                </a:moveTo>
                <a:cubicBezTo>
                  <a:pt x="392" y="67"/>
                  <a:pt x="381" y="56"/>
                  <a:pt x="368" y="56"/>
                </a:cubicBezTo>
                <a:cubicBezTo>
                  <a:pt x="355" y="56"/>
                  <a:pt x="344" y="67"/>
                  <a:pt x="344" y="80"/>
                </a:cubicBezTo>
                <a:cubicBezTo>
                  <a:pt x="344" y="93"/>
                  <a:pt x="355" y="104"/>
                  <a:pt x="368" y="104"/>
                </a:cubicBezTo>
                <a:cubicBezTo>
                  <a:pt x="381" y="104"/>
                  <a:pt x="392" y="93"/>
                  <a:pt x="392" y="80"/>
                </a:cubicBezTo>
                <a:close/>
                <a:moveTo>
                  <a:pt x="80" y="456"/>
                </a:moveTo>
                <a:cubicBezTo>
                  <a:pt x="93" y="456"/>
                  <a:pt x="104" y="445"/>
                  <a:pt x="104" y="432"/>
                </a:cubicBezTo>
                <a:cubicBezTo>
                  <a:pt x="104" y="419"/>
                  <a:pt x="93" y="408"/>
                  <a:pt x="80" y="408"/>
                </a:cubicBezTo>
                <a:cubicBezTo>
                  <a:pt x="67" y="408"/>
                  <a:pt x="56" y="419"/>
                  <a:pt x="56" y="432"/>
                </a:cubicBezTo>
                <a:cubicBezTo>
                  <a:pt x="56" y="445"/>
                  <a:pt x="67" y="456"/>
                  <a:pt x="80" y="456"/>
                </a:cubicBezTo>
                <a:close/>
              </a:path>
            </a:pathLst>
          </a:custGeom>
          <a:solidFill>
            <a:srgbClr val="C2623E"/>
          </a:solidFill>
          <a:ln>
            <a:noFill/>
          </a:ln>
        </p:spPr>
      </p:sp>
      <p:sp>
        <p:nvSpPr>
          <p:cNvPr id="28" name="branch1"/>
          <p:cNvSpPr txBox="1"/>
          <p:nvPr/>
        </p:nvSpPr>
        <p:spPr>
          <a:xfrm>
            <a:off x="1143000" y="5232400"/>
            <a:ext cx="4648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50" b="1" noProof="1">
                <a:solidFill>
                  <a:srgbClr val="172520"/>
                </a:solidFill>
                <a:latin typeface="Manrope"/>
                <a:ea typeface="Manrope"/>
              </a:rPr>
              <a:t>Если конденсат обнаружен:</a:t>
            </a:r>
            <a:r>
              <a:rPr lang="en-US" sz="1250" noProof="1">
                <a:solidFill>
                  <a:srgbClr val="172520"/>
                </a:solidFill>
                <a:latin typeface="Manrope"/>
                <a:ea typeface="Manrope"/>
              </a:rPr>
              <a:t> линия останавливается, выпуск задерживается.</a:t>
            </a:r>
            <a:endParaRPr lang="en-US" sz="1250" noProof="1"/>
          </a:p>
        </p:txBody>
      </p:sp>
      <p:sp>
        <p:nvSpPr>
          <p:cNvPr id="29" name="branch2"/>
          <p:cNvSpPr txBox="1"/>
          <p:nvPr/>
        </p:nvSpPr>
        <p:spPr>
          <a:xfrm>
            <a:off x="6350000" y="5232400"/>
            <a:ext cx="5080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50" b="1" noProof="1">
                <a:solidFill>
                  <a:srgbClr val="172520"/>
                </a:solidFill>
                <a:latin typeface="Manrope"/>
                <a:ea typeface="Manrope"/>
              </a:rPr>
              <a:t>Если конденсат пропущен:</a:t>
            </a:r>
            <a:r>
              <a:rPr lang="en-US" sz="1250" noProof="1">
                <a:solidFill>
                  <a:srgbClr val="172520"/>
                </a:solidFill>
                <a:latin typeface="Manrope"/>
                <a:ea typeface="Manrope"/>
              </a:rPr>
              <a:t> продукция идёт в доставку и магазин, затем возможны возвраты и списания.</a:t>
            </a:r>
            <a:endParaRPr lang="en-US" sz="1250" noProof="1"/>
          </a:p>
        </p:txBody>
      </p:sp>
      <p:sp>
        <p:nvSpPr>
          <p:cNvPr id="30" name="scope"/>
          <p:cNvSpPr txBox="1"/>
          <p:nvPr/>
        </p:nvSpPr>
        <p:spPr>
          <a:xfrm>
            <a:off x="609600" y="6146800"/>
            <a:ext cx="10820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950" noProof="1">
                <a:solidFill>
                  <a:srgbClr val="173C34"/>
                </a:solidFill>
                <a:latin typeface="Manrope"/>
                <a:ea typeface="Manrope"/>
              </a:rPr>
              <a:t>Границы проекта: от изготовления до поступления в магазин. Изменение рецептур не входит.</a:t>
            </a:r>
            <a:endParaRPr lang="en-US" sz="950" noProof="1"/>
          </a:p>
        </p:txBody>
      </p:sp>
      <p:sp>
        <p:nvSpPr>
          <p:cNvPr id="31" name="footer"/>
          <p:cNvSpPr txBox="1"/>
          <p:nvPr/>
        </p:nvSpPr>
        <p:spPr>
          <a:xfrm>
            <a:off x="609600" y="6527800"/>
            <a:ext cx="9271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800" noProof="1">
                <a:solidFill>
                  <a:srgbClr val="68746F"/>
                </a:solidFill>
                <a:latin typeface="Manrope"/>
                <a:ea typeface="Manrope"/>
              </a:rPr>
              <a:t>Источник: материалы проекта, раздел 1 «Формулировка бизнес-задачи».</a:t>
            </a:r>
            <a:endParaRPr lang="en-US" sz="800" noProof="1"/>
          </a:p>
        </p:txBody>
      </p:sp>
      <p:sp>
        <p:nvSpPr>
          <p:cNvPr id="32" name="page"/>
          <p:cNvSpPr txBox="1"/>
          <p:nvPr/>
        </p:nvSpPr>
        <p:spPr>
          <a:xfrm>
            <a:off x="11112500" y="6477000"/>
            <a:ext cx="355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900" noProof="1">
                <a:solidFill>
                  <a:srgbClr val="68746F"/>
                </a:solidFill>
                <a:latin typeface="Manrope"/>
                <a:ea typeface="Manrope"/>
              </a:rPr>
              <a:t>02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175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130" noProof="1">
                <a:solidFill>
                  <a:srgbClr val="315B50"/>
                </a:solidFill>
                <a:latin typeface="Manrope"/>
                <a:ea typeface="Manrope"/>
              </a:rPr>
              <a:t>БИЗНЕС-ЗАДАЧА · ПРИЧИНЫ И ЗОНЫ ОТВЕТСТВЕННОСТИ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73100"/>
            <a:ext cx="10795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8000"/>
              </a:lnSpc>
            </a:pPr>
            <a:r>
              <a:rPr lang="en-US" sz="2900" b="1" noProof="1">
                <a:solidFill>
                  <a:srgbClr val="172520"/>
                </a:solidFill>
                <a:latin typeface="PT Serif"/>
                <a:ea typeface="PT Serif"/>
              </a:rPr>
              <a:t>Проект проверяет причины конденсата во всех цехах, а автоматизирует контроль на упаковке</a:t>
            </a:r>
            <a:endParaRPr lang="en-US" sz="29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676400"/>
            <a:ext cx="584200" cy="38100"/>
          </a:xfrm>
          <a:prstGeom prst="rect">
            <a:avLst/>
          </a:prstGeom>
          <a:solidFill>
            <a:srgbClr val="C2623E"/>
          </a:solidFill>
          <a:ln>
            <a:noFill/>
          </a:ln>
        </p:spPr>
      </p:sp>
      <p:sp>
        <p:nvSpPr>
          <p:cNvPr id="5" name="problem-label"/>
          <p:cNvSpPr txBox="1"/>
          <p:nvPr/>
        </p:nvSpPr>
        <p:spPr>
          <a:xfrm>
            <a:off x="609600" y="19685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80" noProof="1">
                <a:solidFill>
                  <a:srgbClr val="315B50"/>
                </a:solidFill>
                <a:latin typeface="Manrope"/>
                <a:ea typeface="Manrope"/>
              </a:rPr>
              <a:t>ПРОБЛЕМА</a:t>
            </a:r>
            <a:endParaRPr lang="en-US" sz="900" noProof="1"/>
          </a:p>
        </p:txBody>
      </p:sp>
      <p:sp>
        <p:nvSpPr>
          <p:cNvPr id="6" name="problem"/>
          <p:cNvSpPr txBox="1"/>
          <p:nvPr/>
        </p:nvSpPr>
        <p:spPr>
          <a:xfrm>
            <a:off x="609600" y="2286000"/>
            <a:ext cx="4953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500" b="1" noProof="1">
                <a:solidFill>
                  <a:srgbClr val="172520"/>
                </a:solidFill>
                <a:latin typeface="Manrope"/>
                <a:ea typeface="Manrope"/>
              </a:rPr>
              <a:t>Компания теряет выпуск при остановках линии после обнаружения дефекта и несёт расходы на возвраты, если конденсат пропущен.</a:t>
            </a:r>
            <a:endParaRPr lang="en-US" sz="1500" noProof="1"/>
          </a:p>
        </p:txBody>
      </p:sp>
      <p:sp>
        <p:nvSpPr>
          <p:cNvPr id="7" name="goal-label"/>
          <p:cNvSpPr txBox="1"/>
          <p:nvPr/>
        </p:nvSpPr>
        <p:spPr>
          <a:xfrm>
            <a:off x="6350000" y="1968500"/>
            <a:ext cx="127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80" noProof="1">
                <a:solidFill>
                  <a:srgbClr val="315B50"/>
                </a:solidFill>
                <a:latin typeface="Manrope"/>
                <a:ea typeface="Manrope"/>
              </a:rPr>
              <a:t>ЦЕЛЬ</a:t>
            </a:r>
            <a:endParaRPr lang="en-US" sz="900" noProof="1"/>
          </a:p>
        </p:txBody>
      </p:sp>
      <p:sp>
        <p:nvSpPr>
          <p:cNvPr id="8" name="goal"/>
          <p:cNvSpPr txBox="1"/>
          <p:nvPr/>
        </p:nvSpPr>
        <p:spPr>
          <a:xfrm>
            <a:off x="6350000" y="2286000"/>
            <a:ext cx="5080000" cy="990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68746F"/>
                </a:solidFill>
                <a:latin typeface="Manrope"/>
                <a:ea typeface="Manrope"/>
              </a:rPr>
              <a:t>Определить этап возникновения условий для конденсата, снизить число пропущенных лотков, возвратов и незапланированных остановок.</a:t>
            </a:r>
            <a:endParaRPr lang="en-US" sz="1300" noProof="1"/>
          </a:p>
        </p:txBody>
      </p:sp>
      <p:sp>
        <p:nvSpPr>
          <p:cNvPr id="9" name="mid-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eyJ2aWV3Qm94IjpbODUyLDFdLCJwb2ludHMiOiIwLDAgODUyLDAifQ</pptd:line>
              </p:ext>
            </p:extLst>
          </p:nvPr>
        </p:nvSpPr>
        <p:spPr>
          <a:xfrm>
            <a:off x="609600" y="3517900"/>
            <a:ext cx="10820400" cy="12700"/>
          </a:xfrm>
          <a:custGeom>
            <a:avLst/>
            <a:gdLst/>
            <a:ahLst/>
            <a:cxnLst/>
            <a:rect l="l" t="t" r="r" b="b"/>
            <a:pathLst>
              <a:path w="852" h="1">
                <a:moveTo>
                  <a:pt x="0" y="0"/>
                </a:moveTo>
                <a:lnTo>
                  <a:pt x="852" y="0"/>
                </a:lnTo>
              </a:path>
            </a:pathLst>
          </a:custGeom>
          <a:noFill/>
          <a:ln w="12700" cap="rnd">
            <a:solidFill>
              <a:srgbClr val="173C34"/>
            </a:solidFill>
            <a:round/>
          </a:ln>
        </p:spPr>
      </p:sp>
      <p:sp>
        <p:nvSpPr>
          <p:cNvPr id="10" name="hypo-label"/>
          <p:cNvSpPr txBox="1"/>
          <p:nvPr/>
        </p:nvSpPr>
        <p:spPr>
          <a:xfrm>
            <a:off x="609600" y="3759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80" noProof="1">
                <a:solidFill>
                  <a:srgbClr val="315B50"/>
                </a:solidFill>
                <a:latin typeface="Manrope"/>
                <a:ea typeface="Manrope"/>
              </a:rPr>
              <a:t>ГИПОТЕЗЫ ПО ЦЕХАМ И ВОЗМОЖНЫЕ РЕШЕНИЯ</a:t>
            </a:r>
            <a:endParaRPr lang="en-US" sz="1000" noProof="1"/>
          </a:p>
        </p:txBody>
      </p:sp>
      <p:sp>
        <p:nvSpPr>
          <p:cNvPr id="11" name="h1n"/>
          <p:cNvSpPr txBox="1"/>
          <p:nvPr/>
        </p:nvSpPr>
        <p:spPr>
          <a:xfrm>
            <a:off x="609600" y="4229100"/>
            <a:ext cx="457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C2623E"/>
                </a:solidFill>
                <a:latin typeface="Manrope"/>
                <a:ea typeface="Manrope"/>
              </a:rPr>
              <a:t>01</a:t>
            </a:r>
            <a:endParaRPr lang="en-US" sz="1600" noProof="1"/>
          </a:p>
        </p:txBody>
      </p:sp>
      <p:sp>
        <p:nvSpPr>
          <p:cNvPr id="12" name="h1title"/>
          <p:cNvSpPr txBox="1"/>
          <p:nvPr/>
        </p:nvSpPr>
        <p:spPr>
          <a:xfrm>
            <a:off x="1193800" y="4251962"/>
            <a:ext cx="152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0"/>
                </a:solidFill>
                <a:latin typeface="Manrope"/>
                <a:ea typeface="Manrope"/>
              </a:rPr>
              <a:t>Изготовление</a:t>
            </a:r>
            <a:endParaRPr lang="en-US" sz="1400" noProof="1"/>
          </a:p>
        </p:txBody>
      </p:sp>
      <p:sp>
        <p:nvSpPr>
          <p:cNvPr id="13" name="h1body"/>
          <p:cNvSpPr txBox="1"/>
          <p:nvPr/>
        </p:nvSpPr>
        <p:spPr>
          <a:xfrm>
            <a:off x="2819400" y="4152900"/>
            <a:ext cx="45085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50" noProof="1">
                <a:solidFill>
                  <a:srgbClr val="68746F"/>
                </a:solidFill>
                <a:latin typeface="Manrope"/>
                <a:ea typeface="Manrope"/>
              </a:rPr>
              <a:t>Продукция недостаточно охлаждена; разница температур способствует появлению конденсата.</a:t>
            </a:r>
            <a:endParaRPr lang="en-US" sz="1050" noProof="1"/>
          </a:p>
        </p:txBody>
      </p:sp>
      <p:sp>
        <p:nvSpPr>
          <p:cNvPr id="14" name="h1action"/>
          <p:cNvSpPr txBox="1"/>
          <p:nvPr/>
        </p:nvSpPr>
        <p:spPr>
          <a:xfrm>
            <a:off x="7747000" y="4152900"/>
            <a:ext cx="368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50" noProof="1">
                <a:solidFill>
                  <a:srgbClr val="173C34"/>
                </a:solidFill>
                <a:latin typeface="Manrope"/>
                <a:ea typeface="Manrope"/>
              </a:rPr>
              <a:t>Проверить температуру и время охлаждения тепловизором или датчиками; скорректировать режим.</a:t>
            </a:r>
            <a:endParaRPr lang="en-US" sz="1050" noProof="1"/>
          </a:p>
        </p:txBody>
      </p:sp>
      <p:sp>
        <p:nvSpPr>
          <p:cNvPr id="15" name="h1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eyJ2aWV3Qm94IjpbODUyLDFdLCJwb2ludHMiOiIwLDAgODUyLDAifQ</pptd:line>
              </p:ext>
            </p:extLst>
          </p:nvPr>
        </p:nvSpPr>
        <p:spPr>
          <a:xfrm>
            <a:off x="609600" y="4902200"/>
            <a:ext cx="10820400" cy="12700"/>
          </a:xfrm>
          <a:custGeom>
            <a:avLst/>
            <a:gdLst/>
            <a:ahLst/>
            <a:cxnLst/>
            <a:rect l="l" t="t" r="r" b="b"/>
            <a:pathLst>
              <a:path w="852" h="1">
                <a:moveTo>
                  <a:pt x="0" y="0"/>
                </a:moveTo>
                <a:lnTo>
                  <a:pt x="852" y="0"/>
                </a:lnTo>
              </a:path>
            </a:pathLst>
          </a:custGeom>
          <a:noFill/>
          <a:ln w="10160" cap="rnd">
            <a:solidFill>
              <a:srgbClr val="C9CEC5"/>
            </a:solidFill>
            <a:round/>
          </a:ln>
        </p:spPr>
      </p:sp>
      <p:sp>
        <p:nvSpPr>
          <p:cNvPr id="16" name="h2n"/>
          <p:cNvSpPr txBox="1"/>
          <p:nvPr/>
        </p:nvSpPr>
        <p:spPr>
          <a:xfrm>
            <a:off x="609600" y="5067300"/>
            <a:ext cx="457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C2623E"/>
                </a:solidFill>
                <a:latin typeface="Manrope"/>
                <a:ea typeface="Manrope"/>
              </a:rPr>
              <a:t>02</a:t>
            </a:r>
            <a:endParaRPr lang="en-US" sz="1600" noProof="1"/>
          </a:p>
        </p:txBody>
      </p:sp>
      <p:sp>
        <p:nvSpPr>
          <p:cNvPr id="17" name="h2title"/>
          <p:cNvSpPr txBox="1"/>
          <p:nvPr/>
        </p:nvSpPr>
        <p:spPr>
          <a:xfrm>
            <a:off x="1193800" y="5090162"/>
            <a:ext cx="152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0"/>
                </a:solidFill>
                <a:latin typeface="Manrope"/>
                <a:ea typeface="Manrope"/>
              </a:rPr>
              <a:t>Упаковка</a:t>
            </a:r>
            <a:endParaRPr lang="en-US" sz="1400" noProof="1"/>
          </a:p>
        </p:txBody>
      </p:sp>
      <p:sp>
        <p:nvSpPr>
          <p:cNvPr id="18" name="h2body"/>
          <p:cNvSpPr txBox="1"/>
          <p:nvPr/>
        </p:nvSpPr>
        <p:spPr>
          <a:xfrm>
            <a:off x="2819400" y="4991100"/>
            <a:ext cx="45085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50" noProof="1">
                <a:solidFill>
                  <a:srgbClr val="68746F"/>
                </a:solidFill>
                <a:latin typeface="Manrope"/>
                <a:ea typeface="Manrope"/>
              </a:rPr>
              <a:t>При скорости 50 лотков/мин операторы не успевают стабильно выявлять конденсат.</a:t>
            </a:r>
            <a:endParaRPr lang="en-US" sz="1050" noProof="1"/>
          </a:p>
        </p:txBody>
      </p:sp>
      <p:sp>
        <p:nvSpPr>
          <p:cNvPr id="19" name="h2action"/>
          <p:cNvSpPr txBox="1"/>
          <p:nvPr/>
        </p:nvSpPr>
        <p:spPr>
          <a:xfrm>
            <a:off x="7747000" y="4991100"/>
            <a:ext cx="3683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50" b="1" noProof="1">
                <a:solidFill>
                  <a:srgbClr val="173C34"/>
                </a:solidFill>
                <a:latin typeface="Manrope"/>
                <a:ea typeface="Manrope"/>
              </a:rPr>
              <a:t>Камера + CV-модель для контроля крышек и сокращения полных остановок линии.</a:t>
            </a:r>
            <a:endParaRPr lang="en-US" sz="1050" noProof="1"/>
          </a:p>
        </p:txBody>
      </p:sp>
      <p:sp>
        <p:nvSpPr>
          <p:cNvPr id="20" name="h2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eyJ2aWV3Qm94IjpbODUyLDFdLCJwb2ludHMiOiIwLDAgODUyLDAifQ</pptd:line>
              </p:ext>
            </p:extLst>
          </p:nvPr>
        </p:nvSpPr>
        <p:spPr>
          <a:xfrm>
            <a:off x="609600" y="5740400"/>
            <a:ext cx="10820400" cy="12700"/>
          </a:xfrm>
          <a:custGeom>
            <a:avLst/>
            <a:gdLst/>
            <a:ahLst/>
            <a:cxnLst/>
            <a:rect l="l" t="t" r="r" b="b"/>
            <a:pathLst>
              <a:path w="852" h="1">
                <a:moveTo>
                  <a:pt x="0" y="0"/>
                </a:moveTo>
                <a:lnTo>
                  <a:pt x="852" y="0"/>
                </a:lnTo>
              </a:path>
            </a:pathLst>
          </a:custGeom>
          <a:noFill/>
          <a:ln w="10160" cap="rnd">
            <a:solidFill>
              <a:srgbClr val="C9CEC5"/>
            </a:solidFill>
            <a:round/>
          </a:ln>
        </p:spPr>
      </p:sp>
      <p:sp>
        <p:nvSpPr>
          <p:cNvPr id="21" name="h3n"/>
          <p:cNvSpPr txBox="1"/>
          <p:nvPr/>
        </p:nvSpPr>
        <p:spPr>
          <a:xfrm>
            <a:off x="609600" y="5905500"/>
            <a:ext cx="4572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C2623E"/>
                </a:solidFill>
                <a:latin typeface="Manrope"/>
                <a:ea typeface="Manrope"/>
              </a:rPr>
              <a:t>03</a:t>
            </a:r>
            <a:endParaRPr lang="en-US" sz="1600" noProof="1"/>
          </a:p>
        </p:txBody>
      </p:sp>
      <p:sp>
        <p:nvSpPr>
          <p:cNvPr id="22" name="h3title"/>
          <p:cNvSpPr txBox="1"/>
          <p:nvPr/>
        </p:nvSpPr>
        <p:spPr>
          <a:xfrm>
            <a:off x="1193800" y="5937740"/>
            <a:ext cx="1524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0"/>
                </a:solidFill>
                <a:latin typeface="Manrope"/>
                <a:ea typeface="Manrope"/>
              </a:rPr>
              <a:t>Доставка</a:t>
            </a:r>
            <a:endParaRPr lang="en-US" sz="1400" noProof="1"/>
          </a:p>
        </p:txBody>
      </p:sp>
      <p:sp>
        <p:nvSpPr>
          <p:cNvPr id="23" name="h3body"/>
          <p:cNvSpPr txBox="1"/>
          <p:nvPr/>
        </p:nvSpPr>
        <p:spPr>
          <a:xfrm>
            <a:off x="2819400" y="5829300"/>
            <a:ext cx="45085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50" noProof="1">
                <a:solidFill>
                  <a:srgbClr val="68746F"/>
                </a:solidFill>
                <a:latin typeface="Manrope"/>
                <a:ea typeface="Manrope"/>
              </a:rPr>
              <a:t>Время перевозки, ожидание разгрузки и температурные перепады усугубляют проблему.</a:t>
            </a:r>
            <a:endParaRPr lang="en-US" sz="1050" noProof="1"/>
          </a:p>
        </p:txBody>
      </p:sp>
      <p:sp>
        <p:nvSpPr>
          <p:cNvPr id="24" name="h3action"/>
          <p:cNvSpPr txBox="1"/>
          <p:nvPr/>
        </p:nvSpPr>
        <p:spPr>
          <a:xfrm>
            <a:off x="7747000" y="5829300"/>
            <a:ext cx="36830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50" noProof="1">
                <a:solidFill>
                  <a:srgbClr val="173C34"/>
                </a:solidFill>
                <a:latin typeface="Manrope"/>
                <a:ea typeface="Manrope"/>
              </a:rPr>
              <a:t>Контролировать температуру и время доставки; сократить ожидание при погрузке и разгрузке.</a:t>
            </a:r>
            <a:endParaRPr lang="en-US" sz="1050" noProof="1"/>
          </a:p>
        </p:txBody>
      </p:sp>
      <p:sp>
        <p:nvSpPr>
          <p:cNvPr id="25" name="footer"/>
          <p:cNvSpPr txBox="1"/>
          <p:nvPr/>
        </p:nvSpPr>
        <p:spPr>
          <a:xfrm>
            <a:off x="609600" y="6527800"/>
            <a:ext cx="9779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800" noProof="1">
                <a:solidFill>
                  <a:srgbClr val="68746F"/>
                </a:solidFill>
                <a:latin typeface="Manrope"/>
                <a:ea typeface="Manrope"/>
              </a:rPr>
              <a:t>Источник: материалы проекта, раздел 1. Куратор - директор по производству; владельцы процесса и данных - начальники трёх цехов.</a:t>
            </a:r>
            <a:endParaRPr lang="en-US" sz="800" noProof="1"/>
          </a:p>
        </p:txBody>
      </p:sp>
      <p:sp>
        <p:nvSpPr>
          <p:cNvPr id="26" name="page"/>
          <p:cNvSpPr txBox="1"/>
          <p:nvPr/>
        </p:nvSpPr>
        <p:spPr>
          <a:xfrm>
            <a:off x="11112500" y="6477000"/>
            <a:ext cx="355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900" noProof="1">
                <a:solidFill>
                  <a:srgbClr val="68746F"/>
                </a:solidFill>
                <a:latin typeface="Manrope"/>
                <a:ea typeface="Manrope"/>
              </a:rPr>
              <a:t>03</a:t>
            </a:r>
            <a:endParaRPr lang="en-US" sz="9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175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130" noProof="1">
                <a:solidFill>
                  <a:srgbClr val="315B50"/>
                </a:solidFill>
                <a:latin typeface="Manrope"/>
                <a:ea typeface="Manrope"/>
              </a:rPr>
              <a:t>РЕШЕНИЕ ПО ПРОЕКТУ · 4 ВОПРОСА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73100"/>
            <a:ext cx="10795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8000"/>
              </a:lnSpc>
            </a:pPr>
            <a:r>
              <a:rPr lang="en-US" sz="2900" b="1" noProof="1">
                <a:solidFill>
                  <a:srgbClr val="172520"/>
                </a:solidFill>
                <a:latin typeface="PT Serif"/>
                <a:ea typeface="PT Serif"/>
              </a:rPr>
              <a:t>Масштабировать решение можно только после доказанного снижения потерь</a:t>
            </a:r>
            <a:endParaRPr lang="en-US" sz="29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676400"/>
            <a:ext cx="584200" cy="38100"/>
          </a:xfrm>
          <a:prstGeom prst="rect">
            <a:avLst/>
          </a:prstGeom>
          <a:solidFill>
            <a:srgbClr val="C2623E"/>
          </a:solidFill>
          <a:ln>
            <a:noFill/>
          </a:ln>
        </p:spPr>
      </p:sp>
      <p:sp>
        <p:nvSpPr>
          <p:cNvPr id="5" name="q1-num"/>
          <p:cNvSpPr txBox="1"/>
          <p:nvPr/>
        </p:nvSpPr>
        <p:spPr>
          <a:xfrm>
            <a:off x="609600" y="20447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C2623E"/>
                </a:solidFill>
                <a:latin typeface="Manrope"/>
                <a:ea typeface="Manrope"/>
              </a:rPr>
              <a:t>01</a:t>
            </a:r>
            <a:endParaRPr lang="en-US" sz="2000" noProof="1"/>
          </a:p>
        </p:txBody>
      </p:sp>
      <p:sp>
        <p:nvSpPr>
          <p:cNvPr id="6" name="q1-title"/>
          <p:cNvSpPr txBox="1"/>
          <p:nvPr/>
        </p:nvSpPr>
        <p:spPr>
          <a:xfrm>
            <a:off x="1422400" y="1993900"/>
            <a:ext cx="4000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72520"/>
                </a:solidFill>
                <a:latin typeface="Manrope"/>
                <a:ea typeface="Manrope"/>
              </a:rPr>
              <a:t>Какие потери сокращаем</a:t>
            </a:r>
            <a:endParaRPr lang="en-US" sz="1800" noProof="1"/>
          </a:p>
        </p:txBody>
      </p:sp>
      <p:sp>
        <p:nvSpPr>
          <p:cNvPr id="7" name="q1-body"/>
          <p:cNvSpPr txBox="1"/>
          <p:nvPr/>
        </p:nvSpPr>
        <p:spPr>
          <a:xfrm>
            <a:off x="1422400" y="2374900"/>
            <a:ext cx="56515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68746F"/>
                </a:solidFill>
                <a:latin typeface="Manrope"/>
                <a:ea typeface="Manrope"/>
              </a:rPr>
              <a:t>Пропуски дефектов, возвраты, списания, остановки линии и ручные трудозатраты.</a:t>
            </a:r>
            <a:endParaRPr lang="en-US" sz="1300" noProof="1"/>
          </a:p>
        </p:txBody>
      </p:sp>
      <p:sp>
        <p:nvSpPr>
          <p:cNvPr id="8" name="q1-key"/>
          <p:cNvSpPr txBox="1"/>
          <p:nvPr/>
        </p:nvSpPr>
        <p:spPr>
          <a:xfrm>
            <a:off x="8255000" y="2019300"/>
            <a:ext cx="3175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173C34"/>
                </a:solidFill>
                <a:latin typeface="Manrope"/>
                <a:ea typeface="Manrope"/>
              </a:rPr>
              <a:t>2 источника потерь</a:t>
            </a:r>
            <a:endParaRPr lang="en-US" sz="1600" noProof="1"/>
          </a:p>
          <a:p>
            <a:pPr algn="r">
              <a:lnSpc>
                <a:spcPct val="120000"/>
              </a:lnSpc>
            </a:pPr>
            <a:r>
              <a:rPr lang="en-US" sz="1100" b="1" noProof="1">
                <a:solidFill>
                  <a:srgbClr val="68746F"/>
                </a:solidFill>
                <a:latin typeface="Manrope"/>
                <a:ea typeface="Manrope"/>
              </a:rPr>
              <a:t>обнаружение и пропуск дефекта</a:t>
            </a:r>
            <a:endParaRPr lang="en-US" sz="1600" noProof="1"/>
          </a:p>
        </p:txBody>
      </p:sp>
      <p:sp>
        <p:nvSpPr>
          <p:cNvPr id="9" name="r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eyJ2aWV3Qm94IjpbODUyLDFdLCJwb2ludHMiOiIwLDAgODUyLDAifQ</pptd:line>
              </p:ext>
            </p:extLst>
          </p:nvPr>
        </p:nvSpPr>
        <p:spPr>
          <a:xfrm>
            <a:off x="609600" y="3009900"/>
            <a:ext cx="10820400" cy="12700"/>
          </a:xfrm>
          <a:custGeom>
            <a:avLst/>
            <a:gdLst/>
            <a:ahLst/>
            <a:cxnLst/>
            <a:rect l="l" t="t" r="r" b="b"/>
            <a:pathLst>
              <a:path w="852" h="1">
                <a:moveTo>
                  <a:pt x="0" y="0"/>
                </a:moveTo>
                <a:lnTo>
                  <a:pt x="852" y="0"/>
                </a:lnTo>
              </a:path>
            </a:pathLst>
          </a:custGeom>
          <a:noFill/>
          <a:ln w="10160" cap="rnd">
            <a:solidFill>
              <a:srgbClr val="C9CEC5"/>
            </a:solidFill>
            <a:round/>
          </a:ln>
        </p:spPr>
      </p:sp>
      <p:sp>
        <p:nvSpPr>
          <p:cNvPr id="10" name="q2-num"/>
          <p:cNvSpPr txBox="1"/>
          <p:nvPr/>
        </p:nvSpPr>
        <p:spPr>
          <a:xfrm>
            <a:off x="609600" y="32131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C2623E"/>
                </a:solidFill>
                <a:latin typeface="Manrope"/>
                <a:ea typeface="Manrope"/>
              </a:rPr>
              <a:t>02</a:t>
            </a:r>
            <a:endParaRPr lang="en-US" sz="2000" noProof="1"/>
          </a:p>
        </p:txBody>
      </p:sp>
      <p:sp>
        <p:nvSpPr>
          <p:cNvPr id="11" name="q2-title"/>
          <p:cNvSpPr txBox="1"/>
          <p:nvPr/>
        </p:nvSpPr>
        <p:spPr>
          <a:xfrm>
            <a:off x="1422400" y="3162300"/>
            <a:ext cx="444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72520"/>
                </a:solidFill>
                <a:latin typeface="Manrope"/>
                <a:ea typeface="Manrope"/>
              </a:rPr>
              <a:t>Как проверяем результат</a:t>
            </a:r>
            <a:endParaRPr lang="en-US" sz="1800" noProof="1"/>
          </a:p>
        </p:txBody>
      </p:sp>
      <p:sp>
        <p:nvSpPr>
          <p:cNvPr id="12" name="q2-body"/>
          <p:cNvSpPr txBox="1"/>
          <p:nvPr/>
        </p:nvSpPr>
        <p:spPr>
          <a:xfrm>
            <a:off x="1422400" y="3543300"/>
            <a:ext cx="56515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68746F"/>
                </a:solidFill>
                <a:latin typeface="Manrope"/>
                <a:ea typeface="Manrope"/>
              </a:rPr>
              <a:t>Сравнение с ручным контролём, экспертный эталон и обязательные критерии приёмки.</a:t>
            </a:r>
            <a:endParaRPr lang="en-US" sz="1300" noProof="1"/>
          </a:p>
        </p:txBody>
      </p:sp>
      <p:sp>
        <p:nvSpPr>
          <p:cNvPr id="13" name="q2-key"/>
          <p:cNvSpPr txBox="1"/>
          <p:nvPr/>
        </p:nvSpPr>
        <p:spPr>
          <a:xfrm>
            <a:off x="8255000" y="3162300"/>
            <a:ext cx="3175000" cy="73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500" b="1" noProof="1">
                <a:solidFill>
                  <a:srgbClr val="173C34"/>
                </a:solidFill>
                <a:latin typeface="Manrope"/>
                <a:ea typeface="Manrope"/>
              </a:rPr>
              <a:t>≥ 20 смен</a:t>
            </a:r>
            <a:endParaRPr lang="en-US" sz="2500" noProof="1"/>
          </a:p>
          <a:p>
            <a:pPr algn="r">
              <a:lnSpc>
                <a:spcPct val="120000"/>
              </a:lnSpc>
            </a:pPr>
            <a:r>
              <a:rPr lang="en-US" sz="1100" b="1" noProof="1">
                <a:solidFill>
                  <a:srgbClr val="68746F"/>
                </a:solidFill>
                <a:latin typeface="Manrope"/>
                <a:ea typeface="Manrope"/>
              </a:rPr>
              <a:t>минимальный объём испытания</a:t>
            </a:r>
            <a:endParaRPr lang="en-US" sz="2500" noProof="1"/>
          </a:p>
        </p:txBody>
      </p:sp>
      <p:sp>
        <p:nvSpPr>
          <p:cNvPr id="14" name="r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eyJ2aWV3Qm94IjpbODUyLDFdLCJwb2ludHMiOiIwLDAgODUyLDAifQ</pptd:line>
              </p:ext>
            </p:extLst>
          </p:nvPr>
        </p:nvSpPr>
        <p:spPr>
          <a:xfrm>
            <a:off x="609600" y="4178300"/>
            <a:ext cx="10820400" cy="12700"/>
          </a:xfrm>
          <a:custGeom>
            <a:avLst/>
            <a:gdLst/>
            <a:ahLst/>
            <a:cxnLst/>
            <a:rect l="l" t="t" r="r" b="b"/>
            <a:pathLst>
              <a:path w="852" h="1">
                <a:moveTo>
                  <a:pt x="0" y="0"/>
                </a:moveTo>
                <a:lnTo>
                  <a:pt x="852" y="0"/>
                </a:lnTo>
              </a:path>
            </a:pathLst>
          </a:custGeom>
          <a:noFill/>
          <a:ln w="10160" cap="rnd">
            <a:solidFill>
              <a:srgbClr val="C9CEC5"/>
            </a:solidFill>
            <a:round/>
          </a:ln>
        </p:spPr>
      </p:sp>
      <p:sp>
        <p:nvSpPr>
          <p:cNvPr id="15" name="q3-num"/>
          <p:cNvSpPr txBox="1"/>
          <p:nvPr/>
        </p:nvSpPr>
        <p:spPr>
          <a:xfrm>
            <a:off x="609600" y="43815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C2623E"/>
                </a:solidFill>
                <a:latin typeface="Manrope"/>
                <a:ea typeface="Manrope"/>
              </a:rPr>
              <a:t>03</a:t>
            </a:r>
            <a:endParaRPr lang="en-US" sz="2000" noProof="1"/>
          </a:p>
        </p:txBody>
      </p:sp>
      <p:sp>
        <p:nvSpPr>
          <p:cNvPr id="16" name="q3-title"/>
          <p:cNvSpPr txBox="1"/>
          <p:nvPr/>
        </p:nvSpPr>
        <p:spPr>
          <a:xfrm>
            <a:off x="1422400" y="4330700"/>
            <a:ext cx="4000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72520"/>
                </a:solidFill>
                <a:latin typeface="Manrope"/>
                <a:ea typeface="Manrope"/>
              </a:rPr>
              <a:t>Сколько это стоит</a:t>
            </a:r>
            <a:endParaRPr lang="en-US" sz="1800" noProof="1"/>
          </a:p>
        </p:txBody>
      </p:sp>
      <p:sp>
        <p:nvSpPr>
          <p:cNvPr id="17" name="q3-body"/>
          <p:cNvSpPr txBox="1"/>
          <p:nvPr/>
        </p:nvSpPr>
        <p:spPr>
          <a:xfrm>
            <a:off x="1422400" y="4711700"/>
            <a:ext cx="56515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68746F"/>
                </a:solidFill>
                <a:latin typeface="Manrope"/>
                <a:ea typeface="Manrope"/>
              </a:rPr>
              <a:t>Оборудование, разработка, интеграция и эксплуатация; окупаемость - по фактическому эффекту.</a:t>
            </a:r>
            <a:endParaRPr lang="en-US" sz="1300" noProof="1"/>
          </a:p>
        </p:txBody>
      </p:sp>
      <p:sp>
        <p:nvSpPr>
          <p:cNvPr id="18" name="q3-key"/>
          <p:cNvSpPr txBox="1"/>
          <p:nvPr/>
        </p:nvSpPr>
        <p:spPr>
          <a:xfrm>
            <a:off x="8255000" y="4356100"/>
            <a:ext cx="3175000" cy="69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600" b="1" noProof="1">
                <a:solidFill>
                  <a:srgbClr val="173C34"/>
                </a:solidFill>
                <a:latin typeface="Manrope"/>
                <a:ea typeface="Manrope"/>
              </a:rPr>
              <a:t>CAPEX / E мес.</a:t>
            </a:r>
            <a:endParaRPr lang="en-US" sz="1600" noProof="1"/>
          </a:p>
          <a:p>
            <a:pPr algn="r">
              <a:lnSpc>
                <a:spcPct val="120000"/>
              </a:lnSpc>
            </a:pPr>
            <a:r>
              <a:rPr lang="en-US" sz="1100" b="1" noProof="1">
                <a:solidFill>
                  <a:srgbClr val="68746F"/>
                </a:solidFill>
                <a:latin typeface="Manrope"/>
                <a:ea typeface="Manrope"/>
              </a:rPr>
              <a:t>суммы - после сбора исходных данных</a:t>
            </a:r>
            <a:endParaRPr lang="en-US" sz="1600" noProof="1"/>
          </a:p>
        </p:txBody>
      </p:sp>
      <p:sp>
        <p:nvSpPr>
          <p:cNvPr id="19" name="r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eyJ2aWV3Qm94IjpbODUyLDFdLCJwb2ludHMiOiIwLDAgODUyLDAifQ</pptd:line>
              </p:ext>
            </p:extLst>
          </p:nvPr>
        </p:nvSpPr>
        <p:spPr>
          <a:xfrm>
            <a:off x="609600" y="5346700"/>
            <a:ext cx="10820400" cy="12700"/>
          </a:xfrm>
          <a:custGeom>
            <a:avLst/>
            <a:gdLst/>
            <a:ahLst/>
            <a:cxnLst/>
            <a:rect l="l" t="t" r="r" b="b"/>
            <a:pathLst>
              <a:path w="852" h="1">
                <a:moveTo>
                  <a:pt x="0" y="0"/>
                </a:moveTo>
                <a:lnTo>
                  <a:pt x="852" y="0"/>
                </a:lnTo>
              </a:path>
            </a:pathLst>
          </a:custGeom>
          <a:noFill/>
          <a:ln w="10160" cap="rnd">
            <a:solidFill>
              <a:srgbClr val="C9CEC5"/>
            </a:solidFill>
            <a:round/>
          </a:ln>
        </p:spPr>
      </p:sp>
      <p:sp>
        <p:nvSpPr>
          <p:cNvPr id="20" name="q4-num"/>
          <p:cNvSpPr txBox="1"/>
          <p:nvPr/>
        </p:nvSpPr>
        <p:spPr>
          <a:xfrm>
            <a:off x="609600" y="5562600"/>
            <a:ext cx="6096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000" b="1" noProof="1">
                <a:solidFill>
                  <a:srgbClr val="C2623E"/>
                </a:solidFill>
                <a:latin typeface="Manrope"/>
                <a:ea typeface="Manrope"/>
              </a:rPr>
              <a:t>04</a:t>
            </a:r>
            <a:endParaRPr lang="en-US" sz="2000" noProof="1"/>
          </a:p>
        </p:txBody>
      </p:sp>
      <p:sp>
        <p:nvSpPr>
          <p:cNvPr id="21" name="q4-title"/>
          <p:cNvSpPr txBox="1"/>
          <p:nvPr/>
        </p:nvSpPr>
        <p:spPr>
          <a:xfrm>
            <a:off x="1422400" y="5511800"/>
            <a:ext cx="5461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72520"/>
                </a:solidFill>
                <a:latin typeface="Manrope"/>
                <a:ea typeface="Manrope"/>
              </a:rPr>
              <a:t>При каких условиях масштабируем</a:t>
            </a:r>
            <a:endParaRPr lang="en-US" sz="1800" noProof="1"/>
          </a:p>
        </p:txBody>
      </p:sp>
      <p:sp>
        <p:nvSpPr>
          <p:cNvPr id="22" name="q4-body"/>
          <p:cNvSpPr txBox="1"/>
          <p:nvPr/>
        </p:nvSpPr>
        <p:spPr>
          <a:xfrm>
            <a:off x="1422400" y="5892800"/>
            <a:ext cx="5969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68746F"/>
                </a:solidFill>
                <a:latin typeface="Manrope"/>
                <a:ea typeface="Manrope"/>
              </a:rPr>
              <a:t>Все метрики достигнуты, механика и резервный контроль проверены, эффект подтверждён.</a:t>
            </a:r>
            <a:endParaRPr lang="en-US" sz="1300" noProof="1"/>
          </a:p>
        </p:txBody>
      </p:sp>
      <p:sp>
        <p:nvSpPr>
          <p:cNvPr id="23" name="q4-key"/>
          <p:cNvSpPr txBox="1"/>
          <p:nvPr/>
        </p:nvSpPr>
        <p:spPr>
          <a:xfrm>
            <a:off x="8255000" y="5511800"/>
            <a:ext cx="3175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2500" b="1" noProof="1">
                <a:solidFill>
                  <a:srgbClr val="173C34"/>
                </a:solidFill>
                <a:latin typeface="Manrope"/>
                <a:ea typeface="Manrope"/>
              </a:rPr>
              <a:t>1 пост → N линий</a:t>
            </a:r>
            <a:endParaRPr lang="en-US" sz="2500" noProof="1"/>
          </a:p>
          <a:p>
            <a:pPr algn="r">
              <a:lnSpc>
                <a:spcPct val="120000"/>
              </a:lnSpc>
            </a:pPr>
            <a:r>
              <a:rPr lang="en-US" sz="1100" b="1" noProof="1">
                <a:solidFill>
                  <a:srgbClr val="68746F"/>
                </a:solidFill>
                <a:latin typeface="Manrope"/>
                <a:ea typeface="Manrope"/>
              </a:rPr>
              <a:t>после прохождения всех gate</a:t>
            </a:r>
            <a:endParaRPr lang="en-US" sz="2500" noProof="1"/>
          </a:p>
        </p:txBody>
      </p:sp>
      <p:sp>
        <p:nvSpPr>
          <p:cNvPr id="24" name="footer"/>
          <p:cNvSpPr txBox="1"/>
          <p:nvPr/>
        </p:nvSpPr>
        <p:spPr>
          <a:xfrm>
            <a:off x="609600" y="6527800"/>
            <a:ext cx="8890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800" noProof="1">
                <a:solidFill>
                  <a:srgbClr val="68746F"/>
                </a:solidFill>
                <a:latin typeface="Manrope"/>
                <a:ea typeface="Manrope"/>
              </a:rPr>
              <a:t>Источник: README проекта, разделы 1, 3, 6–7. Целевые значения - проектные критерии, не фактические результаты.</a:t>
            </a:r>
            <a:endParaRPr lang="en-US" sz="800" noProof="1"/>
          </a:p>
        </p:txBody>
      </p:sp>
      <p:sp>
        <p:nvSpPr>
          <p:cNvPr id="25" name="page"/>
          <p:cNvSpPr txBox="1"/>
          <p:nvPr/>
        </p:nvSpPr>
        <p:spPr>
          <a:xfrm>
            <a:off x="11112500" y="6477000"/>
            <a:ext cx="355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900" noProof="1">
                <a:solidFill>
                  <a:srgbClr val="68746F"/>
                </a:solidFill>
                <a:latin typeface="Manrope"/>
                <a:ea typeface="Manrope"/>
              </a:rPr>
              <a:t>04</a:t>
            </a:r>
            <a:endParaRPr lang="en-US" sz="9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175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130" noProof="1">
                <a:solidFill>
                  <a:srgbClr val="315B50"/>
                </a:solidFill>
                <a:latin typeface="Manrope"/>
                <a:ea typeface="Manrope"/>
              </a:rPr>
              <a:t>01 · КАКИЕ ПОТЕРИ СОКРАЩАЕМ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73100"/>
            <a:ext cx="10795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8000"/>
              </a:lnSpc>
            </a:pPr>
            <a:r>
              <a:rPr lang="en-US" sz="2900" b="1" noProof="1">
                <a:solidFill>
                  <a:srgbClr val="172520"/>
                </a:solidFill>
                <a:latin typeface="PT Serif"/>
                <a:ea typeface="PT Serif"/>
              </a:rPr>
              <a:t>Ручной контроль создаёт потери и при обнаружении, и при пропуске конденсата</a:t>
            </a:r>
            <a:endParaRPr lang="en-US" sz="29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676400"/>
            <a:ext cx="584200" cy="38100"/>
          </a:xfrm>
          <a:prstGeom prst="rect">
            <a:avLst/>
          </a:prstGeom>
          <a:solidFill>
            <a:srgbClr val="C2623E"/>
          </a:solidFill>
          <a:ln>
            <a:noFill/>
          </a:ln>
        </p:spPr>
      </p:sp>
      <p:sp>
        <p:nvSpPr>
          <p:cNvPr id="5" name="speed"/>
          <p:cNvSpPr txBox="1"/>
          <p:nvPr/>
        </p:nvSpPr>
        <p:spPr>
          <a:xfrm>
            <a:off x="609600" y="1917700"/>
            <a:ext cx="22860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0000"/>
              </a:lnSpc>
            </a:pPr>
            <a:r>
              <a:rPr lang="en-US" sz="4200" b="1" noProof="1">
                <a:solidFill>
                  <a:srgbClr val="173C34"/>
                </a:solidFill>
                <a:latin typeface="Manrope"/>
                <a:ea typeface="Manrope"/>
              </a:rPr>
              <a:t>50</a:t>
            </a:r>
            <a:endParaRPr lang="en-US" sz="4200" noProof="1"/>
          </a:p>
        </p:txBody>
      </p:sp>
      <p:sp>
        <p:nvSpPr>
          <p:cNvPr id="6" name="speed-unit"/>
          <p:cNvSpPr txBox="1"/>
          <p:nvPr/>
        </p:nvSpPr>
        <p:spPr>
          <a:xfrm>
            <a:off x="1320800" y="2095500"/>
            <a:ext cx="1968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3C34"/>
                </a:solidFill>
                <a:latin typeface="Manrope"/>
                <a:ea typeface="Manrope"/>
              </a:rPr>
              <a:t>лотков / мин</a:t>
            </a:r>
            <a:endParaRPr lang="en-US" sz="1400" noProof="1"/>
          </a:p>
        </p:txBody>
      </p:sp>
      <p:sp>
        <p:nvSpPr>
          <p:cNvPr id="7" name="speed-note"/>
          <p:cNvSpPr txBox="1"/>
          <p:nvPr/>
        </p:nvSpPr>
        <p:spPr>
          <a:xfrm>
            <a:off x="609600" y="2603500"/>
            <a:ext cx="2794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8746F"/>
                </a:solidFill>
                <a:latin typeface="Manrope"/>
                <a:ea typeface="Manrope"/>
              </a:rPr>
              <a:t>3 000 в час · 24 000 за 8-часовую смену</a:t>
            </a:r>
            <a:endParaRPr lang="en-US" sz="1100" noProof="1"/>
          </a:p>
        </p:txBody>
      </p:sp>
      <p:sp>
        <p:nvSpPr>
          <p:cNvPr id="8" name="metric-div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eyJ2aWV3Qm94IjpbMSw4Nl0sInBvaW50cyI6IjAsMCAwLDg2In0</pptd:line>
              </p:ext>
            </p:extLst>
          </p:nvPr>
        </p:nvSpPr>
        <p:spPr>
          <a:xfrm>
            <a:off x="3581400" y="1943100"/>
            <a:ext cx="12700" cy="1092200"/>
          </a:xfrm>
          <a:custGeom>
            <a:avLst/>
            <a:gdLst/>
            <a:ahLst/>
            <a:cxnLst/>
            <a:rect l="l" t="t" r="r" b="b"/>
            <a:pathLst>
              <a:path w="1" h="86">
                <a:moveTo>
                  <a:pt x="0" y="0"/>
                </a:moveTo>
                <a:lnTo>
                  <a:pt x="0" y="86"/>
                </a:lnTo>
              </a:path>
            </a:pathLst>
          </a:custGeom>
          <a:noFill/>
          <a:ln w="12700" cap="rnd">
            <a:solidFill>
              <a:srgbClr val="C9CEC5"/>
            </a:solidFill>
            <a:round/>
          </a:ln>
        </p:spPr>
      </p:sp>
      <p:sp>
        <p:nvSpPr>
          <p:cNvPr id="9" name="interval"/>
          <p:cNvSpPr txBox="1"/>
          <p:nvPr/>
        </p:nvSpPr>
        <p:spPr>
          <a:xfrm>
            <a:off x="3987800" y="1917700"/>
            <a:ext cx="20955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0000"/>
              </a:lnSpc>
            </a:pPr>
            <a:r>
              <a:rPr lang="en-US" sz="4200" b="1" noProof="1">
                <a:solidFill>
                  <a:srgbClr val="173C34"/>
                </a:solidFill>
                <a:latin typeface="Manrope"/>
                <a:ea typeface="Manrope"/>
              </a:rPr>
              <a:t>1,2 с</a:t>
            </a:r>
            <a:endParaRPr lang="en-US" sz="4200" noProof="1"/>
          </a:p>
        </p:txBody>
      </p:sp>
      <p:sp>
        <p:nvSpPr>
          <p:cNvPr id="10" name="interval-note"/>
          <p:cNvSpPr txBox="1"/>
          <p:nvPr/>
        </p:nvSpPr>
        <p:spPr>
          <a:xfrm>
            <a:off x="3987800" y="2603500"/>
            <a:ext cx="26035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8746F"/>
                </a:solidFill>
                <a:latin typeface="Manrope"/>
                <a:ea typeface="Manrope"/>
              </a:rPr>
              <a:t>между лотками - стабильность внимания двух операторов ограничена</a:t>
            </a:r>
            <a:endParaRPr lang="en-US" sz="1100" noProof="1"/>
          </a:p>
        </p:txBody>
      </p:sp>
      <p:sp>
        <p:nvSpPr>
          <p:cNvPr id="11" name="metric-div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eyJ2aWV3Qm94IjpbMSw4Nl0sInBvaW50cyI6IjAsMCAwLDg2In0</pptd:line>
              </p:ext>
            </p:extLst>
          </p:nvPr>
        </p:nvSpPr>
        <p:spPr>
          <a:xfrm>
            <a:off x="6883400" y="1943100"/>
            <a:ext cx="12700" cy="1092200"/>
          </a:xfrm>
          <a:custGeom>
            <a:avLst/>
            <a:gdLst/>
            <a:ahLst/>
            <a:cxnLst/>
            <a:rect l="l" t="t" r="r" b="b"/>
            <a:pathLst>
              <a:path w="1" h="86">
                <a:moveTo>
                  <a:pt x="0" y="0"/>
                </a:moveTo>
                <a:lnTo>
                  <a:pt x="0" y="86"/>
                </a:lnTo>
              </a:path>
            </a:pathLst>
          </a:custGeom>
          <a:noFill/>
          <a:ln w="12700" cap="rnd">
            <a:solidFill>
              <a:srgbClr val="C9CEC5"/>
            </a:solidFill>
            <a:round/>
          </a:ln>
        </p:spPr>
      </p:sp>
      <p:sp>
        <p:nvSpPr>
          <p:cNvPr id="12" name="people"/>
          <p:cNvSpPr txBox="1"/>
          <p:nvPr/>
        </p:nvSpPr>
        <p:spPr>
          <a:xfrm>
            <a:off x="7302500" y="1917700"/>
            <a:ext cx="1651000" cy="647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0000"/>
              </a:lnSpc>
            </a:pPr>
            <a:r>
              <a:rPr lang="en-US" sz="4200" b="1" noProof="1">
                <a:solidFill>
                  <a:srgbClr val="173C34"/>
                </a:solidFill>
                <a:latin typeface="Manrope"/>
                <a:ea typeface="Manrope"/>
              </a:rPr>
              <a:t>2</a:t>
            </a:r>
            <a:endParaRPr lang="en-US" sz="4200" noProof="1"/>
          </a:p>
        </p:txBody>
      </p:sp>
      <p:sp>
        <p:nvSpPr>
          <p:cNvPr id="13" name="people-unit"/>
          <p:cNvSpPr txBox="1"/>
          <p:nvPr/>
        </p:nvSpPr>
        <p:spPr>
          <a:xfrm>
            <a:off x="7810500" y="2082800"/>
            <a:ext cx="22860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3C34"/>
                </a:solidFill>
                <a:latin typeface="Manrope"/>
                <a:ea typeface="Manrope"/>
              </a:rPr>
              <a:t>оператора</a:t>
            </a:r>
            <a:endParaRPr lang="en-US" sz="1400" noProof="1"/>
          </a:p>
        </p:txBody>
      </p:sp>
      <p:sp>
        <p:nvSpPr>
          <p:cNvPr id="14" name="people-note"/>
          <p:cNvSpPr txBox="1"/>
          <p:nvPr/>
        </p:nvSpPr>
        <p:spPr>
          <a:xfrm>
            <a:off x="7302500" y="2603500"/>
            <a:ext cx="3810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8746F"/>
                </a:solidFill>
                <a:latin typeface="Manrope"/>
                <a:ea typeface="Manrope"/>
              </a:rPr>
              <a:t>визуально проверяют каждую крышку на упаковочной линии</a:t>
            </a:r>
            <a:endParaRPr lang="en-US" sz="1100" noProof="1"/>
          </a:p>
        </p:txBody>
      </p:sp>
      <p:sp>
        <p:nvSpPr>
          <p:cNvPr id="15" name="mid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eyJ2aWV3Qm94IjpbODUyLDFdLCJwb2ludHMiOiIwLDAgODUyLDAifQ</pptd:line>
              </p:ext>
            </p:extLst>
          </p:nvPr>
        </p:nvSpPr>
        <p:spPr>
          <a:xfrm>
            <a:off x="609600" y="3340100"/>
            <a:ext cx="10820400" cy="12700"/>
          </a:xfrm>
          <a:custGeom>
            <a:avLst/>
            <a:gdLst/>
            <a:ahLst/>
            <a:cxnLst/>
            <a:rect l="l" t="t" r="r" b="b"/>
            <a:pathLst>
              <a:path w="852" h="1">
                <a:moveTo>
                  <a:pt x="0" y="0"/>
                </a:moveTo>
                <a:lnTo>
                  <a:pt x="852" y="0"/>
                </a:lnTo>
              </a:path>
            </a:pathLst>
          </a:custGeom>
          <a:noFill/>
          <a:ln w="12700" cap="rnd">
            <a:solidFill>
              <a:srgbClr val="173C34"/>
            </a:solidFill>
            <a:round/>
          </a:ln>
        </p:spPr>
      </p:sp>
      <p:sp>
        <p:nvSpPr>
          <p:cNvPr id="16" name="left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eyJpY29uTmFtZSI6ImZhczpjaXJjbGUtc3RvcCJ9</pptd:icon>
              </p:ext>
            </p:extLst>
          </p:nvPr>
        </p:nvSpPr>
        <p:spPr>
          <a:xfrm>
            <a:off x="622300" y="3683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397" y="512"/>
                  <a:pt x="512" y="397"/>
                  <a:pt x="512" y="256"/>
                </a:cubicBezTo>
                <a:cubicBezTo>
                  <a:pt x="512" y="115"/>
                  <a:pt x="397" y="0"/>
                  <a:pt x="256" y="0"/>
                </a:cubicBezTo>
                <a:cubicBezTo>
                  <a:pt x="115" y="0"/>
                  <a:pt x="0" y="115"/>
                  <a:pt x="0" y="256"/>
                </a:cubicBezTo>
                <a:cubicBezTo>
                  <a:pt x="0" y="397"/>
                  <a:pt x="115" y="512"/>
                  <a:pt x="256" y="512"/>
                </a:cubicBezTo>
                <a:close/>
                <a:moveTo>
                  <a:pt x="192" y="160"/>
                </a:moveTo>
                <a:lnTo>
                  <a:pt x="320" y="160"/>
                </a:lnTo>
                <a:cubicBezTo>
                  <a:pt x="338" y="160"/>
                  <a:pt x="352" y="174"/>
                  <a:pt x="352" y="192"/>
                </a:cubicBezTo>
                <a:lnTo>
                  <a:pt x="352" y="320"/>
                </a:lnTo>
                <a:cubicBezTo>
                  <a:pt x="352" y="338"/>
                  <a:pt x="338" y="352"/>
                  <a:pt x="320" y="352"/>
                </a:cubicBezTo>
                <a:lnTo>
                  <a:pt x="192" y="352"/>
                </a:lnTo>
                <a:cubicBezTo>
                  <a:pt x="174" y="352"/>
                  <a:pt x="160" y="338"/>
                  <a:pt x="160" y="320"/>
                </a:cubicBezTo>
                <a:lnTo>
                  <a:pt x="160" y="192"/>
                </a:lnTo>
                <a:cubicBezTo>
                  <a:pt x="160" y="174"/>
                  <a:pt x="174" y="160"/>
                  <a:pt x="192" y="160"/>
                </a:cubicBezTo>
                <a:close/>
              </a:path>
            </a:pathLst>
          </a:custGeom>
          <a:solidFill>
            <a:srgbClr val="C2623E"/>
          </a:solidFill>
          <a:ln>
            <a:noFill/>
          </a:ln>
        </p:spPr>
      </p:sp>
      <p:sp>
        <p:nvSpPr>
          <p:cNvPr id="17" name="left-head"/>
          <p:cNvSpPr txBox="1"/>
          <p:nvPr/>
        </p:nvSpPr>
        <p:spPr>
          <a:xfrm>
            <a:off x="1193800" y="3507936"/>
            <a:ext cx="43815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900" b="1" noProof="1">
                <a:solidFill>
                  <a:srgbClr val="172520"/>
                </a:solidFill>
                <a:latin typeface="Manrope"/>
                <a:ea typeface="Manrope"/>
              </a:rPr>
              <a:t>Дефект обнаружен → линия останавливается</a:t>
            </a:r>
            <a:endParaRPr lang="en-US" sz="1900" noProof="1"/>
          </a:p>
        </p:txBody>
      </p:sp>
      <p:sp>
        <p:nvSpPr>
          <p:cNvPr id="18" name="left-body"/>
          <p:cNvSpPr txBox="1"/>
          <p:nvPr/>
        </p:nvSpPr>
        <p:spPr>
          <a:xfrm>
            <a:off x="1206500" y="4187874"/>
            <a:ext cx="42545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68746F"/>
                </a:solidFill>
                <a:latin typeface="Manrope"/>
                <a:ea typeface="Manrope"/>
              </a:rPr>
              <a:t>При ручном контроле обнаружение конденсата требует полной остановки. Теряются выпуск и время линии.</a:t>
            </a:r>
            <a:endParaRPr lang="en-US" sz="1300" noProof="1"/>
          </a:p>
        </p:txBody>
      </p:sp>
      <p:sp>
        <p:nvSpPr>
          <p:cNvPr id="19" name="loss10"/>
          <p:cNvSpPr txBox="1"/>
          <p:nvPr/>
        </p:nvSpPr>
        <p:spPr>
          <a:xfrm>
            <a:off x="1206500" y="5003800"/>
            <a:ext cx="2032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b="1" noProof="1">
                <a:solidFill>
                  <a:srgbClr val="C2623E"/>
                </a:solidFill>
                <a:latin typeface="Manrope"/>
                <a:ea typeface="Manrope"/>
              </a:rPr>
              <a:t>500 лотков</a:t>
            </a:r>
            <a:endParaRPr lang="en-US" sz="2800" noProof="1"/>
          </a:p>
        </p:txBody>
      </p:sp>
      <p:sp>
        <p:nvSpPr>
          <p:cNvPr id="20" name="loss10-note"/>
          <p:cNvSpPr txBox="1"/>
          <p:nvPr/>
        </p:nvSpPr>
        <p:spPr>
          <a:xfrm>
            <a:off x="1206500" y="5549900"/>
            <a:ext cx="1905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68746F"/>
                </a:solidFill>
                <a:latin typeface="Manrope"/>
                <a:ea typeface="Manrope"/>
              </a:rPr>
              <a:t>задержка выпуска за 10 минут остановки</a:t>
            </a:r>
            <a:endParaRPr lang="en-US" sz="1000" noProof="1"/>
          </a:p>
        </p:txBody>
      </p:sp>
      <p:sp>
        <p:nvSpPr>
          <p:cNvPr id="21" name="loss30"/>
          <p:cNvSpPr txBox="1"/>
          <p:nvPr/>
        </p:nvSpPr>
        <p:spPr>
          <a:xfrm>
            <a:off x="3581400" y="5003800"/>
            <a:ext cx="215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800" b="1" noProof="1">
                <a:solidFill>
                  <a:srgbClr val="C2623E"/>
                </a:solidFill>
                <a:latin typeface="Manrope"/>
                <a:ea typeface="Manrope"/>
              </a:rPr>
              <a:t>1 500</a:t>
            </a:r>
            <a:endParaRPr lang="en-US" sz="2800" noProof="1"/>
          </a:p>
        </p:txBody>
      </p:sp>
      <p:sp>
        <p:nvSpPr>
          <p:cNvPr id="22" name="loss30-note"/>
          <p:cNvSpPr txBox="1"/>
          <p:nvPr/>
        </p:nvSpPr>
        <p:spPr>
          <a:xfrm>
            <a:off x="3581400" y="5549900"/>
            <a:ext cx="20320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68746F"/>
                </a:solidFill>
                <a:latin typeface="Manrope"/>
                <a:ea typeface="Manrope"/>
              </a:rPr>
              <a:t>лотков за 30 минут остановки</a:t>
            </a:r>
            <a:endParaRPr lang="en-US" sz="1000" noProof="1"/>
          </a:p>
        </p:txBody>
      </p:sp>
      <p:sp>
        <p:nvSpPr>
          <p:cNvPr id="23" name="vlin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eyJ2aWV3Qm94IjpbMSwxODNdLCJwb2ludHMiOiIwLDAgMCwxODMifQ</pptd:line>
              </p:ext>
            </p:extLst>
          </p:nvPr>
        </p:nvSpPr>
        <p:spPr>
          <a:xfrm>
            <a:off x="6184900" y="3670300"/>
            <a:ext cx="12700" cy="2324100"/>
          </a:xfrm>
          <a:custGeom>
            <a:avLst/>
            <a:gdLst/>
            <a:ahLst/>
            <a:cxnLst/>
            <a:rect l="l" t="t" r="r" b="b"/>
            <a:pathLst>
              <a:path w="1" h="183">
                <a:moveTo>
                  <a:pt x="0" y="0"/>
                </a:moveTo>
                <a:lnTo>
                  <a:pt x="0" y="183"/>
                </a:lnTo>
              </a:path>
            </a:pathLst>
          </a:custGeom>
          <a:noFill/>
          <a:ln w="12700" cap="rnd">
            <a:solidFill>
              <a:srgbClr val="C9CEC5"/>
            </a:solidFill>
            <a:round/>
          </a:ln>
        </p:spPr>
      </p:sp>
      <p:sp>
        <p:nvSpPr>
          <p:cNvPr id="24" name="right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eyJpY29uTmFtZSI6ImZhczpyb3RhdGUtbGVmdCJ9</pptd:icon>
              </p:ext>
            </p:extLst>
          </p:nvPr>
        </p:nvSpPr>
        <p:spPr>
          <a:xfrm>
            <a:off x="6604000" y="3683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4" y="192"/>
                </a:moveTo>
                <a:lnTo>
                  <a:pt x="168" y="192"/>
                </a:lnTo>
                <a:cubicBezTo>
                  <a:pt x="178" y="192"/>
                  <a:pt x="187" y="186"/>
                  <a:pt x="190" y="177"/>
                </a:cubicBezTo>
                <a:cubicBezTo>
                  <a:pt x="194" y="168"/>
                  <a:pt x="192" y="158"/>
                  <a:pt x="185" y="151"/>
                </a:cubicBezTo>
                <a:lnTo>
                  <a:pt x="138" y="104"/>
                </a:lnTo>
                <a:cubicBezTo>
                  <a:pt x="214" y="46"/>
                  <a:pt x="323" y="51"/>
                  <a:pt x="392" y="120"/>
                </a:cubicBezTo>
                <a:cubicBezTo>
                  <a:pt x="467" y="195"/>
                  <a:pt x="467" y="317"/>
                  <a:pt x="392" y="392"/>
                </a:cubicBezTo>
                <a:cubicBezTo>
                  <a:pt x="317" y="467"/>
                  <a:pt x="195" y="467"/>
                  <a:pt x="120" y="392"/>
                </a:cubicBezTo>
                <a:cubicBezTo>
                  <a:pt x="110" y="382"/>
                  <a:pt x="101" y="370"/>
                  <a:pt x="94" y="359"/>
                </a:cubicBezTo>
                <a:cubicBezTo>
                  <a:pt x="84" y="344"/>
                  <a:pt x="65" y="339"/>
                  <a:pt x="50" y="349"/>
                </a:cubicBezTo>
                <a:cubicBezTo>
                  <a:pt x="35" y="358"/>
                  <a:pt x="30" y="378"/>
                  <a:pt x="40" y="393"/>
                </a:cubicBezTo>
                <a:cubicBezTo>
                  <a:pt x="50" y="409"/>
                  <a:pt x="61" y="424"/>
                  <a:pt x="75" y="437"/>
                </a:cubicBezTo>
                <a:cubicBezTo>
                  <a:pt x="175" y="537"/>
                  <a:pt x="337" y="537"/>
                  <a:pt x="437" y="437"/>
                </a:cubicBezTo>
                <a:cubicBezTo>
                  <a:pt x="537" y="337"/>
                  <a:pt x="537" y="175"/>
                  <a:pt x="437" y="75"/>
                </a:cubicBezTo>
                <a:cubicBezTo>
                  <a:pt x="343" y="-19"/>
                  <a:pt x="193" y="-25"/>
                  <a:pt x="93" y="59"/>
                </a:cubicBezTo>
                <a:lnTo>
                  <a:pt x="41" y="7"/>
                </a:lnTo>
                <a:cubicBezTo>
                  <a:pt x="34" y="0"/>
                  <a:pt x="24" y="-2"/>
                  <a:pt x="15" y="2"/>
                </a:cubicBezTo>
                <a:cubicBezTo>
                  <a:pt x="6" y="6"/>
                  <a:pt x="0" y="14"/>
                  <a:pt x="0" y="24"/>
                </a:cubicBezTo>
                <a:lnTo>
                  <a:pt x="0" y="168"/>
                </a:lnTo>
                <a:cubicBezTo>
                  <a:pt x="0" y="181"/>
                  <a:pt x="11" y="192"/>
                  <a:pt x="24" y="192"/>
                </a:cubicBezTo>
                <a:close/>
              </a:path>
            </a:pathLst>
          </a:custGeom>
          <a:solidFill>
            <a:srgbClr val="173C34"/>
          </a:solidFill>
          <a:ln>
            <a:noFill/>
          </a:ln>
        </p:spPr>
      </p:sp>
      <p:sp>
        <p:nvSpPr>
          <p:cNvPr id="25" name="right-head"/>
          <p:cNvSpPr txBox="1"/>
          <p:nvPr/>
        </p:nvSpPr>
        <p:spPr>
          <a:xfrm>
            <a:off x="7175500" y="3581400"/>
            <a:ext cx="4254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5000"/>
              </a:lnSpc>
            </a:pPr>
            <a:r>
              <a:rPr lang="en-US" sz="1900" b="1" noProof="1">
                <a:solidFill>
                  <a:srgbClr val="172520"/>
                </a:solidFill>
                <a:latin typeface="Manrope"/>
                <a:ea typeface="Manrope"/>
              </a:rPr>
              <a:t>Дефект пропущен → потери доходят до магазина</a:t>
            </a:r>
            <a:endParaRPr lang="en-US" sz="1900" noProof="1"/>
          </a:p>
        </p:txBody>
      </p:sp>
      <p:sp>
        <p:nvSpPr>
          <p:cNvPr id="26" name="right-body"/>
          <p:cNvSpPr txBox="1"/>
          <p:nvPr/>
        </p:nvSpPr>
        <p:spPr>
          <a:xfrm>
            <a:off x="7175500" y="4356100"/>
            <a:ext cx="412750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noProof="1">
                <a:solidFill>
                  <a:srgbClr val="68746F"/>
                </a:solidFill>
                <a:latin typeface="Manrope"/>
                <a:ea typeface="Manrope"/>
              </a:rPr>
              <a:t>Сокращается остаточный срок годности. Возникают возвраты, обратная логистика, списания и рекламации.</a:t>
            </a:r>
            <a:endParaRPr lang="en-US" sz="1300" noProof="1"/>
          </a:p>
        </p:txBody>
      </p:sp>
      <p:sp>
        <p:nvSpPr>
          <p:cNvPr id="27" name="right-chain"/>
          <p:cNvSpPr txBox="1"/>
          <p:nvPr/>
        </p:nvSpPr>
        <p:spPr>
          <a:xfrm>
            <a:off x="7175500" y="5397500"/>
            <a:ext cx="41275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3C34"/>
                </a:solidFill>
                <a:latin typeface="Manrope"/>
                <a:ea typeface="Manrope"/>
              </a:rPr>
              <a:t>ПРОПУСК  →  ВОЗВРАТ  →  СПИСАНИЕ</a:t>
            </a:r>
            <a:endParaRPr lang="en-US" sz="1200" noProof="1"/>
          </a:p>
        </p:txBody>
      </p:sp>
      <p:sp>
        <p:nvSpPr>
          <p:cNvPr id="28" name="footer"/>
          <p:cNvSpPr txBox="1"/>
          <p:nvPr/>
        </p:nvSpPr>
        <p:spPr>
          <a:xfrm>
            <a:off x="609600" y="6527800"/>
            <a:ext cx="9271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800" noProof="1">
                <a:solidFill>
                  <a:srgbClr val="68746F"/>
                </a:solidFill>
                <a:latin typeface="Manrope"/>
                <a:ea typeface="Manrope"/>
              </a:rPr>
              <a:t>Источник: README, разделы 1–2. Расчёт задержки: 50 лотков/мин × длительность остановки.</a:t>
            </a:r>
            <a:endParaRPr lang="en-US" sz="800" noProof="1"/>
          </a:p>
        </p:txBody>
      </p:sp>
      <p:sp>
        <p:nvSpPr>
          <p:cNvPr id="29" name="page"/>
          <p:cNvSpPr txBox="1"/>
          <p:nvPr/>
        </p:nvSpPr>
        <p:spPr>
          <a:xfrm>
            <a:off x="11112500" y="6477000"/>
            <a:ext cx="355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900" noProof="1">
                <a:solidFill>
                  <a:srgbClr val="68746F"/>
                </a:solidFill>
                <a:latin typeface="Manrope"/>
                <a:ea typeface="Manrope"/>
              </a:rPr>
              <a:t>05</a:t>
            </a:r>
            <a:endParaRPr lang="en-US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175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130" noProof="1">
                <a:solidFill>
                  <a:srgbClr val="315B50"/>
                </a:solidFill>
                <a:latin typeface="Manrope"/>
                <a:ea typeface="Manrope"/>
              </a:rPr>
              <a:t>РЕШЕНИЕ · ЛОКАЛЬНОЕ МАШИННОЕ ЗРЕНИЕ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73100"/>
            <a:ext cx="10795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8000"/>
              </a:lnSpc>
            </a:pPr>
            <a:r>
              <a:rPr lang="en-US" sz="2900" b="1" noProof="1">
                <a:solidFill>
                  <a:srgbClr val="172520"/>
                </a:solidFill>
                <a:latin typeface="PT Serif"/>
                <a:ea typeface="PT Serif"/>
              </a:rPr>
              <a:t>Система удаляет только дефектный лоток - основной поток не останавливается</a:t>
            </a:r>
            <a:endParaRPr lang="en-US" sz="29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676400"/>
            <a:ext cx="584200" cy="38100"/>
          </a:xfrm>
          <a:prstGeom prst="rect">
            <a:avLst/>
          </a:prstGeom>
          <a:solidFill>
            <a:srgbClr val="C2623E"/>
          </a:solidFill>
          <a:ln>
            <a:noFill/>
          </a:ln>
        </p:spPr>
      </p:sp>
      <p:sp>
        <p:nvSpPr>
          <p:cNvPr id="5" name="boundary"/>
          <p:cNvSpPr/>
          <p:nvPr/>
        </p:nvSpPr>
        <p:spPr>
          <a:xfrm>
            <a:off x="457200" y="1943100"/>
            <a:ext cx="10972800" cy="2781300"/>
          </a:xfrm>
          <a:prstGeom prst="rect">
            <a:avLst/>
          </a:prstGeom>
          <a:solidFill>
            <a:srgbClr val="FFFFFF">
              <a:alpha val="25098"/>
            </a:srgbClr>
          </a:solidFill>
          <a:ln w="12700">
            <a:solidFill>
              <a:srgbClr val="315B50"/>
            </a:solidFill>
            <a:prstDash val="dash"/>
          </a:ln>
        </p:spPr>
      </p:sp>
      <p:sp>
        <p:nvSpPr>
          <p:cNvPr id="6" name="boundary-label"/>
          <p:cNvSpPr txBox="1"/>
          <p:nvPr/>
        </p:nvSpPr>
        <p:spPr>
          <a:xfrm>
            <a:off x="660400" y="2057400"/>
            <a:ext cx="45720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80" noProof="1">
                <a:solidFill>
                  <a:srgbClr val="315B50"/>
                </a:solidFill>
                <a:latin typeface="Manrope"/>
                <a:ea typeface="Manrope"/>
              </a:rPr>
              <a:t>ЗАМКНУТЫЙ ПРОИЗВОДСТВЕННЫЙ КОНТУР · БЕЗ ОБЛАКА</a:t>
            </a:r>
            <a:endParaRPr lang="en-US" sz="900" noProof="1"/>
          </a:p>
        </p:txBody>
      </p:sp>
      <p:sp>
        <p:nvSpPr>
          <p:cNvPr id="7" name="n1-circle"/>
          <p:cNvSpPr/>
          <p:nvPr/>
        </p:nvSpPr>
        <p:spPr>
          <a:xfrm>
            <a:off x="787400" y="2552700"/>
            <a:ext cx="762000" cy="762000"/>
          </a:xfrm>
          <a:prstGeom prst="ellipse">
            <a:avLst/>
          </a:prstGeom>
          <a:solidFill>
            <a:srgbClr val="DCE3DA"/>
          </a:solidFill>
          <a:ln>
            <a:noFill/>
          </a:ln>
        </p:spPr>
      </p:sp>
      <p:sp>
        <p:nvSpPr>
          <p:cNvPr id="8" name="n1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eyJpY29uTmFtZSI6ImZhczpjYW1lcmEifQ</pptd:icon>
              </p:ext>
            </p:extLst>
          </p:nvPr>
        </p:nvSpPr>
        <p:spPr>
          <a:xfrm>
            <a:off x="990600" y="2743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49" y="65"/>
                </a:moveTo>
                <a:lnTo>
                  <a:pt x="139" y="96"/>
                </a:lnTo>
                <a:lnTo>
                  <a:pt x="64" y="96"/>
                </a:lnTo>
                <a:cubicBezTo>
                  <a:pt x="29" y="96"/>
                  <a:pt x="0" y="125"/>
                  <a:pt x="0" y="160"/>
                </a:cubicBezTo>
                <a:lnTo>
                  <a:pt x="0" y="416"/>
                </a:lnTo>
                <a:cubicBezTo>
                  <a:pt x="0" y="451"/>
                  <a:pt x="29" y="480"/>
                  <a:pt x="64" y="480"/>
                </a:cubicBezTo>
                <a:lnTo>
                  <a:pt x="448" y="480"/>
                </a:lnTo>
                <a:cubicBezTo>
                  <a:pt x="483" y="480"/>
                  <a:pt x="512" y="451"/>
                  <a:pt x="512" y="416"/>
                </a:cubicBezTo>
                <a:lnTo>
                  <a:pt x="512" y="160"/>
                </a:lnTo>
                <a:cubicBezTo>
                  <a:pt x="512" y="125"/>
                  <a:pt x="483" y="96"/>
                  <a:pt x="448" y="96"/>
                </a:cubicBezTo>
                <a:lnTo>
                  <a:pt x="373" y="96"/>
                </a:lnTo>
                <a:lnTo>
                  <a:pt x="363" y="65"/>
                </a:lnTo>
                <a:cubicBezTo>
                  <a:pt x="356" y="45"/>
                  <a:pt x="338" y="32"/>
                  <a:pt x="317" y="32"/>
                </a:cubicBezTo>
                <a:lnTo>
                  <a:pt x="195" y="32"/>
                </a:lnTo>
                <a:cubicBezTo>
                  <a:pt x="174" y="32"/>
                  <a:pt x="156" y="45"/>
                  <a:pt x="149" y="65"/>
                </a:cubicBezTo>
                <a:close/>
                <a:moveTo>
                  <a:pt x="256" y="192"/>
                </a:moveTo>
                <a:cubicBezTo>
                  <a:pt x="309" y="192"/>
                  <a:pt x="352" y="235"/>
                  <a:pt x="352" y="288"/>
                </a:cubicBezTo>
                <a:cubicBezTo>
                  <a:pt x="352" y="341"/>
                  <a:pt x="309" y="384"/>
                  <a:pt x="256" y="384"/>
                </a:cubicBezTo>
                <a:cubicBezTo>
                  <a:pt x="203" y="384"/>
                  <a:pt x="160" y="341"/>
                  <a:pt x="160" y="288"/>
                </a:cubicBezTo>
                <a:cubicBezTo>
                  <a:pt x="160" y="235"/>
                  <a:pt x="203" y="192"/>
                  <a:pt x="256" y="192"/>
                </a:cubicBezTo>
                <a:close/>
              </a:path>
            </a:pathLst>
          </a:custGeom>
          <a:solidFill>
            <a:srgbClr val="173C34"/>
          </a:solidFill>
          <a:ln>
            <a:noFill/>
          </a:ln>
        </p:spPr>
      </p:sp>
      <p:sp>
        <p:nvSpPr>
          <p:cNvPr id="9" name="n1-title"/>
          <p:cNvSpPr txBox="1"/>
          <p:nvPr/>
        </p:nvSpPr>
        <p:spPr>
          <a:xfrm>
            <a:off x="533400" y="3517900"/>
            <a:ext cx="13208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172520"/>
                </a:solidFill>
                <a:latin typeface="Manrope"/>
                <a:ea typeface="Manrope"/>
              </a:rPr>
              <a:t>Камера + подсветка</a:t>
            </a:r>
            <a:endParaRPr lang="en-US" sz="1300" noProof="1"/>
          </a:p>
        </p:txBody>
      </p:sp>
      <p:sp>
        <p:nvSpPr>
          <p:cNvPr id="10" name="n1-note"/>
          <p:cNvSpPr txBox="1"/>
          <p:nvPr/>
        </p:nvSpPr>
        <p:spPr>
          <a:xfrm>
            <a:off x="495300" y="4025900"/>
            <a:ext cx="1397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950" noProof="1">
                <a:solidFill>
                  <a:srgbClr val="68746F"/>
                </a:solidFill>
                <a:latin typeface="Manrope"/>
                <a:ea typeface="Manrope"/>
              </a:rPr>
              <a:t>2–3 кадра каждой крышки</a:t>
            </a:r>
            <a:endParaRPr lang="en-US" sz="950" noProof="1"/>
          </a:p>
        </p:txBody>
      </p:sp>
      <p:sp>
        <p:nvSpPr>
          <p:cNvPr id="11" name="a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eyJ2aWV3Qm94IjpbNjYsMl0sInBvaW50cyI6IjAsMSA2NiwxIn0</pptd:line>
              </p:ext>
            </p:extLst>
          </p:nvPr>
        </p:nvSpPr>
        <p:spPr>
          <a:xfrm>
            <a:off x="1841500" y="2921000"/>
            <a:ext cx="838200" cy="25400"/>
          </a:xfrm>
          <a:custGeom>
            <a:avLst/>
            <a:gdLst/>
            <a:ahLst/>
            <a:cxnLst/>
            <a:rect l="l" t="t" r="r" b="b"/>
            <a:pathLst>
              <a:path w="66" h="2">
                <a:moveTo>
                  <a:pt x="0" y="1"/>
                </a:moveTo>
                <a:lnTo>
                  <a:pt x="66" y="1"/>
                </a:lnTo>
              </a:path>
            </a:pathLst>
          </a:custGeom>
          <a:noFill/>
          <a:ln w="25400" cap="rnd">
            <a:solidFill>
              <a:srgbClr val="173C34"/>
            </a:solidFill>
            <a:round/>
            <a:tailEnd type="stealth"/>
          </a:ln>
        </p:spPr>
      </p:sp>
      <p:sp>
        <p:nvSpPr>
          <p:cNvPr id="12" name="n2-circle"/>
          <p:cNvSpPr/>
          <p:nvPr/>
        </p:nvSpPr>
        <p:spPr>
          <a:xfrm>
            <a:off x="2857500" y="2552700"/>
            <a:ext cx="762000" cy="762000"/>
          </a:xfrm>
          <a:prstGeom prst="ellipse">
            <a:avLst/>
          </a:prstGeom>
          <a:solidFill>
            <a:srgbClr val="DCE3DA"/>
          </a:solidFill>
          <a:ln>
            <a:noFill/>
          </a:ln>
        </p:spPr>
      </p:sp>
      <p:sp>
        <p:nvSpPr>
          <p:cNvPr id="13" name="n2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eyJpY29uTmFtZSI6ImZhczptaWNyb2NoaXAifQ</pptd:icon>
              </p:ext>
            </p:extLst>
          </p:nvPr>
        </p:nvSpPr>
        <p:spPr>
          <a:xfrm>
            <a:off x="3060700" y="2743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176" y="24"/>
                </a:moveTo>
                <a:cubicBezTo>
                  <a:pt x="176" y="11"/>
                  <a:pt x="165" y="0"/>
                  <a:pt x="152" y="0"/>
                </a:cubicBezTo>
                <a:cubicBezTo>
                  <a:pt x="139" y="0"/>
                  <a:pt x="128" y="11"/>
                  <a:pt x="128" y="24"/>
                </a:cubicBezTo>
                <a:lnTo>
                  <a:pt x="128" y="64"/>
                </a:lnTo>
                <a:cubicBezTo>
                  <a:pt x="93" y="64"/>
                  <a:pt x="64" y="93"/>
                  <a:pt x="64" y="128"/>
                </a:cubicBezTo>
                <a:lnTo>
                  <a:pt x="24" y="128"/>
                </a:lnTo>
                <a:cubicBezTo>
                  <a:pt x="11" y="128"/>
                  <a:pt x="0" y="139"/>
                  <a:pt x="0" y="152"/>
                </a:cubicBezTo>
                <a:cubicBezTo>
                  <a:pt x="0" y="165"/>
                  <a:pt x="11" y="176"/>
                  <a:pt x="24" y="176"/>
                </a:cubicBezTo>
                <a:lnTo>
                  <a:pt x="64" y="176"/>
                </a:lnTo>
                <a:lnTo>
                  <a:pt x="64" y="232"/>
                </a:lnTo>
                <a:lnTo>
                  <a:pt x="24" y="232"/>
                </a:lnTo>
                <a:cubicBezTo>
                  <a:pt x="11" y="232"/>
                  <a:pt x="0" y="243"/>
                  <a:pt x="0" y="256"/>
                </a:cubicBezTo>
                <a:cubicBezTo>
                  <a:pt x="0" y="269"/>
                  <a:pt x="11" y="280"/>
                  <a:pt x="24" y="280"/>
                </a:cubicBezTo>
                <a:lnTo>
                  <a:pt x="64" y="280"/>
                </a:lnTo>
                <a:lnTo>
                  <a:pt x="64" y="336"/>
                </a:lnTo>
                <a:lnTo>
                  <a:pt x="24" y="336"/>
                </a:lnTo>
                <a:cubicBezTo>
                  <a:pt x="11" y="336"/>
                  <a:pt x="0" y="347"/>
                  <a:pt x="0" y="360"/>
                </a:cubicBezTo>
                <a:cubicBezTo>
                  <a:pt x="0" y="373"/>
                  <a:pt x="11" y="384"/>
                  <a:pt x="24" y="384"/>
                </a:cubicBezTo>
                <a:lnTo>
                  <a:pt x="64" y="384"/>
                </a:lnTo>
                <a:cubicBezTo>
                  <a:pt x="64" y="419"/>
                  <a:pt x="93" y="448"/>
                  <a:pt x="128" y="448"/>
                </a:cubicBezTo>
                <a:lnTo>
                  <a:pt x="128" y="488"/>
                </a:lnTo>
                <a:cubicBezTo>
                  <a:pt x="128" y="501"/>
                  <a:pt x="139" y="512"/>
                  <a:pt x="152" y="512"/>
                </a:cubicBezTo>
                <a:cubicBezTo>
                  <a:pt x="165" y="512"/>
                  <a:pt x="176" y="501"/>
                  <a:pt x="176" y="488"/>
                </a:cubicBezTo>
                <a:lnTo>
                  <a:pt x="176" y="448"/>
                </a:lnTo>
                <a:lnTo>
                  <a:pt x="232" y="448"/>
                </a:lnTo>
                <a:lnTo>
                  <a:pt x="232" y="488"/>
                </a:lnTo>
                <a:cubicBezTo>
                  <a:pt x="232" y="501"/>
                  <a:pt x="243" y="512"/>
                  <a:pt x="256" y="512"/>
                </a:cubicBezTo>
                <a:cubicBezTo>
                  <a:pt x="269" y="512"/>
                  <a:pt x="280" y="501"/>
                  <a:pt x="280" y="488"/>
                </a:cubicBezTo>
                <a:lnTo>
                  <a:pt x="280" y="448"/>
                </a:lnTo>
                <a:lnTo>
                  <a:pt x="336" y="448"/>
                </a:lnTo>
                <a:lnTo>
                  <a:pt x="336" y="488"/>
                </a:lnTo>
                <a:cubicBezTo>
                  <a:pt x="336" y="501"/>
                  <a:pt x="347" y="512"/>
                  <a:pt x="360" y="512"/>
                </a:cubicBezTo>
                <a:cubicBezTo>
                  <a:pt x="373" y="512"/>
                  <a:pt x="384" y="501"/>
                  <a:pt x="384" y="488"/>
                </a:cubicBezTo>
                <a:lnTo>
                  <a:pt x="384" y="448"/>
                </a:lnTo>
                <a:cubicBezTo>
                  <a:pt x="419" y="448"/>
                  <a:pt x="448" y="419"/>
                  <a:pt x="448" y="384"/>
                </a:cubicBezTo>
                <a:lnTo>
                  <a:pt x="488" y="384"/>
                </a:lnTo>
                <a:cubicBezTo>
                  <a:pt x="501" y="384"/>
                  <a:pt x="512" y="373"/>
                  <a:pt x="512" y="360"/>
                </a:cubicBezTo>
                <a:cubicBezTo>
                  <a:pt x="512" y="347"/>
                  <a:pt x="501" y="336"/>
                  <a:pt x="488" y="336"/>
                </a:cubicBezTo>
                <a:lnTo>
                  <a:pt x="448" y="336"/>
                </a:lnTo>
                <a:lnTo>
                  <a:pt x="448" y="280"/>
                </a:lnTo>
                <a:lnTo>
                  <a:pt x="488" y="280"/>
                </a:lnTo>
                <a:cubicBezTo>
                  <a:pt x="501" y="280"/>
                  <a:pt x="512" y="269"/>
                  <a:pt x="512" y="256"/>
                </a:cubicBezTo>
                <a:cubicBezTo>
                  <a:pt x="512" y="243"/>
                  <a:pt x="501" y="232"/>
                  <a:pt x="488" y="232"/>
                </a:cubicBezTo>
                <a:lnTo>
                  <a:pt x="448" y="232"/>
                </a:lnTo>
                <a:lnTo>
                  <a:pt x="448" y="176"/>
                </a:lnTo>
                <a:lnTo>
                  <a:pt x="488" y="176"/>
                </a:lnTo>
                <a:cubicBezTo>
                  <a:pt x="501" y="176"/>
                  <a:pt x="512" y="165"/>
                  <a:pt x="512" y="152"/>
                </a:cubicBezTo>
                <a:cubicBezTo>
                  <a:pt x="512" y="139"/>
                  <a:pt x="501" y="128"/>
                  <a:pt x="488" y="128"/>
                </a:cubicBezTo>
                <a:lnTo>
                  <a:pt x="448" y="128"/>
                </a:lnTo>
                <a:cubicBezTo>
                  <a:pt x="448" y="93"/>
                  <a:pt x="419" y="64"/>
                  <a:pt x="384" y="64"/>
                </a:cubicBezTo>
                <a:lnTo>
                  <a:pt x="384" y="24"/>
                </a:lnTo>
                <a:cubicBezTo>
                  <a:pt x="384" y="11"/>
                  <a:pt x="373" y="0"/>
                  <a:pt x="360" y="0"/>
                </a:cubicBezTo>
                <a:cubicBezTo>
                  <a:pt x="347" y="0"/>
                  <a:pt x="336" y="11"/>
                  <a:pt x="336" y="24"/>
                </a:cubicBezTo>
                <a:lnTo>
                  <a:pt x="336" y="64"/>
                </a:lnTo>
                <a:lnTo>
                  <a:pt x="280" y="64"/>
                </a:lnTo>
                <a:lnTo>
                  <a:pt x="280" y="24"/>
                </a:lnTo>
                <a:cubicBezTo>
                  <a:pt x="280" y="11"/>
                  <a:pt x="269" y="0"/>
                  <a:pt x="256" y="0"/>
                </a:cubicBezTo>
                <a:cubicBezTo>
                  <a:pt x="243" y="0"/>
                  <a:pt x="232" y="11"/>
                  <a:pt x="232" y="24"/>
                </a:cubicBezTo>
                <a:lnTo>
                  <a:pt x="232" y="64"/>
                </a:lnTo>
                <a:lnTo>
                  <a:pt x="176" y="64"/>
                </a:lnTo>
                <a:lnTo>
                  <a:pt x="176" y="24"/>
                </a:lnTo>
                <a:close/>
                <a:moveTo>
                  <a:pt x="160" y="128"/>
                </a:moveTo>
                <a:lnTo>
                  <a:pt x="352" y="128"/>
                </a:lnTo>
                <a:cubicBezTo>
                  <a:pt x="370" y="128"/>
                  <a:pt x="384" y="142"/>
                  <a:pt x="384" y="160"/>
                </a:cubicBezTo>
                <a:lnTo>
                  <a:pt x="384" y="352"/>
                </a:lnTo>
                <a:cubicBezTo>
                  <a:pt x="384" y="370"/>
                  <a:pt x="370" y="384"/>
                  <a:pt x="352" y="384"/>
                </a:cubicBezTo>
                <a:lnTo>
                  <a:pt x="160" y="384"/>
                </a:lnTo>
                <a:cubicBezTo>
                  <a:pt x="142" y="384"/>
                  <a:pt x="128" y="370"/>
                  <a:pt x="128" y="352"/>
                </a:cubicBezTo>
                <a:lnTo>
                  <a:pt x="128" y="160"/>
                </a:lnTo>
                <a:cubicBezTo>
                  <a:pt x="128" y="142"/>
                  <a:pt x="142" y="128"/>
                  <a:pt x="160" y="128"/>
                </a:cubicBezTo>
                <a:close/>
              </a:path>
              <a:path w="512" h="512">
                <a:moveTo>
                  <a:pt x="176" y="176"/>
                </a:moveTo>
                <a:lnTo>
                  <a:pt x="176" y="336"/>
                </a:lnTo>
                <a:lnTo>
                  <a:pt x="336" y="336"/>
                </a:lnTo>
                <a:lnTo>
                  <a:pt x="336" y="176"/>
                </a:lnTo>
                <a:lnTo>
                  <a:pt x="176" y="176"/>
                </a:lnTo>
                <a:close/>
              </a:path>
            </a:pathLst>
          </a:custGeom>
          <a:solidFill>
            <a:srgbClr val="173C34"/>
          </a:solidFill>
          <a:ln>
            <a:noFill/>
          </a:ln>
        </p:spPr>
      </p:sp>
      <p:sp>
        <p:nvSpPr>
          <p:cNvPr id="14" name="n2-title"/>
          <p:cNvSpPr txBox="1"/>
          <p:nvPr/>
        </p:nvSpPr>
        <p:spPr>
          <a:xfrm>
            <a:off x="2489200" y="3517900"/>
            <a:ext cx="14986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172520"/>
                </a:solidFill>
                <a:latin typeface="Manrope"/>
                <a:ea typeface="Manrope"/>
              </a:rPr>
              <a:t>Локальная YOLO</a:t>
            </a:r>
            <a:endParaRPr lang="en-US" sz="1300" noProof="1"/>
          </a:p>
        </p:txBody>
      </p:sp>
      <p:sp>
        <p:nvSpPr>
          <p:cNvPr id="15" name="n2-note"/>
          <p:cNvSpPr txBox="1"/>
          <p:nvPr/>
        </p:nvSpPr>
        <p:spPr>
          <a:xfrm>
            <a:off x="2463800" y="4025900"/>
            <a:ext cx="15494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950" noProof="1">
                <a:solidFill>
                  <a:srgbClr val="68746F"/>
                </a:solidFill>
                <a:latin typeface="Manrope"/>
                <a:ea typeface="Manrope"/>
              </a:rPr>
              <a:t>«норма» / «конденсат» + зона дефекта</a:t>
            </a:r>
            <a:endParaRPr lang="en-US" sz="950" noProof="1"/>
          </a:p>
        </p:txBody>
      </p:sp>
      <p:sp>
        <p:nvSpPr>
          <p:cNvPr id="16" name="a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eyJ2aWV3Qm94IjpbNjYsMl0sInBvaW50cyI6IjAsMSA2NiwxIn0</pptd:line>
              </p:ext>
            </p:extLst>
          </p:nvPr>
        </p:nvSpPr>
        <p:spPr>
          <a:xfrm>
            <a:off x="3911600" y="2921000"/>
            <a:ext cx="838200" cy="25400"/>
          </a:xfrm>
          <a:custGeom>
            <a:avLst/>
            <a:gdLst/>
            <a:ahLst/>
            <a:cxnLst/>
            <a:rect l="l" t="t" r="r" b="b"/>
            <a:pathLst>
              <a:path w="66" h="2">
                <a:moveTo>
                  <a:pt x="0" y="1"/>
                </a:moveTo>
                <a:lnTo>
                  <a:pt x="66" y="1"/>
                </a:lnTo>
              </a:path>
            </a:pathLst>
          </a:custGeom>
          <a:noFill/>
          <a:ln w="25400" cap="rnd">
            <a:solidFill>
              <a:srgbClr val="173C34"/>
            </a:solidFill>
            <a:round/>
            <a:tailEnd type="stealth"/>
          </a:ln>
        </p:spPr>
      </p:sp>
      <p:sp>
        <p:nvSpPr>
          <p:cNvPr id="17" name="n3-circle"/>
          <p:cNvSpPr/>
          <p:nvPr/>
        </p:nvSpPr>
        <p:spPr>
          <a:xfrm>
            <a:off x="4927600" y="2552700"/>
            <a:ext cx="762000" cy="762000"/>
          </a:xfrm>
          <a:prstGeom prst="ellipse">
            <a:avLst/>
          </a:prstGeom>
          <a:solidFill>
            <a:srgbClr val="E9C7B7"/>
          </a:solidFill>
          <a:ln>
            <a:noFill/>
          </a:ln>
        </p:spPr>
      </p:sp>
      <p:sp>
        <p:nvSpPr>
          <p:cNvPr id="18" name="n3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eyJpY29uTmFtZSI6ImZhczpnZWFycyJ9</pptd:icon>
              </p:ext>
            </p:extLst>
          </p:nvPr>
        </p:nvSpPr>
        <p:spPr>
          <a:xfrm>
            <a:off x="5130800" y="2743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416" y="211"/>
                </a:moveTo>
                <a:cubicBezTo>
                  <a:pt x="428" y="207"/>
                  <a:pt x="441" y="213"/>
                  <a:pt x="446" y="224"/>
                </a:cubicBezTo>
                <a:lnTo>
                  <a:pt x="465" y="262"/>
                </a:lnTo>
                <a:cubicBezTo>
                  <a:pt x="475" y="263"/>
                  <a:pt x="485" y="266"/>
                  <a:pt x="495" y="270"/>
                </a:cubicBezTo>
                <a:lnTo>
                  <a:pt x="530" y="247"/>
                </a:lnTo>
                <a:cubicBezTo>
                  <a:pt x="540" y="240"/>
                  <a:pt x="554" y="241"/>
                  <a:pt x="563" y="250"/>
                </a:cubicBezTo>
                <a:lnTo>
                  <a:pt x="582" y="269"/>
                </a:lnTo>
                <a:cubicBezTo>
                  <a:pt x="591" y="278"/>
                  <a:pt x="593" y="292"/>
                  <a:pt x="586" y="303"/>
                </a:cubicBezTo>
                <a:lnTo>
                  <a:pt x="562" y="337"/>
                </a:lnTo>
                <a:cubicBezTo>
                  <a:pt x="564" y="342"/>
                  <a:pt x="566" y="347"/>
                  <a:pt x="567" y="352"/>
                </a:cubicBezTo>
                <a:cubicBezTo>
                  <a:pt x="569" y="357"/>
                  <a:pt x="570" y="362"/>
                  <a:pt x="570" y="367"/>
                </a:cubicBezTo>
                <a:lnTo>
                  <a:pt x="608" y="386"/>
                </a:lnTo>
                <a:cubicBezTo>
                  <a:pt x="619" y="392"/>
                  <a:pt x="625" y="404"/>
                  <a:pt x="622" y="416"/>
                </a:cubicBezTo>
                <a:lnTo>
                  <a:pt x="615" y="443"/>
                </a:lnTo>
                <a:cubicBezTo>
                  <a:pt x="612" y="455"/>
                  <a:pt x="600" y="463"/>
                  <a:pt x="588" y="462"/>
                </a:cubicBezTo>
                <a:lnTo>
                  <a:pt x="546" y="459"/>
                </a:lnTo>
                <a:cubicBezTo>
                  <a:pt x="539" y="468"/>
                  <a:pt x="532" y="475"/>
                  <a:pt x="524" y="481"/>
                </a:cubicBezTo>
                <a:lnTo>
                  <a:pt x="527" y="523"/>
                </a:lnTo>
                <a:cubicBezTo>
                  <a:pt x="527" y="536"/>
                  <a:pt x="519" y="547"/>
                  <a:pt x="507" y="551"/>
                </a:cubicBezTo>
                <a:lnTo>
                  <a:pt x="481" y="558"/>
                </a:lnTo>
                <a:cubicBezTo>
                  <a:pt x="469" y="561"/>
                  <a:pt x="456" y="555"/>
                  <a:pt x="450" y="544"/>
                </a:cubicBezTo>
                <a:lnTo>
                  <a:pt x="432" y="506"/>
                </a:lnTo>
                <a:cubicBezTo>
                  <a:pt x="421" y="505"/>
                  <a:pt x="411" y="502"/>
                  <a:pt x="402" y="498"/>
                </a:cubicBezTo>
                <a:lnTo>
                  <a:pt x="367" y="521"/>
                </a:lnTo>
                <a:cubicBezTo>
                  <a:pt x="356" y="528"/>
                  <a:pt x="342" y="527"/>
                  <a:pt x="334" y="518"/>
                </a:cubicBezTo>
                <a:lnTo>
                  <a:pt x="314" y="499"/>
                </a:lnTo>
                <a:cubicBezTo>
                  <a:pt x="305" y="490"/>
                  <a:pt x="304" y="476"/>
                  <a:pt x="311" y="466"/>
                </a:cubicBezTo>
                <a:lnTo>
                  <a:pt x="334" y="431"/>
                </a:lnTo>
                <a:cubicBezTo>
                  <a:pt x="332" y="426"/>
                  <a:pt x="331" y="421"/>
                  <a:pt x="329" y="416"/>
                </a:cubicBezTo>
                <a:cubicBezTo>
                  <a:pt x="328" y="411"/>
                  <a:pt x="327" y="406"/>
                  <a:pt x="326" y="401"/>
                </a:cubicBezTo>
                <a:lnTo>
                  <a:pt x="289" y="382"/>
                </a:lnTo>
                <a:cubicBezTo>
                  <a:pt x="277" y="376"/>
                  <a:pt x="272" y="364"/>
                  <a:pt x="275" y="352"/>
                </a:cubicBezTo>
                <a:lnTo>
                  <a:pt x="282" y="325"/>
                </a:lnTo>
                <a:cubicBezTo>
                  <a:pt x="285" y="313"/>
                  <a:pt x="296" y="305"/>
                  <a:pt x="309" y="306"/>
                </a:cubicBezTo>
                <a:lnTo>
                  <a:pt x="351" y="309"/>
                </a:lnTo>
                <a:cubicBezTo>
                  <a:pt x="357" y="300"/>
                  <a:pt x="365" y="293"/>
                  <a:pt x="373" y="287"/>
                </a:cubicBezTo>
                <a:lnTo>
                  <a:pt x="370" y="245"/>
                </a:lnTo>
                <a:cubicBezTo>
                  <a:pt x="369" y="232"/>
                  <a:pt x="377" y="221"/>
                  <a:pt x="390" y="218"/>
                </a:cubicBezTo>
                <a:lnTo>
                  <a:pt x="416" y="211"/>
                </a:lnTo>
                <a:close/>
                <a:moveTo>
                  <a:pt x="448" y="340"/>
                </a:moveTo>
                <a:cubicBezTo>
                  <a:pt x="424" y="340"/>
                  <a:pt x="404" y="360"/>
                  <a:pt x="404" y="384"/>
                </a:cubicBezTo>
                <a:cubicBezTo>
                  <a:pt x="404" y="408"/>
                  <a:pt x="424" y="428"/>
                  <a:pt x="449" y="428"/>
                </a:cubicBezTo>
                <a:cubicBezTo>
                  <a:pt x="473" y="428"/>
                  <a:pt x="492" y="408"/>
                  <a:pt x="492" y="384"/>
                </a:cubicBezTo>
                <a:cubicBezTo>
                  <a:pt x="492" y="360"/>
                  <a:pt x="473" y="340"/>
                  <a:pt x="448" y="340"/>
                </a:cubicBezTo>
                <a:close/>
              </a:path>
              <a:path w="640" h="512">
                <a:moveTo>
                  <a:pt x="225" y="-45"/>
                </a:moveTo>
                <a:lnTo>
                  <a:pt x="251" y="-38"/>
                </a:lnTo>
                <a:cubicBezTo>
                  <a:pt x="263" y="-35"/>
                  <a:pt x="271" y="-24"/>
                  <a:pt x="271" y="-11"/>
                </a:cubicBezTo>
                <a:lnTo>
                  <a:pt x="268" y="30"/>
                </a:lnTo>
                <a:cubicBezTo>
                  <a:pt x="276" y="37"/>
                  <a:pt x="284" y="44"/>
                  <a:pt x="290" y="53"/>
                </a:cubicBezTo>
                <a:lnTo>
                  <a:pt x="332" y="50"/>
                </a:lnTo>
                <a:cubicBezTo>
                  <a:pt x="344" y="49"/>
                  <a:pt x="356" y="57"/>
                  <a:pt x="359" y="69"/>
                </a:cubicBezTo>
                <a:lnTo>
                  <a:pt x="366" y="96"/>
                </a:lnTo>
                <a:cubicBezTo>
                  <a:pt x="369" y="108"/>
                  <a:pt x="364" y="120"/>
                  <a:pt x="352" y="126"/>
                </a:cubicBezTo>
                <a:lnTo>
                  <a:pt x="315" y="145"/>
                </a:lnTo>
                <a:cubicBezTo>
                  <a:pt x="314" y="150"/>
                  <a:pt x="313" y="155"/>
                  <a:pt x="312" y="160"/>
                </a:cubicBezTo>
                <a:cubicBezTo>
                  <a:pt x="310" y="165"/>
                  <a:pt x="308" y="170"/>
                  <a:pt x="307" y="174"/>
                </a:cubicBezTo>
                <a:lnTo>
                  <a:pt x="330" y="209"/>
                </a:lnTo>
                <a:cubicBezTo>
                  <a:pt x="337" y="220"/>
                  <a:pt x="335" y="234"/>
                  <a:pt x="327" y="243"/>
                </a:cubicBezTo>
                <a:lnTo>
                  <a:pt x="307" y="262"/>
                </a:lnTo>
                <a:cubicBezTo>
                  <a:pt x="298" y="271"/>
                  <a:pt x="285" y="272"/>
                  <a:pt x="274" y="265"/>
                </a:cubicBezTo>
                <a:lnTo>
                  <a:pt x="239" y="242"/>
                </a:lnTo>
                <a:cubicBezTo>
                  <a:pt x="230" y="246"/>
                  <a:pt x="219" y="249"/>
                  <a:pt x="209" y="250"/>
                </a:cubicBezTo>
                <a:lnTo>
                  <a:pt x="191" y="288"/>
                </a:lnTo>
                <a:cubicBezTo>
                  <a:pt x="185" y="299"/>
                  <a:pt x="172" y="305"/>
                  <a:pt x="160" y="302"/>
                </a:cubicBezTo>
                <a:lnTo>
                  <a:pt x="134" y="295"/>
                </a:lnTo>
                <a:cubicBezTo>
                  <a:pt x="122" y="291"/>
                  <a:pt x="114" y="280"/>
                  <a:pt x="114" y="267"/>
                </a:cubicBezTo>
                <a:lnTo>
                  <a:pt x="117" y="225"/>
                </a:lnTo>
                <a:cubicBezTo>
                  <a:pt x="109" y="219"/>
                  <a:pt x="101" y="212"/>
                  <a:pt x="95" y="203"/>
                </a:cubicBezTo>
                <a:lnTo>
                  <a:pt x="53" y="206"/>
                </a:lnTo>
                <a:cubicBezTo>
                  <a:pt x="41" y="207"/>
                  <a:pt x="29" y="199"/>
                  <a:pt x="26" y="187"/>
                </a:cubicBezTo>
                <a:lnTo>
                  <a:pt x="19" y="160"/>
                </a:lnTo>
                <a:cubicBezTo>
                  <a:pt x="16" y="148"/>
                  <a:pt x="21" y="136"/>
                  <a:pt x="33" y="130"/>
                </a:cubicBezTo>
                <a:lnTo>
                  <a:pt x="70" y="111"/>
                </a:lnTo>
                <a:cubicBezTo>
                  <a:pt x="71" y="106"/>
                  <a:pt x="72" y="101"/>
                  <a:pt x="73" y="96"/>
                </a:cubicBezTo>
                <a:cubicBezTo>
                  <a:pt x="75" y="91"/>
                  <a:pt x="76" y="86"/>
                  <a:pt x="78" y="81"/>
                </a:cubicBezTo>
                <a:lnTo>
                  <a:pt x="55" y="47"/>
                </a:lnTo>
                <a:cubicBezTo>
                  <a:pt x="48" y="36"/>
                  <a:pt x="50" y="22"/>
                  <a:pt x="58" y="13"/>
                </a:cubicBezTo>
                <a:lnTo>
                  <a:pt x="78" y="-6"/>
                </a:lnTo>
                <a:cubicBezTo>
                  <a:pt x="87" y="-15"/>
                  <a:pt x="100" y="-16"/>
                  <a:pt x="111" y="-9"/>
                </a:cubicBezTo>
                <a:lnTo>
                  <a:pt x="146" y="14"/>
                </a:lnTo>
                <a:cubicBezTo>
                  <a:pt x="155" y="10"/>
                  <a:pt x="165" y="7"/>
                  <a:pt x="176" y="6"/>
                </a:cubicBezTo>
                <a:lnTo>
                  <a:pt x="194" y="-32"/>
                </a:lnTo>
                <a:cubicBezTo>
                  <a:pt x="200" y="-43"/>
                  <a:pt x="213" y="-49"/>
                  <a:pt x="225" y="-45"/>
                </a:cubicBezTo>
                <a:close/>
                <a:moveTo>
                  <a:pt x="192" y="84"/>
                </a:moveTo>
                <a:cubicBezTo>
                  <a:pt x="168" y="84"/>
                  <a:pt x="148" y="104"/>
                  <a:pt x="148" y="128"/>
                </a:cubicBezTo>
                <a:cubicBezTo>
                  <a:pt x="148" y="152"/>
                  <a:pt x="168" y="172"/>
                  <a:pt x="192" y="172"/>
                </a:cubicBezTo>
                <a:cubicBezTo>
                  <a:pt x="217" y="172"/>
                  <a:pt x="236" y="152"/>
                  <a:pt x="236" y="128"/>
                </a:cubicBezTo>
                <a:cubicBezTo>
                  <a:pt x="236" y="104"/>
                  <a:pt x="217" y="84"/>
                  <a:pt x="192" y="84"/>
                </a:cubicBezTo>
                <a:close/>
              </a:path>
            </a:pathLst>
          </a:custGeom>
          <a:solidFill>
            <a:srgbClr val="C2623E"/>
          </a:solidFill>
          <a:ln>
            <a:noFill/>
          </a:ln>
        </p:spPr>
      </p:sp>
      <p:sp>
        <p:nvSpPr>
          <p:cNvPr id="19" name="n3-title"/>
          <p:cNvSpPr txBox="1"/>
          <p:nvPr/>
        </p:nvSpPr>
        <p:spPr>
          <a:xfrm>
            <a:off x="4584700" y="3517900"/>
            <a:ext cx="14478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172520"/>
                </a:solidFill>
                <a:latin typeface="Manrope"/>
                <a:ea typeface="Manrope"/>
              </a:rPr>
              <a:t>ПЛК + толкатель</a:t>
            </a:r>
            <a:endParaRPr lang="en-US" sz="1300" noProof="1"/>
          </a:p>
        </p:txBody>
      </p:sp>
      <p:sp>
        <p:nvSpPr>
          <p:cNvPr id="20" name="n3-note"/>
          <p:cNvSpPr txBox="1"/>
          <p:nvPr/>
        </p:nvSpPr>
        <p:spPr>
          <a:xfrm>
            <a:off x="4559300" y="4025900"/>
            <a:ext cx="1498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950" noProof="1">
                <a:solidFill>
                  <a:srgbClr val="68746F"/>
                </a:solidFill>
                <a:latin typeface="Manrope"/>
                <a:ea typeface="Manrope"/>
              </a:rPr>
              <a:t>сигнал и удаление точного лотка</a:t>
            </a:r>
            <a:endParaRPr lang="en-US" sz="950" noProof="1"/>
          </a:p>
        </p:txBody>
      </p:sp>
      <p:sp>
        <p:nvSpPr>
          <p:cNvPr id="21" name="a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eyJ2aWV3Qm94IjpbNjYsMl0sInBvaW50cyI6IjAsMSA2NiwxIn0</pptd:line>
              </p:ext>
            </p:extLst>
          </p:nvPr>
        </p:nvSpPr>
        <p:spPr>
          <a:xfrm>
            <a:off x="5981700" y="2921000"/>
            <a:ext cx="838200" cy="25400"/>
          </a:xfrm>
          <a:custGeom>
            <a:avLst/>
            <a:gdLst/>
            <a:ahLst/>
            <a:cxnLst/>
            <a:rect l="l" t="t" r="r" b="b"/>
            <a:pathLst>
              <a:path w="66" h="2">
                <a:moveTo>
                  <a:pt x="0" y="1"/>
                </a:moveTo>
                <a:lnTo>
                  <a:pt x="66" y="1"/>
                </a:lnTo>
              </a:path>
            </a:pathLst>
          </a:custGeom>
          <a:noFill/>
          <a:ln w="25400" cap="rnd">
            <a:solidFill>
              <a:srgbClr val="173C34"/>
            </a:solidFill>
            <a:round/>
            <a:tailEnd type="stealth"/>
          </a:ln>
        </p:spPr>
      </p:sp>
      <p:sp>
        <p:nvSpPr>
          <p:cNvPr id="22" name="n4-circle"/>
          <p:cNvSpPr/>
          <p:nvPr/>
        </p:nvSpPr>
        <p:spPr>
          <a:xfrm>
            <a:off x="6997700" y="2552700"/>
            <a:ext cx="762000" cy="762000"/>
          </a:xfrm>
          <a:prstGeom prst="ellipse">
            <a:avLst/>
          </a:prstGeom>
          <a:solidFill>
            <a:srgbClr val="DCE3DA"/>
          </a:solidFill>
          <a:ln>
            <a:noFill/>
          </a:ln>
        </p:spPr>
      </p:sp>
      <p:sp>
        <p:nvSpPr>
          <p:cNvPr id="23" name="n4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eyJpY29uTmFtZSI6ImZhczpjaXJjbGUtY2hlY2sifQ</pptd:icon>
              </p:ext>
            </p:extLst>
          </p:nvPr>
        </p:nvSpPr>
        <p:spPr>
          <a:xfrm>
            <a:off x="7200900" y="2743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512"/>
                </a:moveTo>
                <a:cubicBezTo>
                  <a:pt x="115" y="512"/>
                  <a:pt x="0" y="397"/>
                  <a:pt x="0" y="256"/>
                </a:cubicBezTo>
                <a:cubicBezTo>
                  <a:pt x="0" y="115"/>
                  <a:pt x="115" y="0"/>
                  <a:pt x="256" y="0"/>
                </a:cubicBezTo>
                <a:cubicBezTo>
                  <a:pt x="397" y="0"/>
                  <a:pt x="512" y="115"/>
                  <a:pt x="512" y="256"/>
                </a:cubicBezTo>
                <a:cubicBezTo>
                  <a:pt x="512" y="397"/>
                  <a:pt x="397" y="512"/>
                  <a:pt x="256" y="512"/>
                </a:cubicBezTo>
                <a:close/>
                <a:moveTo>
                  <a:pt x="374" y="146"/>
                </a:moveTo>
                <a:cubicBezTo>
                  <a:pt x="363" y="138"/>
                  <a:pt x="348" y="140"/>
                  <a:pt x="341" y="151"/>
                </a:cubicBezTo>
                <a:lnTo>
                  <a:pt x="221" y="315"/>
                </a:lnTo>
                <a:lnTo>
                  <a:pt x="169" y="263"/>
                </a:lnTo>
                <a:cubicBezTo>
                  <a:pt x="160" y="254"/>
                  <a:pt x="144" y="254"/>
                  <a:pt x="135" y="263"/>
                </a:cubicBezTo>
                <a:cubicBezTo>
                  <a:pt x="126" y="273"/>
                  <a:pt x="126" y="288"/>
                  <a:pt x="135" y="297"/>
                </a:cubicBezTo>
                <a:lnTo>
                  <a:pt x="207" y="369"/>
                </a:lnTo>
                <a:cubicBezTo>
                  <a:pt x="212" y="374"/>
                  <a:pt x="219" y="377"/>
                  <a:pt x="226" y="376"/>
                </a:cubicBezTo>
                <a:cubicBezTo>
                  <a:pt x="233" y="376"/>
                  <a:pt x="239" y="372"/>
                  <a:pt x="243" y="366"/>
                </a:cubicBezTo>
                <a:lnTo>
                  <a:pt x="379" y="179"/>
                </a:lnTo>
                <a:cubicBezTo>
                  <a:pt x="387" y="169"/>
                  <a:pt x="385" y="154"/>
                  <a:pt x="374" y="146"/>
                </a:cubicBezTo>
                <a:close/>
              </a:path>
            </a:pathLst>
          </a:custGeom>
          <a:solidFill>
            <a:srgbClr val="173C34"/>
          </a:solidFill>
          <a:ln>
            <a:noFill/>
          </a:ln>
        </p:spPr>
      </p:sp>
      <p:sp>
        <p:nvSpPr>
          <p:cNvPr id="24" name="n4-title"/>
          <p:cNvSpPr txBox="1"/>
          <p:nvPr/>
        </p:nvSpPr>
        <p:spPr>
          <a:xfrm>
            <a:off x="6553200" y="3517900"/>
            <a:ext cx="1651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172520"/>
                </a:solidFill>
                <a:latin typeface="Manrope"/>
                <a:ea typeface="Manrope"/>
              </a:rPr>
              <a:t>Датчик подтверждения</a:t>
            </a:r>
            <a:endParaRPr lang="en-US" sz="1300" noProof="1"/>
          </a:p>
        </p:txBody>
      </p:sp>
      <p:sp>
        <p:nvSpPr>
          <p:cNvPr id="25" name="n4-note"/>
          <p:cNvSpPr txBox="1"/>
          <p:nvPr/>
        </p:nvSpPr>
        <p:spPr>
          <a:xfrm>
            <a:off x="6616700" y="40259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950" noProof="1">
                <a:solidFill>
                  <a:srgbClr val="68746F"/>
                </a:solidFill>
                <a:latin typeface="Manrope"/>
                <a:ea typeface="Manrope"/>
              </a:rPr>
              <a:t>факт отбраковки, а не только команда</a:t>
            </a:r>
            <a:endParaRPr lang="en-US" sz="950" noProof="1"/>
          </a:p>
        </p:txBody>
      </p:sp>
      <p:sp>
        <p:nvSpPr>
          <p:cNvPr id="26" name="a4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eyJ2aWV3Qm94IjpbNjYsMl0sInBvaW50cyI6IjAsMSA2NiwxIn0</pptd:line>
              </p:ext>
            </p:extLst>
          </p:nvPr>
        </p:nvSpPr>
        <p:spPr>
          <a:xfrm>
            <a:off x="8051800" y="2921000"/>
            <a:ext cx="838200" cy="25400"/>
          </a:xfrm>
          <a:custGeom>
            <a:avLst/>
            <a:gdLst/>
            <a:ahLst/>
            <a:cxnLst/>
            <a:rect l="l" t="t" r="r" b="b"/>
            <a:pathLst>
              <a:path w="66" h="2">
                <a:moveTo>
                  <a:pt x="0" y="1"/>
                </a:moveTo>
                <a:lnTo>
                  <a:pt x="66" y="1"/>
                </a:lnTo>
              </a:path>
            </a:pathLst>
          </a:custGeom>
          <a:noFill/>
          <a:ln w="25400" cap="rnd">
            <a:solidFill>
              <a:srgbClr val="173C34"/>
            </a:solidFill>
            <a:round/>
            <a:tailEnd type="stealth"/>
          </a:ln>
        </p:spPr>
      </p:sp>
      <p:sp>
        <p:nvSpPr>
          <p:cNvPr id="27" name="n5-circle"/>
          <p:cNvSpPr/>
          <p:nvPr/>
        </p:nvSpPr>
        <p:spPr>
          <a:xfrm>
            <a:off x="9067800" y="2552700"/>
            <a:ext cx="762000" cy="762000"/>
          </a:xfrm>
          <a:prstGeom prst="ellipse">
            <a:avLst/>
          </a:prstGeom>
          <a:solidFill>
            <a:srgbClr val="DCE3DA"/>
          </a:solidFill>
          <a:ln>
            <a:noFill/>
          </a:ln>
        </p:spPr>
      </p:sp>
      <p:sp>
        <p:nvSpPr>
          <p:cNvPr id="28" name="n5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eyJpY29uTmFtZSI6ImZhczpkYXRhYmFzZSJ9</pptd:icon>
              </p:ext>
            </p:extLst>
          </p:nvPr>
        </p:nvSpPr>
        <p:spPr>
          <a:xfrm>
            <a:off x="9271000" y="2743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448" h="512">
                <a:moveTo>
                  <a:pt x="448" y="206"/>
                </a:moveTo>
                <a:cubicBezTo>
                  <a:pt x="433" y="216"/>
                  <a:pt x="416" y="224"/>
                  <a:pt x="399" y="230"/>
                </a:cubicBezTo>
                <a:cubicBezTo>
                  <a:pt x="352" y="247"/>
                  <a:pt x="290" y="256"/>
                  <a:pt x="224" y="256"/>
                </a:cubicBezTo>
                <a:cubicBezTo>
                  <a:pt x="158" y="256"/>
                  <a:pt x="96" y="247"/>
                  <a:pt x="50" y="230"/>
                </a:cubicBezTo>
                <a:cubicBezTo>
                  <a:pt x="32" y="224"/>
                  <a:pt x="15" y="216"/>
                  <a:pt x="0" y="206"/>
                </a:cubicBezTo>
                <a:lnTo>
                  <a:pt x="0" y="288"/>
                </a:lnTo>
                <a:cubicBezTo>
                  <a:pt x="0" y="332"/>
                  <a:pt x="100" y="368"/>
                  <a:pt x="224" y="368"/>
                </a:cubicBezTo>
                <a:cubicBezTo>
                  <a:pt x="348" y="368"/>
                  <a:pt x="448" y="332"/>
                  <a:pt x="448" y="288"/>
                </a:cubicBezTo>
                <a:lnTo>
                  <a:pt x="448" y="206"/>
                </a:lnTo>
                <a:close/>
              </a:path>
              <a:path w="448" h="512">
                <a:moveTo>
                  <a:pt x="448" y="128"/>
                </a:moveTo>
                <a:lnTo>
                  <a:pt x="448" y="80"/>
                </a:lnTo>
                <a:cubicBezTo>
                  <a:pt x="448" y="36"/>
                  <a:pt x="348" y="0"/>
                  <a:pt x="224" y="0"/>
                </a:cubicBezTo>
                <a:cubicBezTo>
                  <a:pt x="100" y="0"/>
                  <a:pt x="0" y="36"/>
                  <a:pt x="0" y="80"/>
                </a:cubicBezTo>
                <a:lnTo>
                  <a:pt x="0" y="128"/>
                </a:lnTo>
                <a:cubicBezTo>
                  <a:pt x="0" y="172"/>
                  <a:pt x="100" y="208"/>
                  <a:pt x="224" y="208"/>
                </a:cubicBezTo>
                <a:cubicBezTo>
                  <a:pt x="348" y="208"/>
                  <a:pt x="448" y="172"/>
                  <a:pt x="448" y="128"/>
                </a:cubicBezTo>
                <a:close/>
              </a:path>
              <a:path w="448" h="512">
                <a:moveTo>
                  <a:pt x="399" y="390"/>
                </a:moveTo>
                <a:cubicBezTo>
                  <a:pt x="352" y="407"/>
                  <a:pt x="290" y="416"/>
                  <a:pt x="224" y="416"/>
                </a:cubicBezTo>
                <a:cubicBezTo>
                  <a:pt x="158" y="416"/>
                  <a:pt x="96" y="407"/>
                  <a:pt x="50" y="390"/>
                </a:cubicBezTo>
                <a:cubicBezTo>
                  <a:pt x="32" y="384"/>
                  <a:pt x="15" y="376"/>
                  <a:pt x="0" y="366"/>
                </a:cubicBezTo>
                <a:lnTo>
                  <a:pt x="0" y="432"/>
                </a:lnTo>
                <a:cubicBezTo>
                  <a:pt x="0" y="476"/>
                  <a:pt x="100" y="512"/>
                  <a:pt x="224" y="512"/>
                </a:cubicBezTo>
                <a:cubicBezTo>
                  <a:pt x="348" y="512"/>
                  <a:pt x="448" y="476"/>
                  <a:pt x="448" y="432"/>
                </a:cubicBezTo>
                <a:lnTo>
                  <a:pt x="448" y="366"/>
                </a:lnTo>
                <a:cubicBezTo>
                  <a:pt x="433" y="376"/>
                  <a:pt x="416" y="384"/>
                  <a:pt x="399" y="390"/>
                </a:cubicBezTo>
                <a:close/>
              </a:path>
            </a:pathLst>
          </a:custGeom>
          <a:solidFill>
            <a:srgbClr val="173C34"/>
          </a:solidFill>
          <a:ln>
            <a:noFill/>
          </a:ln>
        </p:spPr>
      </p:sp>
      <p:sp>
        <p:nvSpPr>
          <p:cNvPr id="29" name="n5-title"/>
          <p:cNvSpPr txBox="1"/>
          <p:nvPr/>
        </p:nvSpPr>
        <p:spPr>
          <a:xfrm>
            <a:off x="8763000" y="3517900"/>
            <a:ext cx="13716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172520"/>
                </a:solidFill>
                <a:latin typeface="Manrope"/>
                <a:ea typeface="Manrope"/>
              </a:rPr>
              <a:t>Журнал событий</a:t>
            </a:r>
            <a:endParaRPr lang="en-US" sz="1300" noProof="1"/>
          </a:p>
        </p:txBody>
      </p:sp>
      <p:sp>
        <p:nvSpPr>
          <p:cNvPr id="30" name="n5-note"/>
          <p:cNvSpPr txBox="1"/>
          <p:nvPr/>
        </p:nvSpPr>
        <p:spPr>
          <a:xfrm>
            <a:off x="8724900" y="4025900"/>
            <a:ext cx="1447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950" noProof="1">
                <a:solidFill>
                  <a:srgbClr val="68746F"/>
                </a:solidFill>
                <a:latin typeface="Manrope"/>
                <a:ea typeface="Manrope"/>
              </a:rPr>
              <a:t>кадр, партия, время, версия модели</a:t>
            </a:r>
            <a:endParaRPr lang="en-US" sz="950" noProof="1"/>
          </a:p>
        </p:txBody>
      </p:sp>
      <p:sp>
        <p:nvSpPr>
          <p:cNvPr id="31" name="operator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eyJpY29uTmFtZSI6ImZhczp1c2VyLWNoZWNrIn0</pptd:icon>
              </p:ext>
            </p:extLst>
          </p:nvPr>
        </p:nvSpPr>
        <p:spPr>
          <a:xfrm>
            <a:off x="10528300" y="2667000"/>
            <a:ext cx="609600" cy="431800"/>
          </a:xfrm>
          <a:custGeom>
            <a:avLst/>
            <a:gdLst/>
            <a:ahLst/>
            <a:cxnLst/>
            <a:rect l="l" t="t" r="r" b="b"/>
            <a:pathLst>
              <a:path w="640" h="512">
                <a:moveTo>
                  <a:pt x="286" y="304"/>
                </a:moveTo>
                <a:cubicBezTo>
                  <a:pt x="385" y="304"/>
                  <a:pt x="464" y="384"/>
                  <a:pt x="464" y="482"/>
                </a:cubicBezTo>
                <a:cubicBezTo>
                  <a:pt x="464" y="499"/>
                  <a:pt x="451" y="512"/>
                  <a:pt x="435" y="512"/>
                </a:cubicBezTo>
                <a:lnTo>
                  <a:pt x="78" y="512"/>
                </a:lnTo>
                <a:cubicBezTo>
                  <a:pt x="62" y="512"/>
                  <a:pt x="48" y="499"/>
                  <a:pt x="48" y="482"/>
                </a:cubicBezTo>
                <a:cubicBezTo>
                  <a:pt x="48" y="384"/>
                  <a:pt x="128" y="304"/>
                  <a:pt x="227" y="304"/>
                </a:cubicBezTo>
                <a:lnTo>
                  <a:pt x="286" y="304"/>
                </a:lnTo>
                <a:close/>
              </a:path>
              <a:path w="640" h="512">
                <a:moveTo>
                  <a:pt x="586" y="106"/>
                </a:moveTo>
                <a:cubicBezTo>
                  <a:pt x="594" y="95"/>
                  <a:pt x="609" y="93"/>
                  <a:pt x="619" y="101"/>
                </a:cubicBezTo>
                <a:cubicBezTo>
                  <a:pt x="630" y="108"/>
                  <a:pt x="632" y="123"/>
                  <a:pt x="625" y="134"/>
                </a:cubicBezTo>
                <a:lnTo>
                  <a:pt x="522" y="275"/>
                </a:lnTo>
                <a:cubicBezTo>
                  <a:pt x="518" y="281"/>
                  <a:pt x="511" y="284"/>
                  <a:pt x="504" y="285"/>
                </a:cubicBezTo>
                <a:cubicBezTo>
                  <a:pt x="497" y="285"/>
                  <a:pt x="490" y="283"/>
                  <a:pt x="486" y="277"/>
                </a:cubicBezTo>
                <a:lnTo>
                  <a:pt x="439" y="229"/>
                </a:lnTo>
                <a:cubicBezTo>
                  <a:pt x="430" y="220"/>
                  <a:pt x="430" y="205"/>
                  <a:pt x="440" y="195"/>
                </a:cubicBezTo>
                <a:cubicBezTo>
                  <a:pt x="449" y="186"/>
                  <a:pt x="464" y="187"/>
                  <a:pt x="474" y="196"/>
                </a:cubicBezTo>
                <a:lnTo>
                  <a:pt x="500" y="223"/>
                </a:lnTo>
                <a:lnTo>
                  <a:pt x="586" y="106"/>
                </a:lnTo>
                <a:close/>
              </a:path>
              <a:path w="640" h="512">
                <a:moveTo>
                  <a:pt x="256" y="248"/>
                </a:moveTo>
                <a:cubicBezTo>
                  <a:pt x="190" y="248"/>
                  <a:pt x="136" y="194"/>
                  <a:pt x="136" y="128"/>
                </a:cubicBezTo>
                <a:cubicBezTo>
                  <a:pt x="136" y="62"/>
                  <a:pt x="190" y="8"/>
                  <a:pt x="256" y="8"/>
                </a:cubicBezTo>
                <a:cubicBezTo>
                  <a:pt x="323" y="8"/>
                  <a:pt x="376" y="62"/>
                  <a:pt x="376" y="128"/>
                </a:cubicBezTo>
                <a:cubicBezTo>
                  <a:pt x="376" y="194"/>
                  <a:pt x="323" y="248"/>
                  <a:pt x="256" y="248"/>
                </a:cubicBezTo>
                <a:close/>
              </a:path>
            </a:pathLst>
          </a:custGeom>
          <a:solidFill>
            <a:srgbClr val="315B50"/>
          </a:solidFill>
          <a:ln>
            <a:noFill/>
          </a:ln>
        </p:spPr>
        <p:txBody>
          <a:bodyPr/>
          <a:lstStyle/>
          <a:p>
            <a:endParaRPr lang="ru-BY" dirty="0"/>
          </a:p>
        </p:txBody>
      </p:sp>
      <p:sp>
        <p:nvSpPr>
          <p:cNvPr id="32" name="operator"/>
          <p:cNvSpPr txBox="1"/>
          <p:nvPr/>
        </p:nvSpPr>
        <p:spPr>
          <a:xfrm>
            <a:off x="10325100" y="3524738"/>
            <a:ext cx="990600" cy="1016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ctr">
              <a:lnSpc>
                <a:spcPct val="130000"/>
              </a:lnSpc>
            </a:pPr>
            <a:r>
              <a:rPr lang="en-US" sz="1000" noProof="1">
                <a:solidFill>
                  <a:srgbClr val="C00000"/>
                </a:solidFill>
                <a:latin typeface="Manrope"/>
                <a:ea typeface="Manrope"/>
              </a:rPr>
              <a:t>Оператор контролирует исключения и качество</a:t>
            </a:r>
            <a:endParaRPr lang="en-US" sz="1000" noProof="1">
              <a:solidFill>
                <a:srgbClr val="C00000"/>
              </a:solidFill>
            </a:endParaRPr>
          </a:p>
        </p:txBody>
      </p:sp>
      <p:sp>
        <p:nvSpPr>
          <p:cNvPr id="33" name="bottom-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eyJ2aWV3Qm94IjpbODUyLDFdLCJwb2ludHMiOiIwLDAgODUyLDAifQ</pptd:line>
              </p:ext>
            </p:extLst>
          </p:nvPr>
        </p:nvSpPr>
        <p:spPr>
          <a:xfrm>
            <a:off x="609600" y="5003800"/>
            <a:ext cx="10820400" cy="12700"/>
          </a:xfrm>
          <a:custGeom>
            <a:avLst/>
            <a:gdLst/>
            <a:ahLst/>
            <a:cxnLst/>
            <a:rect l="l" t="t" r="r" b="b"/>
            <a:pathLst>
              <a:path w="852" h="1">
                <a:moveTo>
                  <a:pt x="0" y="0"/>
                </a:moveTo>
                <a:lnTo>
                  <a:pt x="852" y="0"/>
                </a:lnTo>
              </a:path>
            </a:pathLst>
          </a:custGeom>
          <a:noFill/>
          <a:ln w="12700" cap="rnd">
            <a:solidFill>
              <a:srgbClr val="C9CEC5"/>
            </a:solidFill>
            <a:round/>
          </a:ln>
        </p:spPr>
      </p:sp>
      <p:sp>
        <p:nvSpPr>
          <p:cNvPr id="34" name="zero"/>
          <p:cNvSpPr txBox="1"/>
          <p:nvPr/>
        </p:nvSpPr>
        <p:spPr>
          <a:xfrm>
            <a:off x="609600" y="5194300"/>
            <a:ext cx="914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4600" b="1" noProof="1">
                <a:solidFill>
                  <a:srgbClr val="C2623E"/>
                </a:solidFill>
                <a:latin typeface="Manrope"/>
                <a:ea typeface="Manrope"/>
              </a:rPr>
              <a:t>0</a:t>
            </a:r>
            <a:endParaRPr lang="en-US" sz="4600" noProof="1"/>
          </a:p>
        </p:txBody>
      </p:sp>
      <p:sp>
        <p:nvSpPr>
          <p:cNvPr id="35" name="zero-label"/>
          <p:cNvSpPr txBox="1"/>
          <p:nvPr/>
        </p:nvSpPr>
        <p:spPr>
          <a:xfrm>
            <a:off x="1511300" y="5257800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0"/>
                </a:solidFill>
                <a:latin typeface="Manrope"/>
                <a:ea typeface="Manrope"/>
              </a:rPr>
              <a:t>остановок линии по команде модели - проектный критерий</a:t>
            </a:r>
            <a:endParaRPr lang="en-US" sz="1400" noProof="1"/>
          </a:p>
        </p:txBody>
      </p:sp>
      <p:sp>
        <p:nvSpPr>
          <p:cNvPr id="36" name="fallback-label"/>
          <p:cNvSpPr txBox="1"/>
          <p:nvPr/>
        </p:nvSpPr>
        <p:spPr>
          <a:xfrm>
            <a:off x="5257800" y="5194300"/>
            <a:ext cx="2222500" cy="215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80" noProof="1">
                <a:solidFill>
                  <a:srgbClr val="315B50"/>
                </a:solidFill>
                <a:latin typeface="Manrope"/>
                <a:ea typeface="Manrope"/>
              </a:rPr>
              <a:t>ЕСЛИ СИСТЕМА ОТКАЗАЛА</a:t>
            </a:r>
            <a:endParaRPr lang="en-US" sz="900" noProof="1"/>
          </a:p>
        </p:txBody>
      </p:sp>
      <p:sp>
        <p:nvSpPr>
          <p:cNvPr id="37" name="fallback"/>
          <p:cNvSpPr txBox="1"/>
          <p:nvPr/>
        </p:nvSpPr>
        <p:spPr>
          <a:xfrm>
            <a:off x="5257800" y="5511800"/>
            <a:ext cx="6172200" cy="58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8746F"/>
                </a:solidFill>
                <a:latin typeface="Manrope"/>
                <a:ea typeface="Manrope"/>
              </a:rPr>
              <a:t>Предупреждение → резервный контроль двумя операторами → тест на контрольных лотках → повторный запуск разрешает человек.</a:t>
            </a:r>
            <a:endParaRPr lang="en-US" sz="1200" noProof="1"/>
          </a:p>
        </p:txBody>
      </p:sp>
      <p:sp>
        <p:nvSpPr>
          <p:cNvPr id="38" name="footer"/>
          <p:cNvSpPr txBox="1"/>
          <p:nvPr/>
        </p:nvSpPr>
        <p:spPr>
          <a:xfrm>
            <a:off x="609600" y="6527800"/>
            <a:ext cx="9271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800" noProof="1">
                <a:solidFill>
                  <a:srgbClr val="68746F"/>
                </a:solidFill>
                <a:latin typeface="Manrope"/>
                <a:ea typeface="Manrope"/>
              </a:rPr>
              <a:t>Источник: README, разделы 3.1, 4.3–4.5, 5.5. Решение и журналирование выполняются локально.</a:t>
            </a:r>
            <a:endParaRPr lang="en-US" sz="800" noProof="1"/>
          </a:p>
        </p:txBody>
      </p:sp>
      <p:sp>
        <p:nvSpPr>
          <p:cNvPr id="39" name="page"/>
          <p:cNvSpPr txBox="1"/>
          <p:nvPr/>
        </p:nvSpPr>
        <p:spPr>
          <a:xfrm>
            <a:off x="11112500" y="6477000"/>
            <a:ext cx="355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900" noProof="1">
                <a:solidFill>
                  <a:srgbClr val="68746F"/>
                </a:solidFill>
                <a:latin typeface="Manrope"/>
                <a:ea typeface="Manrope"/>
              </a:rPr>
              <a:t>06</a:t>
            </a:r>
            <a:endParaRPr lang="en-US" sz="9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175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130" noProof="1">
                <a:solidFill>
                  <a:srgbClr val="315B50"/>
                </a:solidFill>
                <a:latin typeface="Manrope"/>
                <a:ea typeface="Manrope"/>
              </a:rPr>
              <a:t>02 · КАК ПРОВЕРЯЕМ РЕЗУЛЬТАТ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73100"/>
            <a:ext cx="10795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8000"/>
              </a:lnSpc>
            </a:pPr>
            <a:r>
              <a:rPr lang="en-US" sz="2900" b="1" noProof="1">
                <a:solidFill>
                  <a:srgbClr val="172520"/>
                </a:solidFill>
                <a:latin typeface="PT Serif"/>
                <a:ea typeface="PT Serif"/>
              </a:rPr>
              <a:t>Пилот принимается по семи обязательным критериям - общей точности недостаточно</a:t>
            </a:r>
            <a:endParaRPr lang="en-US" sz="29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676400"/>
            <a:ext cx="584200" cy="38100"/>
          </a:xfrm>
          <a:prstGeom prst="rect">
            <a:avLst/>
          </a:prstGeom>
          <a:solidFill>
            <a:srgbClr val="C2623E"/>
          </a:solidFill>
          <a:ln>
            <a:noFill/>
          </a:ln>
        </p:spPr>
      </p:sp>
      <p:graphicFrame>
        <p:nvGraphicFramePr>
          <p:cNvPr id="5" name="metrics"/>
          <p:cNvGraphicFramePr>
            <a:graphicFrameLocks noGrp="1"/>
          </p:cNvGraphicFramePr>
          <p:nvPr/>
        </p:nvGraphicFramePr>
        <p:xfrm>
          <a:off x="609600" y="1981200"/>
          <a:ext cx="7391400" cy="4051302"/>
        </p:xfrm>
        <a:graphic>
          <a:graphicData uri="http://schemas.openxmlformats.org/drawingml/2006/table">
            <a:tbl>
              <a:tblPr/>
              <a:tblGrid>
                <a:gridCol w="5173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74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6156">
                <a:tc>
                  <a:txBody>
                    <a:bodyPr/>
                    <a:lstStyle/>
                    <a:p>
                      <a:pPr algn="l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Manrope"/>
                          <a:ea typeface="Manrope"/>
                        </a:rPr>
                        <a:t>Показатель приёмки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8890">
                      <a:solidFill>
                        <a:srgbClr val="C9CEC5"/>
                      </a:solidFill>
                    </a:lnB>
                    <a:solidFill>
                      <a:srgbClr val="173C3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b="1" noProof="1">
                          <a:solidFill>
                            <a:srgbClr val="FFFFFF"/>
                          </a:solidFill>
                          <a:latin typeface="Manrope"/>
                          <a:ea typeface="Manrope"/>
                        </a:rPr>
                        <a:t>Цель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8890">
                      <a:solidFill>
                        <a:srgbClr val="C9CEC5"/>
                      </a:solidFill>
                    </a:lnB>
                    <a:solidFill>
                      <a:srgbClr val="173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464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172520"/>
                          </a:solidFill>
                          <a:latin typeface="Manrope"/>
                          <a:ea typeface="Manrope"/>
                        </a:rPr>
                        <a:t>Полнота обнаружения конденсата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8890" cap="flat" cmpd="sng" algn="ctr">
                      <a:solidFill>
                        <a:srgbClr val="C9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>
                      <a:solidFill>
                        <a:srgbClr val="C9CEC5"/>
                      </a:solidFill>
                    </a:lnB>
                    <a:solidFill>
                      <a:srgbClr val="F7F4EC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noProof="1">
                          <a:solidFill>
                            <a:srgbClr val="173C34"/>
                          </a:solidFill>
                          <a:latin typeface="Manrope"/>
                          <a:ea typeface="Manrope"/>
                        </a:rPr>
                        <a:t>≥ 99%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8890" cap="flat" cmpd="sng" algn="ctr">
                      <a:solidFill>
                        <a:srgbClr val="C9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>
                      <a:solidFill>
                        <a:srgbClr val="C9CEC5"/>
                      </a:solidFill>
                    </a:lnB>
                    <a:solidFill>
                      <a:srgbClr val="F7F4EC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464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172520"/>
                          </a:solidFill>
                          <a:latin typeface="Manrope"/>
                          <a:ea typeface="Manrope"/>
                        </a:rPr>
                        <a:t>Снижение пропусков относительно 2 операторов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8890" cap="flat" cmpd="sng" algn="ctr">
                      <a:solidFill>
                        <a:srgbClr val="C9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>
                      <a:solidFill>
                        <a:srgbClr val="C9CEC5"/>
                      </a:solidFill>
                    </a:lnB>
                    <a:solidFill>
                      <a:srgbClr val="EBECE5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noProof="1">
                          <a:solidFill>
                            <a:srgbClr val="173C34"/>
                          </a:solidFill>
                          <a:latin typeface="Manrope"/>
                          <a:ea typeface="Manrope"/>
                        </a:rPr>
                        <a:t>≥ 50%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8890" cap="flat" cmpd="sng" algn="ctr">
                      <a:solidFill>
                        <a:srgbClr val="C9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>
                      <a:solidFill>
                        <a:srgbClr val="C9CEC5"/>
                      </a:solidFill>
                    </a:lnB>
                    <a:solidFill>
                      <a:srgbClr val="EBECE5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464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172520"/>
                          </a:solidFill>
                          <a:latin typeface="Manrope"/>
                          <a:ea typeface="Manrope"/>
                        </a:rPr>
                        <a:t>Ложная отбраковка качественной продукции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8890" cap="flat" cmpd="sng" algn="ctr">
                      <a:solidFill>
                        <a:srgbClr val="C9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>
                      <a:solidFill>
                        <a:srgbClr val="C9CEC5"/>
                      </a:solidFill>
                    </a:lnB>
                    <a:solidFill>
                      <a:srgbClr val="F7F4EC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noProof="1">
                          <a:solidFill>
                            <a:srgbClr val="173C34"/>
                          </a:solidFill>
                          <a:latin typeface="Manrope"/>
                          <a:ea typeface="Manrope"/>
                        </a:rPr>
                        <a:t>≤ 1%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8890" cap="flat" cmpd="sng" algn="ctr">
                      <a:solidFill>
                        <a:srgbClr val="C9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>
                      <a:solidFill>
                        <a:srgbClr val="C9CEC5"/>
                      </a:solidFill>
                    </a:lnB>
                    <a:solidFill>
                      <a:srgbClr val="F7F4EC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464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172520"/>
                          </a:solidFill>
                          <a:latin typeface="Manrope"/>
                          <a:ea typeface="Manrope"/>
                        </a:rPr>
                        <a:t>Время программного решения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8890" cap="flat" cmpd="sng" algn="ctr">
                      <a:solidFill>
                        <a:srgbClr val="C9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>
                      <a:solidFill>
                        <a:srgbClr val="C9CEC5"/>
                      </a:solidFill>
                    </a:lnB>
                    <a:solidFill>
                      <a:srgbClr val="EBECE5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noProof="1">
                          <a:solidFill>
                            <a:srgbClr val="173C34"/>
                          </a:solidFill>
                          <a:latin typeface="Manrope"/>
                          <a:ea typeface="Manrope"/>
                        </a:rPr>
                        <a:t>≤ 200 мс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8890" cap="flat" cmpd="sng" algn="ctr">
                      <a:solidFill>
                        <a:srgbClr val="C9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>
                      <a:solidFill>
                        <a:srgbClr val="C9CEC5"/>
                      </a:solidFill>
                    </a:lnB>
                    <a:solidFill>
                      <a:srgbClr val="EBECE5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464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172520"/>
                          </a:solidFill>
                          <a:latin typeface="Manrope"/>
                          <a:ea typeface="Manrope"/>
                        </a:rPr>
                        <a:t>Успешное срабатывание толкателя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8890" cap="flat" cmpd="sng" algn="ctr">
                      <a:solidFill>
                        <a:srgbClr val="C9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>
                      <a:solidFill>
                        <a:srgbClr val="C9CEC5"/>
                      </a:solidFill>
                    </a:lnB>
                    <a:solidFill>
                      <a:srgbClr val="F7F4EC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noProof="1">
                          <a:solidFill>
                            <a:srgbClr val="173C34"/>
                          </a:solidFill>
                          <a:latin typeface="Manrope"/>
                          <a:ea typeface="Manrope"/>
                        </a:rPr>
                        <a:t>≥ 99,5%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8890" cap="flat" cmpd="sng" algn="ctr">
                      <a:solidFill>
                        <a:srgbClr val="C9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>
                      <a:solidFill>
                        <a:srgbClr val="C9CEC5"/>
                      </a:solidFill>
                    </a:lnB>
                    <a:solidFill>
                      <a:srgbClr val="F7F4EC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6413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172520"/>
                          </a:solidFill>
                          <a:latin typeface="Manrope"/>
                          <a:ea typeface="Manrope"/>
                        </a:rPr>
                        <a:t>Доступность системы в пилоте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8890" cap="flat" cmpd="sng" algn="ctr">
                      <a:solidFill>
                        <a:srgbClr val="C9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>
                      <a:solidFill>
                        <a:srgbClr val="C9CEC5"/>
                      </a:solidFill>
                    </a:lnB>
                    <a:solidFill>
                      <a:srgbClr val="EBECE5">
                        <a:alpha val="5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noProof="1">
                          <a:solidFill>
                            <a:srgbClr val="173C34"/>
                          </a:solidFill>
                          <a:latin typeface="Manrope"/>
                          <a:ea typeface="Manrope"/>
                        </a:rPr>
                        <a:t>≥ 99%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8890" cap="flat" cmpd="sng" algn="ctr">
                      <a:solidFill>
                        <a:srgbClr val="C9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>
                      <a:solidFill>
                        <a:srgbClr val="C9CEC5"/>
                      </a:solidFill>
                    </a:lnB>
                    <a:solidFill>
                      <a:srgbClr val="EBECE5">
                        <a:alpha val="5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6413">
                <a:tc>
                  <a:txBody>
                    <a:bodyPr/>
                    <a:lstStyle/>
                    <a:p>
                      <a:pPr algn="l"/>
                      <a:r>
                        <a:rPr lang="en-US" sz="1200" noProof="1">
                          <a:solidFill>
                            <a:srgbClr val="172520"/>
                          </a:solidFill>
                          <a:latin typeface="Manrope"/>
                          <a:ea typeface="Manrope"/>
                        </a:rPr>
                        <a:t>Остановки линии по команде модели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8890" cap="flat" cmpd="sng" algn="ctr">
                      <a:solidFill>
                        <a:srgbClr val="C9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>
                      <a:solidFill>
                        <a:srgbClr val="C9CEC5"/>
                      </a:solidFill>
                    </a:lnB>
                    <a:solidFill>
                      <a:srgbClr val="F7F4EC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200" b="1" noProof="1">
                          <a:solidFill>
                            <a:srgbClr val="C2623E"/>
                          </a:solidFill>
                          <a:latin typeface="Manrope"/>
                          <a:ea typeface="Manrope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8890" cap="flat" cmpd="sng" algn="ctr">
                      <a:solidFill>
                        <a:srgbClr val="C9CE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>
                      <a:solidFill>
                        <a:srgbClr val="C9CEC5"/>
                      </a:solidFill>
                    </a:lnB>
                    <a:solidFill>
                      <a:srgbClr val="F7F4EC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ide-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eyJ2aWV3Qm94IjpbMSwzMTRdLCJwb2ludHMiOiIwLDAgMCwzMTQifQ</pptd:line>
              </p:ext>
            </p:extLst>
          </p:nvPr>
        </p:nvSpPr>
        <p:spPr>
          <a:xfrm>
            <a:off x="8445500" y="2006600"/>
            <a:ext cx="12700" cy="3987800"/>
          </a:xfrm>
          <a:custGeom>
            <a:avLst/>
            <a:gdLst/>
            <a:ahLst/>
            <a:cxnLst/>
            <a:rect l="l" t="t" r="r" b="b"/>
            <a:pathLst>
              <a:path w="1" h="314">
                <a:moveTo>
                  <a:pt x="0" y="0"/>
                </a:moveTo>
                <a:lnTo>
                  <a:pt x="0" y="314"/>
                </a:lnTo>
              </a:path>
            </a:pathLst>
          </a:custGeom>
          <a:noFill/>
          <a:ln w="12700" cap="rnd">
            <a:solidFill>
              <a:srgbClr val="173C34"/>
            </a:solidFill>
            <a:round/>
          </a:ln>
        </p:spPr>
      </p:sp>
      <p:sp>
        <p:nvSpPr>
          <p:cNvPr id="7" name="sample-label"/>
          <p:cNvSpPr txBox="1"/>
          <p:nvPr/>
        </p:nvSpPr>
        <p:spPr>
          <a:xfrm>
            <a:off x="8826500" y="1993900"/>
            <a:ext cx="2603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80" noProof="1">
                <a:solidFill>
                  <a:srgbClr val="315B50"/>
                </a:solidFill>
                <a:latin typeface="Manrope"/>
                <a:ea typeface="Manrope"/>
              </a:rPr>
              <a:t>МИНИМАЛЬНЫЙ ОБЪЁМ ИСПЫТАНИЯ</a:t>
            </a:r>
            <a:endParaRPr lang="en-US" sz="1000" noProof="1"/>
          </a:p>
        </p:txBody>
      </p:sp>
      <p:sp>
        <p:nvSpPr>
          <p:cNvPr id="8" name="shifts"/>
          <p:cNvSpPr txBox="1"/>
          <p:nvPr/>
        </p:nvSpPr>
        <p:spPr>
          <a:xfrm>
            <a:off x="8826500" y="2451100"/>
            <a:ext cx="2603500" cy="546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3100" b="1" noProof="1">
                <a:solidFill>
                  <a:srgbClr val="173C34"/>
                </a:solidFill>
                <a:latin typeface="Manrope"/>
                <a:ea typeface="Manrope"/>
              </a:rPr>
              <a:t>20 смен</a:t>
            </a:r>
            <a:endParaRPr lang="en-US" sz="3100" noProof="1"/>
          </a:p>
        </p:txBody>
      </p:sp>
      <p:sp>
        <p:nvSpPr>
          <p:cNvPr id="9" name="shifts-note"/>
          <p:cNvSpPr txBox="1"/>
          <p:nvPr/>
        </p:nvSpPr>
        <p:spPr>
          <a:xfrm>
            <a:off x="8826500" y="2997200"/>
            <a:ext cx="26035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68746F"/>
                </a:solidFill>
                <a:latin typeface="Manrope"/>
                <a:ea typeface="Manrope"/>
              </a:rPr>
              <a:t>все типы крышек, продукции и рабочие смены</a:t>
            </a:r>
            <a:endParaRPr lang="en-US" sz="1000" noProof="1"/>
          </a:p>
        </p:txBody>
      </p:sp>
      <p:sp>
        <p:nvSpPr>
          <p:cNvPr id="10" name="defects"/>
          <p:cNvSpPr txBox="1"/>
          <p:nvPr/>
        </p:nvSpPr>
        <p:spPr>
          <a:xfrm>
            <a:off x="8826500" y="3556000"/>
            <a:ext cx="26035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900" b="1" noProof="1">
                <a:solidFill>
                  <a:srgbClr val="C2623E"/>
                </a:solidFill>
                <a:latin typeface="Manrope"/>
                <a:ea typeface="Manrope"/>
              </a:rPr>
              <a:t>300</a:t>
            </a:r>
            <a:endParaRPr lang="en-US" sz="2900" noProof="1"/>
          </a:p>
        </p:txBody>
      </p:sp>
      <p:sp>
        <p:nvSpPr>
          <p:cNvPr id="11" name="defects-note"/>
          <p:cNvSpPr txBox="1"/>
          <p:nvPr/>
        </p:nvSpPr>
        <p:spPr>
          <a:xfrm>
            <a:off x="8826500" y="4064000"/>
            <a:ext cx="2603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68746F"/>
                </a:solidFill>
                <a:latin typeface="Manrope"/>
                <a:ea typeface="Manrope"/>
              </a:rPr>
              <a:t>дефектных лотков с экспертным подтверждением</a:t>
            </a:r>
            <a:endParaRPr lang="en-US" sz="1000" noProof="1"/>
          </a:p>
        </p:txBody>
      </p:sp>
      <p:sp>
        <p:nvSpPr>
          <p:cNvPr id="12" name="good"/>
          <p:cNvSpPr txBox="1"/>
          <p:nvPr/>
        </p:nvSpPr>
        <p:spPr>
          <a:xfrm>
            <a:off x="8826500" y="4597400"/>
            <a:ext cx="26035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900" b="1" noProof="1">
                <a:solidFill>
                  <a:srgbClr val="173C34"/>
                </a:solidFill>
                <a:latin typeface="Manrope"/>
                <a:ea typeface="Manrope"/>
              </a:rPr>
              <a:t>3 000</a:t>
            </a:r>
            <a:endParaRPr lang="en-US" sz="2900" noProof="1"/>
          </a:p>
        </p:txBody>
      </p:sp>
      <p:sp>
        <p:nvSpPr>
          <p:cNvPr id="13" name="good-note"/>
          <p:cNvSpPr txBox="1"/>
          <p:nvPr/>
        </p:nvSpPr>
        <p:spPr>
          <a:xfrm>
            <a:off x="8826500" y="5105400"/>
            <a:ext cx="2603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68746F"/>
                </a:solidFill>
                <a:latin typeface="Manrope"/>
                <a:ea typeface="Manrope"/>
              </a:rPr>
              <a:t>качественных лотков для оценки ложной отбраковки</a:t>
            </a:r>
            <a:endParaRPr lang="en-US" sz="1000" noProof="1"/>
          </a:p>
        </p:txBody>
      </p:sp>
      <p:sp>
        <p:nvSpPr>
          <p:cNvPr id="14" name="condition"/>
          <p:cNvSpPr txBox="1"/>
          <p:nvPr/>
        </p:nvSpPr>
        <p:spPr>
          <a:xfrm>
            <a:off x="8826500" y="5638800"/>
            <a:ext cx="26035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950" noProof="1">
                <a:solidFill>
                  <a:srgbClr val="C2623E"/>
                </a:solidFill>
                <a:latin typeface="Manrope"/>
                <a:ea typeface="Manrope"/>
              </a:rPr>
              <a:t>Если дефектов недостаточно, испытание продлевается.</a:t>
            </a:r>
            <a:endParaRPr lang="en-US" sz="950" noProof="1"/>
          </a:p>
        </p:txBody>
      </p:sp>
      <p:sp>
        <p:nvSpPr>
          <p:cNvPr id="15" name="footer"/>
          <p:cNvSpPr txBox="1"/>
          <p:nvPr/>
        </p:nvSpPr>
        <p:spPr>
          <a:xfrm>
            <a:off x="609600" y="6527800"/>
            <a:ext cx="9652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800" noProof="1">
                <a:solidFill>
                  <a:srgbClr val="68746F"/>
                </a:solidFill>
                <a:latin typeface="Manrope"/>
                <a:ea typeface="Manrope"/>
              </a:rPr>
              <a:t>Источник: README, разделы 3.9 и 6. Значения являются критериями приёмки, а не достигнутыми результатами.</a:t>
            </a:r>
            <a:endParaRPr lang="en-US" sz="800" noProof="1"/>
          </a:p>
        </p:txBody>
      </p:sp>
      <p:sp>
        <p:nvSpPr>
          <p:cNvPr id="16" name="page"/>
          <p:cNvSpPr txBox="1"/>
          <p:nvPr/>
        </p:nvSpPr>
        <p:spPr>
          <a:xfrm>
            <a:off x="11112500" y="6477000"/>
            <a:ext cx="355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900" noProof="1">
                <a:solidFill>
                  <a:srgbClr val="68746F"/>
                </a:solidFill>
                <a:latin typeface="Manrope"/>
                <a:ea typeface="Manrope"/>
              </a:rPr>
              <a:t>07</a:t>
            </a:r>
            <a:endParaRPr lang="en-US" sz="9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175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130" noProof="1">
                <a:solidFill>
                  <a:srgbClr val="315B50"/>
                </a:solidFill>
                <a:latin typeface="Manrope"/>
                <a:ea typeface="Manrope"/>
              </a:rPr>
              <a:t>02 · ДОКАЗАТЕЛЬНЫЙ ЭКСПЕРИМЕНТ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73100"/>
            <a:ext cx="10795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8000"/>
              </a:lnSpc>
            </a:pPr>
            <a:r>
              <a:rPr lang="en-US" sz="2900" b="1" noProof="1">
                <a:solidFill>
                  <a:srgbClr val="172520"/>
                </a:solidFill>
                <a:latin typeface="PT Serif"/>
                <a:ea typeface="PT Serif"/>
              </a:rPr>
              <a:t>Камеру и операторов сравнивают на сопоставимых периодах, а ошибки подтверждает эксперт</a:t>
            </a:r>
            <a:endParaRPr lang="en-US" sz="29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676400"/>
            <a:ext cx="584200" cy="38100"/>
          </a:xfrm>
          <a:prstGeom prst="rect">
            <a:avLst/>
          </a:prstGeom>
          <a:solidFill>
            <a:srgbClr val="C2623E"/>
          </a:solidFill>
          <a:ln>
            <a:noFill/>
          </a:ln>
        </p:spPr>
      </p:sp>
      <p:sp>
        <p:nvSpPr>
          <p:cNvPr id="5" name="timeline-label"/>
          <p:cNvSpPr txBox="1"/>
          <p:nvPr/>
        </p:nvSpPr>
        <p:spPr>
          <a:xfrm>
            <a:off x="609600" y="1955800"/>
            <a:ext cx="571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80" noProof="1">
                <a:solidFill>
                  <a:srgbClr val="315B50"/>
                </a:solidFill>
                <a:latin typeface="Manrope"/>
                <a:ea typeface="Manrope"/>
              </a:rPr>
              <a:t>ЧЕРЕДОВАНИЕ РЕЖИМОВ · НЕ МЕНЕЕ 1 МЕСЯЦА</a:t>
            </a:r>
            <a:endParaRPr lang="en-US" sz="1000" noProof="1"/>
          </a:p>
        </p:txBody>
      </p:sp>
      <p:sp>
        <p:nvSpPr>
          <p:cNvPr id="6" name="blind-note"/>
          <p:cNvSpPr txBox="1"/>
          <p:nvPr/>
        </p:nvSpPr>
        <p:spPr>
          <a:xfrm>
            <a:off x="7010400" y="1955800"/>
            <a:ext cx="44196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r">
              <a:lnSpc>
                <a:spcPct val="130000"/>
              </a:lnSpc>
            </a:pPr>
            <a:r>
              <a:rPr lang="en-US" sz="950" noProof="1">
                <a:solidFill>
                  <a:srgbClr val="68746F"/>
                </a:solidFill>
                <a:latin typeface="Manrope"/>
                <a:ea typeface="Manrope"/>
              </a:rPr>
              <a:t>Цеха заранее не уведомляются о конкретных датах переключения режима</a:t>
            </a:r>
            <a:endParaRPr lang="en-US" sz="950" noProof="1"/>
          </a:p>
        </p:txBody>
      </p:sp>
      <p:sp>
        <p:nvSpPr>
          <p:cNvPr id="7" name="w1"/>
          <p:cNvSpPr/>
          <p:nvPr/>
        </p:nvSpPr>
        <p:spPr>
          <a:xfrm>
            <a:off x="609600" y="2476500"/>
            <a:ext cx="2527300" cy="685800"/>
          </a:xfrm>
          <a:prstGeom prst="rect">
            <a:avLst/>
          </a:prstGeom>
          <a:solidFill>
            <a:srgbClr val="EBECE5"/>
          </a:solidFill>
          <a:ln>
            <a:noFill/>
          </a:ln>
        </p:spPr>
      </p:sp>
      <p:sp>
        <p:nvSpPr>
          <p:cNvPr id="8" name="w2"/>
          <p:cNvSpPr/>
          <p:nvPr/>
        </p:nvSpPr>
        <p:spPr>
          <a:xfrm>
            <a:off x="3136900" y="2476500"/>
            <a:ext cx="2527300" cy="685800"/>
          </a:xfrm>
          <a:prstGeom prst="rect">
            <a:avLst/>
          </a:prstGeom>
          <a:solidFill>
            <a:srgbClr val="173C34"/>
          </a:solidFill>
          <a:ln>
            <a:noFill/>
          </a:ln>
        </p:spPr>
      </p:sp>
      <p:sp>
        <p:nvSpPr>
          <p:cNvPr id="9" name="w3"/>
          <p:cNvSpPr/>
          <p:nvPr/>
        </p:nvSpPr>
        <p:spPr>
          <a:xfrm>
            <a:off x="5664200" y="2476500"/>
            <a:ext cx="2527300" cy="685800"/>
          </a:xfrm>
          <a:prstGeom prst="rect">
            <a:avLst/>
          </a:prstGeom>
          <a:solidFill>
            <a:srgbClr val="EBECE5"/>
          </a:solidFill>
          <a:ln>
            <a:noFill/>
          </a:ln>
        </p:spPr>
      </p:sp>
      <p:sp>
        <p:nvSpPr>
          <p:cNvPr id="10" name="w4"/>
          <p:cNvSpPr/>
          <p:nvPr/>
        </p:nvSpPr>
        <p:spPr>
          <a:xfrm>
            <a:off x="8191500" y="2476500"/>
            <a:ext cx="2527300" cy="685800"/>
          </a:xfrm>
          <a:prstGeom prst="rect">
            <a:avLst/>
          </a:prstGeom>
          <a:solidFill>
            <a:srgbClr val="173C34"/>
          </a:solidFill>
          <a:ln>
            <a:noFill/>
          </a:ln>
        </p:spPr>
      </p:sp>
      <p:sp>
        <p:nvSpPr>
          <p:cNvPr id="11" name="wt1"/>
          <p:cNvSpPr txBox="1"/>
          <p:nvPr/>
        </p:nvSpPr>
        <p:spPr>
          <a:xfrm>
            <a:off x="787400" y="2578100"/>
            <a:ext cx="21717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172520"/>
                </a:solidFill>
                <a:latin typeface="Manrope"/>
                <a:ea typeface="Manrope"/>
              </a:rPr>
              <a:t>НЕДЕЛЯ 1
2 оператора</a:t>
            </a:r>
            <a:endParaRPr lang="en-US" sz="1200" noProof="1"/>
          </a:p>
        </p:txBody>
      </p:sp>
      <p:sp>
        <p:nvSpPr>
          <p:cNvPr id="12" name="wt2"/>
          <p:cNvSpPr txBox="1"/>
          <p:nvPr/>
        </p:nvSpPr>
        <p:spPr>
          <a:xfrm>
            <a:off x="3314700" y="2578100"/>
            <a:ext cx="21717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anrope"/>
                <a:ea typeface="Manrope"/>
              </a:rPr>
              <a:t>НЕДЕЛЯ 2
Модель CV</a:t>
            </a:r>
            <a:endParaRPr lang="en-US" sz="1200" noProof="1"/>
          </a:p>
        </p:txBody>
      </p:sp>
      <p:sp>
        <p:nvSpPr>
          <p:cNvPr id="13" name="wt3"/>
          <p:cNvSpPr txBox="1"/>
          <p:nvPr/>
        </p:nvSpPr>
        <p:spPr>
          <a:xfrm>
            <a:off x="5842000" y="2578100"/>
            <a:ext cx="21717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172520"/>
                </a:solidFill>
                <a:latin typeface="Manrope"/>
                <a:ea typeface="Manrope"/>
              </a:rPr>
              <a:t>НЕДЕЛЯ 3
2 оператора</a:t>
            </a:r>
            <a:endParaRPr lang="en-US" sz="1200" noProof="1"/>
          </a:p>
        </p:txBody>
      </p:sp>
      <p:sp>
        <p:nvSpPr>
          <p:cNvPr id="14" name="wt4"/>
          <p:cNvSpPr txBox="1"/>
          <p:nvPr/>
        </p:nvSpPr>
        <p:spPr>
          <a:xfrm>
            <a:off x="8369300" y="2578100"/>
            <a:ext cx="21717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b="1" noProof="1">
                <a:solidFill>
                  <a:srgbClr val="FFFFFF"/>
                </a:solidFill>
                <a:latin typeface="Manrope"/>
                <a:ea typeface="Manrope"/>
              </a:rPr>
              <a:t>НЕДЕЛЯ 4
Модель CV</a:t>
            </a:r>
            <a:endParaRPr lang="en-US" sz="1200" noProof="1"/>
          </a:p>
        </p:txBody>
      </p:sp>
      <p:sp>
        <p:nvSpPr>
          <p:cNvPr id="15" name="compare-note"/>
          <p:cNvSpPr txBox="1"/>
          <p:nvPr/>
        </p:nvSpPr>
        <p:spPr>
          <a:xfrm>
            <a:off x="609600" y="3314700"/>
            <a:ext cx="10109200" cy="40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50" noProof="1">
                <a:solidFill>
                  <a:srgbClr val="68746F"/>
                </a:solidFill>
                <a:latin typeface="Manrope"/>
                <a:ea typeface="Manrope"/>
              </a:rPr>
              <a:t>Сопоставление учитывает продукцию, партии и смены. Сначала - теневой режим без управления толкателем, затем - автоматическая отбраковка под наблюдением.</a:t>
            </a:r>
            <a:endParaRPr lang="en-US" sz="1050" noProof="1"/>
          </a:p>
        </p:txBody>
      </p:sp>
      <p:sp>
        <p:nvSpPr>
          <p:cNvPr id="16" name="mid-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eyJ2aWV3Qm94IjpbODUyLDFdLCJwb2ludHMiOiIwLDAgODUyLDAifQ</pptd:line>
              </p:ext>
            </p:extLst>
          </p:nvPr>
        </p:nvSpPr>
        <p:spPr>
          <a:xfrm>
            <a:off x="609600" y="3898900"/>
            <a:ext cx="10820400" cy="12700"/>
          </a:xfrm>
          <a:custGeom>
            <a:avLst/>
            <a:gdLst/>
            <a:ahLst/>
            <a:cxnLst/>
            <a:rect l="l" t="t" r="r" b="b"/>
            <a:pathLst>
              <a:path w="852" h="1">
                <a:moveTo>
                  <a:pt x="0" y="0"/>
                </a:moveTo>
                <a:lnTo>
                  <a:pt x="852" y="0"/>
                </a:lnTo>
              </a:path>
            </a:pathLst>
          </a:custGeom>
          <a:noFill/>
          <a:ln w="12700" cap="rnd">
            <a:solidFill>
              <a:srgbClr val="C9CEC5"/>
            </a:solidFill>
            <a:round/>
          </a:ln>
        </p:spPr>
      </p:sp>
      <p:sp>
        <p:nvSpPr>
          <p:cNvPr id="17" name="s1-num"/>
          <p:cNvSpPr txBox="1"/>
          <p:nvPr/>
        </p:nvSpPr>
        <p:spPr>
          <a:xfrm>
            <a:off x="609600" y="4165600"/>
            <a:ext cx="457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C2623E"/>
                </a:solidFill>
                <a:latin typeface="Manrope"/>
                <a:ea typeface="Manrope"/>
              </a:rPr>
              <a:t>01</a:t>
            </a:r>
            <a:endParaRPr lang="en-US" sz="1800" noProof="1"/>
          </a:p>
        </p:txBody>
      </p:sp>
      <p:sp>
        <p:nvSpPr>
          <p:cNvPr id="18" name="s1-title"/>
          <p:cNvSpPr txBox="1"/>
          <p:nvPr/>
        </p:nvSpPr>
        <p:spPr>
          <a:xfrm>
            <a:off x="1206500" y="4127500"/>
            <a:ext cx="28575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0"/>
                </a:solidFill>
                <a:latin typeface="Manrope"/>
                <a:ea typeface="Manrope"/>
              </a:rPr>
              <a:t>Эталон качества</a:t>
            </a:r>
            <a:endParaRPr lang="en-US" sz="1500" noProof="1"/>
          </a:p>
        </p:txBody>
      </p:sp>
      <p:sp>
        <p:nvSpPr>
          <p:cNvPr id="19" name="s1-body"/>
          <p:cNvSpPr txBox="1"/>
          <p:nvPr/>
        </p:nvSpPr>
        <p:spPr>
          <a:xfrm>
            <a:off x="1206500" y="4483100"/>
            <a:ext cx="3937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8746F"/>
                </a:solidFill>
                <a:latin typeface="Manrope"/>
                <a:ea typeface="Manrope"/>
              </a:rPr>
              <a:t>Два эксперта подтверждают дефекты. При разногласии решение принимает третий эксперт или технолог.</a:t>
            </a:r>
            <a:endParaRPr lang="en-US" sz="1200" noProof="1"/>
          </a:p>
        </p:txBody>
      </p:sp>
      <p:sp>
        <p:nvSpPr>
          <p:cNvPr id="20" name="s2-num"/>
          <p:cNvSpPr txBox="1"/>
          <p:nvPr/>
        </p:nvSpPr>
        <p:spPr>
          <a:xfrm>
            <a:off x="5664200" y="4165600"/>
            <a:ext cx="457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C2623E"/>
                </a:solidFill>
                <a:latin typeface="Manrope"/>
                <a:ea typeface="Manrope"/>
              </a:rPr>
              <a:t>02</a:t>
            </a:r>
            <a:endParaRPr lang="en-US" sz="1800" noProof="1"/>
          </a:p>
        </p:txBody>
      </p:sp>
      <p:sp>
        <p:nvSpPr>
          <p:cNvPr id="21" name="s2-title"/>
          <p:cNvSpPr txBox="1"/>
          <p:nvPr/>
        </p:nvSpPr>
        <p:spPr>
          <a:xfrm>
            <a:off x="6261100" y="4127500"/>
            <a:ext cx="3429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0"/>
                </a:solidFill>
                <a:latin typeface="Manrope"/>
                <a:ea typeface="Manrope"/>
              </a:rPr>
              <a:t>Сравнение ошибок</a:t>
            </a:r>
            <a:endParaRPr lang="en-US" sz="1500" noProof="1"/>
          </a:p>
        </p:txBody>
      </p:sp>
      <p:sp>
        <p:nvSpPr>
          <p:cNvPr id="22" name="s2-body"/>
          <p:cNvSpPr txBox="1"/>
          <p:nvPr/>
        </p:nvSpPr>
        <p:spPr>
          <a:xfrm>
            <a:off x="6261100" y="4483100"/>
            <a:ext cx="51689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8746F"/>
                </a:solidFill>
                <a:latin typeface="Manrope"/>
                <a:ea typeface="Manrope"/>
              </a:rPr>
              <a:t>Пропуски и ложная отбраковка оцениваются отдельно; разница долей пропусков - с 95%-м доверительным интервалом.</a:t>
            </a:r>
            <a:endParaRPr lang="en-US" sz="1200" noProof="1"/>
          </a:p>
        </p:txBody>
      </p:sp>
      <p:sp>
        <p:nvSpPr>
          <p:cNvPr id="23" name="s3-num"/>
          <p:cNvSpPr txBox="1"/>
          <p:nvPr/>
        </p:nvSpPr>
        <p:spPr>
          <a:xfrm>
            <a:off x="609600" y="5448300"/>
            <a:ext cx="4572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C2623E"/>
                </a:solidFill>
                <a:latin typeface="Manrope"/>
                <a:ea typeface="Manrope"/>
              </a:rPr>
              <a:t>03</a:t>
            </a:r>
            <a:endParaRPr lang="en-US" sz="1800" noProof="1"/>
          </a:p>
        </p:txBody>
      </p:sp>
      <p:sp>
        <p:nvSpPr>
          <p:cNvPr id="24" name="s3-title"/>
          <p:cNvSpPr txBox="1"/>
          <p:nvPr/>
        </p:nvSpPr>
        <p:spPr>
          <a:xfrm>
            <a:off x="1206500" y="5410200"/>
            <a:ext cx="34290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0"/>
                </a:solidFill>
                <a:latin typeface="Manrope"/>
                <a:ea typeface="Manrope"/>
              </a:rPr>
              <a:t>Связь с точкой А</a:t>
            </a:r>
            <a:endParaRPr lang="en-US" sz="1500" noProof="1"/>
          </a:p>
        </p:txBody>
      </p:sp>
      <p:sp>
        <p:nvSpPr>
          <p:cNvPr id="25" name="s3-body"/>
          <p:cNvSpPr txBox="1"/>
          <p:nvPr/>
        </p:nvSpPr>
        <p:spPr>
          <a:xfrm>
            <a:off x="1206500" y="5765800"/>
            <a:ext cx="102235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200" noProof="1">
                <a:solidFill>
                  <a:srgbClr val="68746F"/>
                </a:solidFill>
                <a:latin typeface="Manrope"/>
                <a:ea typeface="Manrope"/>
              </a:rPr>
              <a:t>По одному периоду и номеру партии сверяются пропуски, простои, возвраты, списания и трудозатраты. Экономический вывод делается только после этого сопоставления.</a:t>
            </a:r>
            <a:endParaRPr lang="en-US" sz="1200" noProof="1"/>
          </a:p>
        </p:txBody>
      </p:sp>
      <p:sp>
        <p:nvSpPr>
          <p:cNvPr id="26" name="footer"/>
          <p:cNvSpPr txBox="1"/>
          <p:nvPr/>
        </p:nvSpPr>
        <p:spPr>
          <a:xfrm>
            <a:off x="609600" y="6527800"/>
            <a:ext cx="9271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800" noProof="1">
                <a:solidFill>
                  <a:srgbClr val="68746F"/>
                </a:solidFill>
                <a:latin typeface="Manrope"/>
                <a:ea typeface="Manrope"/>
              </a:rPr>
              <a:t>Источник: README, разделы 2, 3.9, 6–7. Для малых чисел допускается точный критерий Фишера.</a:t>
            </a:r>
            <a:endParaRPr lang="en-US" sz="800" noProof="1"/>
          </a:p>
        </p:txBody>
      </p:sp>
      <p:sp>
        <p:nvSpPr>
          <p:cNvPr id="27" name="page"/>
          <p:cNvSpPr txBox="1"/>
          <p:nvPr/>
        </p:nvSpPr>
        <p:spPr>
          <a:xfrm>
            <a:off x="11112500" y="6477000"/>
            <a:ext cx="355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900" noProof="1">
                <a:solidFill>
                  <a:srgbClr val="68746F"/>
                </a:solidFill>
                <a:latin typeface="Manrope"/>
                <a:ea typeface="Manrope"/>
              </a:rPr>
              <a:t>08</a:t>
            </a:r>
            <a:endParaRPr lang="en-US" sz="9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175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130" noProof="1">
                <a:solidFill>
                  <a:srgbClr val="315B50"/>
                </a:solidFill>
                <a:latin typeface="Manrope"/>
                <a:ea typeface="Manrope"/>
              </a:rPr>
              <a:t>03 · СКОЛЬКО ЭТО СТОИТ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73100"/>
            <a:ext cx="10795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8000"/>
              </a:lnSpc>
            </a:pPr>
            <a:r>
              <a:rPr lang="en-US" sz="2900" b="1" noProof="1">
                <a:solidFill>
                  <a:srgbClr val="172520"/>
                </a:solidFill>
                <a:latin typeface="PT Serif"/>
                <a:ea typeface="PT Serif"/>
              </a:rPr>
              <a:t>Окупаемость считается по полным затратам и подтверждённому снижению потерь</a:t>
            </a:r>
            <a:endParaRPr lang="en-US" sz="29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676400"/>
            <a:ext cx="584200" cy="38100"/>
          </a:xfrm>
          <a:prstGeom prst="rect">
            <a:avLst/>
          </a:prstGeom>
          <a:solidFill>
            <a:srgbClr val="C2623E"/>
          </a:solidFill>
          <a:ln>
            <a:noFill/>
          </a:ln>
        </p:spPr>
      </p:sp>
      <p:sp>
        <p:nvSpPr>
          <p:cNvPr id="5" name="capex-label"/>
          <p:cNvSpPr txBox="1"/>
          <p:nvPr/>
        </p:nvSpPr>
        <p:spPr>
          <a:xfrm>
            <a:off x="609600" y="1981200"/>
            <a:ext cx="4445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80" noProof="1">
                <a:solidFill>
                  <a:srgbClr val="315B50"/>
                </a:solidFill>
                <a:latin typeface="Manrope"/>
                <a:ea typeface="Manrope"/>
              </a:rPr>
              <a:t>ЕДИНОВРЕМЕННЫЕ ВЛОЖЕНИЯ · CAPEX</a:t>
            </a:r>
            <a:endParaRPr lang="en-US" sz="1000" noProof="1"/>
          </a:p>
        </p:txBody>
      </p:sp>
      <p:sp>
        <p:nvSpPr>
          <p:cNvPr id="6" name="capex1"/>
          <p:cNvSpPr txBox="1"/>
          <p:nvPr/>
        </p:nvSpPr>
        <p:spPr>
          <a:xfrm>
            <a:off x="609600" y="2413000"/>
            <a:ext cx="47625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0"/>
                </a:solidFill>
                <a:latin typeface="Manrope"/>
                <a:ea typeface="Manrope"/>
              </a:rPr>
              <a:t>01  Оборудование поста</a:t>
            </a:r>
            <a:endParaRPr lang="en-US" sz="1500" noProof="1"/>
          </a:p>
        </p:txBody>
      </p:sp>
      <p:sp>
        <p:nvSpPr>
          <p:cNvPr id="7" name="capex1-note"/>
          <p:cNvSpPr txBox="1"/>
          <p:nvPr/>
        </p:nvSpPr>
        <p:spPr>
          <a:xfrm>
            <a:off x="990600" y="2781300"/>
            <a:ext cx="4381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50" noProof="1">
                <a:solidFill>
                  <a:srgbClr val="68746F"/>
                </a:solidFill>
                <a:latin typeface="Manrope"/>
                <a:ea typeface="Manrope"/>
              </a:rPr>
              <a:t>Камера, оптика, подсветка, компьютер, датчики, ПЛК, толкатель, ИБП.</a:t>
            </a:r>
            <a:endParaRPr lang="en-US" sz="1050" noProof="1"/>
          </a:p>
        </p:txBody>
      </p:sp>
      <p:sp>
        <p:nvSpPr>
          <p:cNvPr id="8" name="capex-line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eyJ2aWV3Qm94IjpbMzc1LDFdLCJwb2ludHMiOiIwLDAgMzc1LDAifQ</pptd:line>
              </p:ext>
            </p:extLst>
          </p:nvPr>
        </p:nvSpPr>
        <p:spPr>
          <a:xfrm>
            <a:off x="609600" y="3327400"/>
            <a:ext cx="4762500" cy="12700"/>
          </a:xfrm>
          <a:custGeom>
            <a:avLst/>
            <a:gdLst/>
            <a:ahLst/>
            <a:cxnLst/>
            <a:rect l="l" t="t" r="r" b="b"/>
            <a:pathLst>
              <a:path w="375" h="1">
                <a:moveTo>
                  <a:pt x="0" y="0"/>
                </a:moveTo>
                <a:lnTo>
                  <a:pt x="375" y="0"/>
                </a:lnTo>
              </a:path>
            </a:pathLst>
          </a:custGeom>
          <a:noFill/>
          <a:ln w="10160" cap="rnd">
            <a:solidFill>
              <a:srgbClr val="C9CEC5"/>
            </a:solidFill>
            <a:round/>
          </a:ln>
        </p:spPr>
      </p:sp>
      <p:sp>
        <p:nvSpPr>
          <p:cNvPr id="9" name="capex2"/>
          <p:cNvSpPr txBox="1"/>
          <p:nvPr/>
        </p:nvSpPr>
        <p:spPr>
          <a:xfrm>
            <a:off x="609600" y="3530600"/>
            <a:ext cx="47625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0"/>
                </a:solidFill>
                <a:latin typeface="Manrope"/>
                <a:ea typeface="Manrope"/>
              </a:rPr>
              <a:t>02  Данные и разработка</a:t>
            </a:r>
            <a:endParaRPr lang="en-US" sz="1500" noProof="1"/>
          </a:p>
        </p:txBody>
      </p:sp>
      <p:sp>
        <p:nvSpPr>
          <p:cNvPr id="10" name="capex2-note"/>
          <p:cNvSpPr txBox="1"/>
          <p:nvPr/>
        </p:nvSpPr>
        <p:spPr>
          <a:xfrm>
            <a:off x="990600" y="3898900"/>
            <a:ext cx="4381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50" noProof="1">
                <a:solidFill>
                  <a:srgbClr val="68746F"/>
                </a:solidFill>
                <a:latin typeface="Manrope"/>
                <a:ea typeface="Manrope"/>
              </a:rPr>
              <a:t>Сбор и разметка изображений, обучение и испытание модели, лицензия при необходимости.</a:t>
            </a:r>
            <a:endParaRPr lang="en-US" sz="1050" noProof="1"/>
          </a:p>
        </p:txBody>
      </p:sp>
      <p:sp>
        <p:nvSpPr>
          <p:cNvPr id="11" name="capex-line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eyJ2aWV3Qm94IjpbMzc1LDFdLCJwb2ludHMiOiIwLDAgMzc1LDAifQ</pptd:line>
              </p:ext>
            </p:extLst>
          </p:nvPr>
        </p:nvSpPr>
        <p:spPr>
          <a:xfrm>
            <a:off x="609600" y="4445000"/>
            <a:ext cx="4762500" cy="12700"/>
          </a:xfrm>
          <a:custGeom>
            <a:avLst/>
            <a:gdLst/>
            <a:ahLst/>
            <a:cxnLst/>
            <a:rect l="l" t="t" r="r" b="b"/>
            <a:pathLst>
              <a:path w="375" h="1">
                <a:moveTo>
                  <a:pt x="0" y="0"/>
                </a:moveTo>
                <a:lnTo>
                  <a:pt x="375" y="0"/>
                </a:lnTo>
              </a:path>
            </a:pathLst>
          </a:custGeom>
          <a:noFill/>
          <a:ln w="10160" cap="rnd">
            <a:solidFill>
              <a:srgbClr val="C9CEC5"/>
            </a:solidFill>
            <a:round/>
          </a:ln>
        </p:spPr>
      </p:sp>
      <p:sp>
        <p:nvSpPr>
          <p:cNvPr id="12" name="capex3"/>
          <p:cNvSpPr txBox="1"/>
          <p:nvPr/>
        </p:nvSpPr>
        <p:spPr>
          <a:xfrm>
            <a:off x="609600" y="4648200"/>
            <a:ext cx="4762500" cy="368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2520"/>
                </a:solidFill>
                <a:latin typeface="Manrope"/>
                <a:ea typeface="Manrope"/>
              </a:rPr>
              <a:t>03  Интеграция и запуск</a:t>
            </a:r>
            <a:endParaRPr lang="en-US" sz="1500" noProof="1"/>
          </a:p>
        </p:txBody>
      </p:sp>
      <p:sp>
        <p:nvSpPr>
          <p:cNvPr id="13" name="capex3-note"/>
          <p:cNvSpPr txBox="1"/>
          <p:nvPr/>
        </p:nvSpPr>
        <p:spPr>
          <a:xfrm>
            <a:off x="990600" y="5016500"/>
            <a:ext cx="4381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50" noProof="1">
                <a:solidFill>
                  <a:srgbClr val="68746F"/>
                </a:solidFill>
                <a:latin typeface="Manrope"/>
                <a:ea typeface="Manrope"/>
              </a:rPr>
              <a:t>Механика, подключение к ПЛК, интерфейс, обучение и приёмка первой линии.</a:t>
            </a:r>
            <a:endParaRPr lang="en-US" sz="1050" noProof="1"/>
          </a:p>
        </p:txBody>
      </p:sp>
      <p:sp>
        <p:nvSpPr>
          <p:cNvPr id="14" name="opex"/>
          <p:cNvSpPr txBox="1"/>
          <p:nvPr/>
        </p:nvSpPr>
        <p:spPr>
          <a:xfrm>
            <a:off x="609600" y="5715000"/>
            <a:ext cx="47625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50" noProof="1">
                <a:solidFill>
                  <a:srgbClr val="173C34"/>
                </a:solidFill>
                <a:latin typeface="Manrope"/>
                <a:ea typeface="Manrope"/>
              </a:rPr>
              <a:t>+ Ежемесячный OPEX: обслуживание камеры, компьютера, подсветки, поддержка модели и инфраструктуры.</a:t>
            </a:r>
            <a:endParaRPr lang="en-US" sz="1050" noProof="1"/>
          </a:p>
        </p:txBody>
      </p:sp>
      <p:sp>
        <p:nvSpPr>
          <p:cNvPr id="15" name="vertical-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eyJ2aWV3Qm94IjpbMSwzMjZdLCJwb2ludHMiOiIwLDAgMCwzMjYifQ</pptd:line>
              </p:ext>
            </p:extLst>
          </p:nvPr>
        </p:nvSpPr>
        <p:spPr>
          <a:xfrm>
            <a:off x="5867400" y="2006600"/>
            <a:ext cx="12700" cy="4140200"/>
          </a:xfrm>
          <a:custGeom>
            <a:avLst/>
            <a:gdLst/>
            <a:ahLst/>
            <a:cxnLst/>
            <a:rect l="l" t="t" r="r" b="b"/>
            <a:pathLst>
              <a:path w="1" h="326">
                <a:moveTo>
                  <a:pt x="0" y="0"/>
                </a:moveTo>
                <a:lnTo>
                  <a:pt x="0" y="326"/>
                </a:lnTo>
              </a:path>
            </a:pathLst>
          </a:custGeom>
          <a:noFill/>
          <a:ln w="12700" cap="rnd">
            <a:solidFill>
              <a:srgbClr val="173C34"/>
            </a:solidFill>
            <a:round/>
          </a:ln>
        </p:spPr>
      </p:sp>
      <p:sp>
        <p:nvSpPr>
          <p:cNvPr id="16" name="effect-label"/>
          <p:cNvSpPr txBox="1"/>
          <p:nvPr/>
        </p:nvSpPr>
        <p:spPr>
          <a:xfrm>
            <a:off x="6350000" y="1981200"/>
            <a:ext cx="4953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80" noProof="1">
                <a:solidFill>
                  <a:srgbClr val="315B50"/>
                </a:solidFill>
                <a:latin typeface="Manrope"/>
                <a:ea typeface="Manrope"/>
              </a:rPr>
              <a:t>ЧИСТЫЙ ЭФФЕКТ И СРОК ОКУПАЕМОСТИ</a:t>
            </a:r>
            <a:endParaRPr lang="en-US" sz="1000" noProof="1"/>
          </a:p>
        </p:txBody>
      </p:sp>
      <p:sp>
        <p:nvSpPr>
          <p:cNvPr id="17" name="formula"/>
          <p:cNvSpPr txBox="1"/>
          <p:nvPr/>
        </p:nvSpPr>
        <p:spPr>
          <a:xfrm>
            <a:off x="6350000" y="2413000"/>
            <a:ext cx="5080000" cy="1079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700" b="1" noProof="1">
                <a:solidFill>
                  <a:srgbClr val="173C34"/>
                </a:solidFill>
                <a:latin typeface="Manrope"/>
                <a:ea typeface="Manrope"/>
              </a:rPr>
              <a:t>E мес. = Δвозвраты + Δсписания +</a:t>
            </a:r>
            <a:endParaRPr lang="en-US" sz="1700" noProof="1"/>
          </a:p>
          <a:p>
            <a:pPr>
              <a:lnSpc>
                <a:spcPct val="145000"/>
              </a:lnSpc>
            </a:pPr>
            <a:r>
              <a:rPr lang="en-US" sz="1700" b="1" noProof="1">
                <a:solidFill>
                  <a:srgbClr val="173C34"/>
                </a:solidFill>
                <a:latin typeface="Manrope"/>
                <a:ea typeface="Manrope"/>
              </a:rPr>
              <a:t>Δпростои + Δконтроль − OPEX</a:t>
            </a:r>
            <a:endParaRPr lang="en-US" sz="17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700" b="1" noProof="1">
                <a:solidFill>
                  <a:srgbClr val="C2623E"/>
                </a:solidFill>
                <a:latin typeface="Manrope"/>
                <a:ea typeface="Manrope"/>
              </a:rPr>
              <a:t>T окуп. = CAPEX / E мес.</a:t>
            </a:r>
            <a:endParaRPr lang="en-US" sz="1700" noProof="1"/>
          </a:p>
        </p:txBody>
      </p:sp>
      <p:sp>
        <p:nvSpPr>
          <p:cNvPr id="18" name="warning"/>
          <p:cNvSpPr txBox="1"/>
          <p:nvPr/>
        </p:nvSpPr>
        <p:spPr>
          <a:xfrm>
            <a:off x="6350000" y="3632200"/>
            <a:ext cx="508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00" b="1" noProof="1">
                <a:solidFill>
                  <a:srgbClr val="C2623E"/>
                </a:solidFill>
                <a:latin typeface="Manrope"/>
                <a:ea typeface="Manrope"/>
              </a:rPr>
              <a:t>Сумма и срок окупаемости пока не рассчитаны: в исходных материалах нет фактических финансовых данных.</a:t>
            </a:r>
            <a:endParaRPr lang="en-US" sz="1100" noProof="1"/>
          </a:p>
        </p:txBody>
      </p:sp>
      <p:sp>
        <p:nvSpPr>
          <p:cNvPr id="19" name="inputs-label"/>
          <p:cNvSpPr txBox="1"/>
          <p:nvPr/>
        </p:nvSpPr>
        <p:spPr>
          <a:xfrm>
            <a:off x="6350000" y="4318000"/>
            <a:ext cx="49530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80" noProof="1">
                <a:solidFill>
                  <a:srgbClr val="315B50"/>
                </a:solidFill>
                <a:latin typeface="Manrope"/>
                <a:ea typeface="Manrope"/>
              </a:rPr>
              <a:t>ДЛЯ РАСЧЁТА НУЖНЫ 4 ИСХОДНЫХ ПОКАЗАТЕЛЯ</a:t>
            </a:r>
            <a:endParaRPr lang="en-US" sz="900" noProof="1"/>
          </a:p>
        </p:txBody>
      </p:sp>
      <p:sp>
        <p:nvSpPr>
          <p:cNvPr id="20" name="inputs"/>
          <p:cNvSpPr txBox="1"/>
          <p:nvPr/>
        </p:nvSpPr>
        <p:spPr>
          <a:xfrm>
            <a:off x="6350000" y="4686300"/>
            <a:ext cx="5080000" cy="1295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8746F"/>
                </a:solidFill>
                <a:latin typeface="Manrope"/>
                <a:ea typeface="Manrope"/>
              </a:rPr>
              <a:t>01  Себестоимость одного лотка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8746F"/>
                </a:solidFill>
                <a:latin typeface="Manrope"/>
                <a:ea typeface="Manrope"/>
              </a:rPr>
              <a:t>02  Среднее число возвратов за месяц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8746F"/>
                </a:solidFill>
                <a:latin typeface="Manrope"/>
                <a:ea typeface="Manrope"/>
              </a:rPr>
              <a:t>03  Продолжительность остановок за смену</a:t>
            </a:r>
            <a:endParaRPr lang="en-US" sz="1200" noProof="1"/>
          </a:p>
          <a:p>
            <a:pPr>
              <a:lnSpc>
                <a:spcPct val="145000"/>
              </a:lnSpc>
            </a:pPr>
            <a:r>
              <a:rPr lang="en-US" sz="1200" noProof="1">
                <a:solidFill>
                  <a:srgbClr val="68746F"/>
                </a:solidFill>
                <a:latin typeface="Manrope"/>
                <a:ea typeface="Manrope"/>
              </a:rPr>
              <a:t>04  Стоимость одной минуты простоя</a:t>
            </a:r>
            <a:endParaRPr lang="en-US" sz="1200" noProof="1"/>
          </a:p>
        </p:txBody>
      </p:sp>
      <p:sp>
        <p:nvSpPr>
          <p:cNvPr id="21" name="footer"/>
          <p:cNvSpPr txBox="1"/>
          <p:nvPr/>
        </p:nvSpPr>
        <p:spPr>
          <a:xfrm>
            <a:off x="609600" y="6527800"/>
            <a:ext cx="9779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800" noProof="1">
                <a:solidFill>
                  <a:srgbClr val="68746F"/>
                </a:solidFill>
                <a:latin typeface="Manrope"/>
                <a:ea typeface="Manrope"/>
              </a:rPr>
              <a:t>Источник: README, разделы 1, 2 и 6. Себестоимость одной продукции не учитывается повторно в списаниях и возвратах.</a:t>
            </a:r>
            <a:endParaRPr lang="en-US" sz="800" noProof="1"/>
          </a:p>
        </p:txBody>
      </p:sp>
      <p:sp>
        <p:nvSpPr>
          <p:cNvPr id="22" name="page"/>
          <p:cNvSpPr txBox="1"/>
          <p:nvPr/>
        </p:nvSpPr>
        <p:spPr>
          <a:xfrm>
            <a:off x="11112500" y="6477000"/>
            <a:ext cx="355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900" noProof="1">
                <a:solidFill>
                  <a:srgbClr val="68746F"/>
                </a:solidFill>
                <a:latin typeface="Manrope"/>
                <a:ea typeface="Manrope"/>
              </a:rPr>
              <a:t>09</a:t>
            </a:r>
            <a:endParaRPr lang="en-US" sz="9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175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130" noProof="1">
                <a:solidFill>
                  <a:srgbClr val="315B50"/>
                </a:solidFill>
                <a:latin typeface="Manrope"/>
                <a:ea typeface="Manrope"/>
              </a:rPr>
              <a:t>ПЛАН ПЕРВОЙ ЛИНИИ · РЕАЛИСТИЧНЫЙ СЦЕНАРИЙ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73100"/>
            <a:ext cx="10795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8000"/>
              </a:lnSpc>
            </a:pPr>
            <a:r>
              <a:rPr lang="en-US" sz="2900" b="1" noProof="1">
                <a:solidFill>
                  <a:srgbClr val="172520"/>
                </a:solidFill>
                <a:latin typeface="PT Serif"/>
                <a:ea typeface="PT Serif"/>
              </a:rPr>
              <a:t>Промышленная приёмка первой линии занимает 22–26 недель</a:t>
            </a:r>
            <a:endParaRPr lang="en-US" sz="29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676400"/>
            <a:ext cx="584200" cy="38100"/>
          </a:xfrm>
          <a:prstGeom prst="rect">
            <a:avLst/>
          </a:prstGeom>
          <a:solidFill>
            <a:srgbClr val="C2623E"/>
          </a:solidFill>
          <a:ln>
            <a:noFill/>
          </a:ln>
        </p:spPr>
      </p:sp>
      <p:sp>
        <p:nvSpPr>
          <p:cNvPr id="5" name="duration"/>
          <p:cNvSpPr txBox="1"/>
          <p:nvPr/>
        </p:nvSpPr>
        <p:spPr>
          <a:xfrm>
            <a:off x="8382000" y="1778000"/>
            <a:ext cx="3048000" cy="431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800" b="1" noProof="1">
                <a:solidFill>
                  <a:srgbClr val="173C34"/>
                </a:solidFill>
                <a:latin typeface="Manrope"/>
                <a:ea typeface="Manrope"/>
              </a:rPr>
              <a:t>≈ 6 месяцев</a:t>
            </a:r>
            <a:endParaRPr lang="en-US" sz="1800" noProof="1"/>
          </a:p>
        </p:txBody>
      </p:sp>
      <p:sp>
        <p:nvSpPr>
          <p:cNvPr id="6" name="week-header"/>
          <p:cNvSpPr txBox="1"/>
          <p:nvPr/>
        </p:nvSpPr>
        <p:spPr>
          <a:xfrm>
            <a:off x="609600" y="21844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80" noProof="1">
                <a:solidFill>
                  <a:srgbClr val="315B50"/>
                </a:solidFill>
                <a:latin typeface="Manrope"/>
                <a:ea typeface="Manrope"/>
              </a:rPr>
              <a:t>РАБОТЫ / НЕДЕЛИ</a:t>
            </a:r>
            <a:endParaRPr lang="en-US" sz="900" noProof="1"/>
          </a:p>
        </p:txBody>
      </p:sp>
      <p:sp>
        <p:nvSpPr>
          <p:cNvPr id="7" name="weeks"/>
          <p:cNvSpPr txBox="1"/>
          <p:nvPr/>
        </p:nvSpPr>
        <p:spPr>
          <a:xfrm>
            <a:off x="3175000" y="2184400"/>
            <a:ext cx="8128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noProof="1">
                <a:solidFill>
                  <a:srgbClr val="68746F"/>
                </a:solidFill>
                <a:latin typeface="Manrope"/>
                <a:ea typeface="Manrope"/>
              </a:rPr>
              <a:t>1                         4                         8                        12                       16                       20                       24     26</a:t>
            </a:r>
            <a:endParaRPr lang="en-US" sz="900" noProof="1"/>
          </a:p>
        </p:txBody>
      </p:sp>
      <p:sp>
        <p:nvSpPr>
          <p:cNvPr id="8" name="grid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eyJ2aWV3Qm94IjpbMSwyNTRdLCJwb2ludHMiOiIwLDAgMCwyNTQifQ</pptd:line>
              </p:ext>
            </p:extLst>
          </p:nvPr>
        </p:nvSpPr>
        <p:spPr>
          <a:xfrm>
            <a:off x="3175000" y="2476500"/>
            <a:ext cx="12700" cy="3225800"/>
          </a:xfrm>
          <a:custGeom>
            <a:avLst/>
            <a:gdLst/>
            <a:ahLst/>
            <a:cxnLst/>
            <a:rect l="l" t="t" r="r" b="b"/>
            <a:pathLst>
              <a:path w="1" h="254">
                <a:moveTo>
                  <a:pt x="0" y="0"/>
                </a:moveTo>
                <a:lnTo>
                  <a:pt x="0" y="254"/>
                </a:lnTo>
              </a:path>
            </a:pathLst>
          </a:custGeom>
          <a:noFill/>
          <a:ln w="7620" cap="rnd">
            <a:solidFill>
              <a:srgbClr val="C9CEC5"/>
            </a:solidFill>
            <a:round/>
          </a:ln>
        </p:spPr>
      </p:sp>
      <p:sp>
        <p:nvSpPr>
          <p:cNvPr id="9" name="grid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eyJ2aWV3Qm94IjpbMSwyNTRdLCJwb2ludHMiOiIwLDAgMCwyNTQifQ</pptd:line>
              </p:ext>
            </p:extLst>
          </p:nvPr>
        </p:nvSpPr>
        <p:spPr>
          <a:xfrm>
            <a:off x="4419600" y="2476500"/>
            <a:ext cx="12700" cy="3225800"/>
          </a:xfrm>
          <a:custGeom>
            <a:avLst/>
            <a:gdLst/>
            <a:ahLst/>
            <a:cxnLst/>
            <a:rect l="l" t="t" r="r" b="b"/>
            <a:pathLst>
              <a:path w="1" h="254">
                <a:moveTo>
                  <a:pt x="0" y="0"/>
                </a:moveTo>
                <a:lnTo>
                  <a:pt x="0" y="254"/>
                </a:lnTo>
              </a:path>
            </a:pathLst>
          </a:custGeom>
          <a:noFill/>
          <a:ln w="7620" cap="rnd">
            <a:solidFill>
              <a:srgbClr val="C9CEC5"/>
            </a:solidFill>
            <a:round/>
          </a:ln>
        </p:spPr>
      </p:sp>
      <p:sp>
        <p:nvSpPr>
          <p:cNvPr id="10" name="grid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eyJ2aWV3Qm94IjpbMSwyNTRdLCJwb2ludHMiOiIwLDAgMCwyNTQifQ</pptd:line>
              </p:ext>
            </p:extLst>
          </p:nvPr>
        </p:nvSpPr>
        <p:spPr>
          <a:xfrm>
            <a:off x="5676900" y="2476500"/>
            <a:ext cx="12700" cy="3225800"/>
          </a:xfrm>
          <a:custGeom>
            <a:avLst/>
            <a:gdLst/>
            <a:ahLst/>
            <a:cxnLst/>
            <a:rect l="l" t="t" r="r" b="b"/>
            <a:pathLst>
              <a:path w="1" h="254">
                <a:moveTo>
                  <a:pt x="0" y="0"/>
                </a:moveTo>
                <a:lnTo>
                  <a:pt x="0" y="254"/>
                </a:lnTo>
              </a:path>
            </a:pathLst>
          </a:custGeom>
          <a:noFill/>
          <a:ln w="7620" cap="rnd">
            <a:solidFill>
              <a:srgbClr val="C9CEC5"/>
            </a:solidFill>
            <a:round/>
          </a:ln>
        </p:spPr>
      </p:sp>
      <p:sp>
        <p:nvSpPr>
          <p:cNvPr id="11" name="grid4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eyJ2aWV3Qm94IjpbMSwyNTRdLCJwb2ludHMiOiIwLDAgMCwyNTQifQ</pptd:line>
              </p:ext>
            </p:extLst>
          </p:nvPr>
        </p:nvSpPr>
        <p:spPr>
          <a:xfrm>
            <a:off x="6921500" y="2476500"/>
            <a:ext cx="12700" cy="3225800"/>
          </a:xfrm>
          <a:custGeom>
            <a:avLst/>
            <a:gdLst/>
            <a:ahLst/>
            <a:cxnLst/>
            <a:rect l="l" t="t" r="r" b="b"/>
            <a:pathLst>
              <a:path w="1" h="254">
                <a:moveTo>
                  <a:pt x="0" y="0"/>
                </a:moveTo>
                <a:lnTo>
                  <a:pt x="0" y="254"/>
                </a:lnTo>
              </a:path>
            </a:pathLst>
          </a:custGeom>
          <a:noFill/>
          <a:ln w="7620" cap="rnd">
            <a:solidFill>
              <a:srgbClr val="C9CEC5"/>
            </a:solidFill>
            <a:round/>
          </a:ln>
        </p:spPr>
      </p:sp>
      <p:sp>
        <p:nvSpPr>
          <p:cNvPr id="12" name="grid5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eyJ2aWV3Qm94IjpbMSwyNTRdLCJwb2ludHMiOiIwLDAgMCwyNTQifQ</pptd:line>
              </p:ext>
            </p:extLst>
          </p:nvPr>
        </p:nvSpPr>
        <p:spPr>
          <a:xfrm>
            <a:off x="8166100" y="2476500"/>
            <a:ext cx="12700" cy="3225800"/>
          </a:xfrm>
          <a:custGeom>
            <a:avLst/>
            <a:gdLst/>
            <a:ahLst/>
            <a:cxnLst/>
            <a:rect l="l" t="t" r="r" b="b"/>
            <a:pathLst>
              <a:path w="1" h="254">
                <a:moveTo>
                  <a:pt x="0" y="0"/>
                </a:moveTo>
                <a:lnTo>
                  <a:pt x="0" y="254"/>
                </a:lnTo>
              </a:path>
            </a:pathLst>
          </a:custGeom>
          <a:noFill/>
          <a:ln w="7620" cap="rnd">
            <a:solidFill>
              <a:srgbClr val="C9CEC5"/>
            </a:solidFill>
            <a:round/>
          </a:ln>
        </p:spPr>
      </p:sp>
      <p:sp>
        <p:nvSpPr>
          <p:cNvPr id="13" name="grid6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eyJ2aWV3Qm94IjpbMSwyNTRdLCJwb2ludHMiOiIwLDAgMCwyNTQifQ</pptd:line>
              </p:ext>
            </p:extLst>
          </p:nvPr>
        </p:nvSpPr>
        <p:spPr>
          <a:xfrm>
            <a:off x="9423400" y="2476500"/>
            <a:ext cx="12700" cy="3225800"/>
          </a:xfrm>
          <a:custGeom>
            <a:avLst/>
            <a:gdLst/>
            <a:ahLst/>
            <a:cxnLst/>
            <a:rect l="l" t="t" r="r" b="b"/>
            <a:pathLst>
              <a:path w="1" h="254">
                <a:moveTo>
                  <a:pt x="0" y="0"/>
                </a:moveTo>
                <a:lnTo>
                  <a:pt x="0" y="254"/>
                </a:lnTo>
              </a:path>
            </a:pathLst>
          </a:custGeom>
          <a:noFill/>
          <a:ln w="7620" cap="rnd">
            <a:solidFill>
              <a:srgbClr val="C9CEC5"/>
            </a:solidFill>
            <a:round/>
          </a:ln>
        </p:spPr>
      </p:sp>
      <p:sp>
        <p:nvSpPr>
          <p:cNvPr id="14" name="grid7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eyJ2aWV3Qm94IjpbMSwyNTRdLCJwb2ludHMiOiIwLDAgMCwyNTQifQ</pptd:line>
              </p:ext>
            </p:extLst>
          </p:nvPr>
        </p:nvSpPr>
        <p:spPr>
          <a:xfrm>
            <a:off x="10668000" y="2476500"/>
            <a:ext cx="12700" cy="3225800"/>
          </a:xfrm>
          <a:custGeom>
            <a:avLst/>
            <a:gdLst/>
            <a:ahLst/>
            <a:cxnLst/>
            <a:rect l="l" t="t" r="r" b="b"/>
            <a:pathLst>
              <a:path w="1" h="254">
                <a:moveTo>
                  <a:pt x="0" y="0"/>
                </a:moveTo>
                <a:lnTo>
                  <a:pt x="0" y="254"/>
                </a:lnTo>
              </a:path>
            </a:pathLst>
          </a:custGeom>
          <a:noFill/>
          <a:ln w="7620" cap="rnd">
            <a:solidFill>
              <a:srgbClr val="C9CEC5"/>
            </a:solidFill>
            <a:round/>
          </a:ln>
        </p:spPr>
      </p:sp>
      <p:sp>
        <p:nvSpPr>
          <p:cNvPr id="15" name="grid8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eyJ2aWV3Qm94IjpbMSwyNTRdLCJwb2ludHMiOiIwLDAgMCwyNTQifQ</pptd:line>
              </p:ext>
            </p:extLst>
          </p:nvPr>
        </p:nvSpPr>
        <p:spPr>
          <a:xfrm>
            <a:off x="11303000" y="2476500"/>
            <a:ext cx="12700" cy="3225800"/>
          </a:xfrm>
          <a:custGeom>
            <a:avLst/>
            <a:gdLst/>
            <a:ahLst/>
            <a:cxnLst/>
            <a:rect l="l" t="t" r="r" b="b"/>
            <a:pathLst>
              <a:path w="1" h="254">
                <a:moveTo>
                  <a:pt x="0" y="0"/>
                </a:moveTo>
                <a:lnTo>
                  <a:pt x="0" y="254"/>
                </a:lnTo>
              </a:path>
            </a:pathLst>
          </a:custGeom>
          <a:noFill/>
          <a:ln w="7620" cap="rnd">
            <a:solidFill>
              <a:srgbClr val="C9CEC5"/>
            </a:solidFill>
            <a:round/>
          </a:ln>
        </p:spPr>
      </p:sp>
      <p:sp>
        <p:nvSpPr>
          <p:cNvPr id="16" name="row1"/>
          <p:cNvSpPr txBox="1"/>
          <p:nvPr/>
        </p:nvSpPr>
        <p:spPr>
          <a:xfrm>
            <a:off x="609600" y="2679700"/>
            <a:ext cx="238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0"/>
                </a:solidFill>
                <a:latin typeface="Manrope"/>
                <a:ea typeface="Manrope"/>
              </a:rPr>
              <a:t>Обследование и стендовый тест оптики</a:t>
            </a:r>
            <a:endParaRPr lang="en-US" sz="1200" noProof="1"/>
          </a:p>
        </p:txBody>
      </p:sp>
      <p:sp>
        <p:nvSpPr>
          <p:cNvPr id="17" name="bar1"/>
          <p:cNvSpPr/>
          <p:nvPr/>
        </p:nvSpPr>
        <p:spPr>
          <a:xfrm>
            <a:off x="3175000" y="2730500"/>
            <a:ext cx="1244600" cy="254000"/>
          </a:xfrm>
          <a:prstGeom prst="rect">
            <a:avLst/>
          </a:prstGeom>
          <a:solidFill>
            <a:srgbClr val="C2623E"/>
          </a:solidFill>
          <a:ln>
            <a:noFill/>
          </a:ln>
        </p:spPr>
      </p:sp>
      <p:sp>
        <p:nvSpPr>
          <p:cNvPr id="18" name="bar1t"/>
          <p:cNvSpPr txBox="1"/>
          <p:nvPr/>
        </p:nvSpPr>
        <p:spPr>
          <a:xfrm>
            <a:off x="3175000" y="2730500"/>
            <a:ext cx="1244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noProof="1">
                <a:solidFill>
                  <a:srgbClr val="FFFFFF"/>
                </a:solidFill>
                <a:latin typeface="Manrope"/>
                <a:ea typeface="Manrope"/>
              </a:rPr>
              <a:t>1–4</a:t>
            </a:r>
            <a:endParaRPr lang="en-US" sz="900" noProof="1"/>
          </a:p>
        </p:txBody>
      </p:sp>
      <p:sp>
        <p:nvSpPr>
          <p:cNvPr id="19" name="row2"/>
          <p:cNvSpPr txBox="1"/>
          <p:nvPr/>
        </p:nvSpPr>
        <p:spPr>
          <a:xfrm>
            <a:off x="609600" y="3314700"/>
            <a:ext cx="238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0"/>
                </a:solidFill>
                <a:latin typeface="Manrope"/>
                <a:ea typeface="Manrope"/>
              </a:rPr>
              <a:t>Данные, модель и закупка оборудования</a:t>
            </a:r>
            <a:endParaRPr lang="en-US" sz="1200" noProof="1"/>
          </a:p>
        </p:txBody>
      </p:sp>
      <p:sp>
        <p:nvSpPr>
          <p:cNvPr id="20" name="bar2"/>
          <p:cNvSpPr/>
          <p:nvPr/>
        </p:nvSpPr>
        <p:spPr>
          <a:xfrm>
            <a:off x="3797300" y="3365500"/>
            <a:ext cx="4064000" cy="254000"/>
          </a:xfrm>
          <a:prstGeom prst="rect">
            <a:avLst/>
          </a:prstGeom>
          <a:solidFill>
            <a:srgbClr val="315B50"/>
          </a:solidFill>
          <a:ln>
            <a:noFill/>
          </a:ln>
        </p:spPr>
      </p:sp>
      <p:sp>
        <p:nvSpPr>
          <p:cNvPr id="21" name="bar2t"/>
          <p:cNvSpPr txBox="1"/>
          <p:nvPr/>
        </p:nvSpPr>
        <p:spPr>
          <a:xfrm>
            <a:off x="3797300" y="3365500"/>
            <a:ext cx="4064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noProof="1">
                <a:solidFill>
                  <a:srgbClr val="FFFFFF"/>
                </a:solidFill>
                <a:latin typeface="Manrope"/>
                <a:ea typeface="Manrope"/>
              </a:rPr>
              <a:t>3–15 · параллельные работы</a:t>
            </a:r>
            <a:endParaRPr lang="en-US" sz="900" noProof="1"/>
          </a:p>
        </p:txBody>
      </p:sp>
      <p:sp>
        <p:nvSpPr>
          <p:cNvPr id="22" name="row3"/>
          <p:cNvSpPr txBox="1"/>
          <p:nvPr/>
        </p:nvSpPr>
        <p:spPr>
          <a:xfrm>
            <a:off x="609600" y="3949700"/>
            <a:ext cx="238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0"/>
                </a:solidFill>
                <a:latin typeface="Manrope"/>
                <a:ea typeface="Manrope"/>
              </a:rPr>
              <a:t>Интеграция, монтаж и проверка контура</a:t>
            </a:r>
            <a:endParaRPr lang="en-US" sz="1200" noProof="1"/>
          </a:p>
        </p:txBody>
      </p:sp>
      <p:sp>
        <p:nvSpPr>
          <p:cNvPr id="23" name="bar3"/>
          <p:cNvSpPr/>
          <p:nvPr/>
        </p:nvSpPr>
        <p:spPr>
          <a:xfrm>
            <a:off x="5981700" y="4000500"/>
            <a:ext cx="2819400" cy="254000"/>
          </a:xfrm>
          <a:prstGeom prst="rect">
            <a:avLst/>
          </a:prstGeom>
          <a:solidFill>
            <a:srgbClr val="173C34"/>
          </a:solidFill>
          <a:ln>
            <a:noFill/>
          </a:ln>
        </p:spPr>
      </p:sp>
      <p:sp>
        <p:nvSpPr>
          <p:cNvPr id="24" name="bar3t"/>
          <p:cNvSpPr txBox="1"/>
          <p:nvPr/>
        </p:nvSpPr>
        <p:spPr>
          <a:xfrm>
            <a:off x="5981700" y="4000500"/>
            <a:ext cx="28194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noProof="1">
                <a:solidFill>
                  <a:srgbClr val="FFFFFF"/>
                </a:solidFill>
                <a:latin typeface="Manrope"/>
                <a:ea typeface="Manrope"/>
              </a:rPr>
              <a:t>10–18</a:t>
            </a:r>
            <a:endParaRPr lang="en-US" sz="900" noProof="1"/>
          </a:p>
        </p:txBody>
      </p:sp>
      <p:sp>
        <p:nvSpPr>
          <p:cNvPr id="25" name="row4"/>
          <p:cNvSpPr txBox="1"/>
          <p:nvPr/>
        </p:nvSpPr>
        <p:spPr>
          <a:xfrm>
            <a:off x="609600" y="4584700"/>
            <a:ext cx="238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0"/>
                </a:solidFill>
                <a:latin typeface="Manrope"/>
                <a:ea typeface="Manrope"/>
              </a:rPr>
              <a:t>Теневой режим и опытная эксплуатация</a:t>
            </a:r>
            <a:endParaRPr lang="en-US" sz="1200" noProof="1"/>
          </a:p>
        </p:txBody>
      </p:sp>
      <p:sp>
        <p:nvSpPr>
          <p:cNvPr id="26" name="bar4"/>
          <p:cNvSpPr/>
          <p:nvPr/>
        </p:nvSpPr>
        <p:spPr>
          <a:xfrm>
            <a:off x="8166100" y="4635500"/>
            <a:ext cx="1879600" cy="254000"/>
          </a:xfrm>
          <a:prstGeom prst="rect">
            <a:avLst/>
          </a:prstGeom>
          <a:solidFill>
            <a:srgbClr val="C2623E"/>
          </a:solidFill>
          <a:ln>
            <a:noFill/>
          </a:ln>
        </p:spPr>
      </p:sp>
      <p:sp>
        <p:nvSpPr>
          <p:cNvPr id="27" name="bar4t"/>
          <p:cNvSpPr txBox="1"/>
          <p:nvPr/>
        </p:nvSpPr>
        <p:spPr>
          <a:xfrm>
            <a:off x="8166100" y="4635500"/>
            <a:ext cx="18796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noProof="1">
                <a:solidFill>
                  <a:srgbClr val="FFFFFF"/>
                </a:solidFill>
                <a:latin typeface="Manrope"/>
                <a:ea typeface="Manrope"/>
              </a:rPr>
              <a:t>17–22</a:t>
            </a:r>
            <a:endParaRPr lang="en-US" sz="900" noProof="1"/>
          </a:p>
        </p:txBody>
      </p:sp>
      <p:sp>
        <p:nvSpPr>
          <p:cNvPr id="28" name="row5"/>
          <p:cNvSpPr txBox="1"/>
          <p:nvPr/>
        </p:nvSpPr>
        <p:spPr>
          <a:xfrm>
            <a:off x="609600" y="5219700"/>
            <a:ext cx="2387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200" b="1" noProof="1">
                <a:solidFill>
                  <a:srgbClr val="172520"/>
                </a:solidFill>
                <a:latin typeface="Manrope"/>
                <a:ea typeface="Manrope"/>
              </a:rPr>
              <a:t>Метрики, экономика и итоговая приёмка</a:t>
            </a:r>
            <a:endParaRPr lang="en-US" sz="1200" noProof="1"/>
          </a:p>
        </p:txBody>
      </p:sp>
      <p:sp>
        <p:nvSpPr>
          <p:cNvPr id="29" name="bar5"/>
          <p:cNvSpPr/>
          <p:nvPr/>
        </p:nvSpPr>
        <p:spPr>
          <a:xfrm>
            <a:off x="10045700" y="5270500"/>
            <a:ext cx="1257300" cy="254000"/>
          </a:xfrm>
          <a:prstGeom prst="rect">
            <a:avLst/>
          </a:prstGeom>
          <a:solidFill>
            <a:srgbClr val="173C34"/>
          </a:solidFill>
          <a:ln>
            <a:noFill/>
          </a:ln>
        </p:spPr>
      </p:sp>
      <p:sp>
        <p:nvSpPr>
          <p:cNvPr id="30" name="bar5t"/>
          <p:cNvSpPr txBox="1"/>
          <p:nvPr/>
        </p:nvSpPr>
        <p:spPr>
          <a:xfrm>
            <a:off x="10045700" y="5270500"/>
            <a:ext cx="12573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00" b="1" noProof="1">
                <a:solidFill>
                  <a:srgbClr val="FFFFFF"/>
                </a:solidFill>
                <a:latin typeface="Manrope"/>
                <a:ea typeface="Manrope"/>
              </a:rPr>
              <a:t>23–26</a:t>
            </a:r>
            <a:endParaRPr lang="en-US" sz="900" noProof="1"/>
          </a:p>
        </p:txBody>
      </p:sp>
      <p:sp>
        <p:nvSpPr>
          <p:cNvPr id="31" name="risk-icon"/>
          <p:cNvSpPr/>
          <p:nvPr>
            <p:extLst>
              <p:ext uri="{F5677B7D-0D2A-4D9B-9A5C-6D8D7D0E5A5D}">
                <pptd:icon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eyJpY29uTmFtZSI6ImZhczp0cmlhbmdsZS1leGNsYW1hdGlvbiJ9</pptd:icon>
              </p:ext>
            </p:extLst>
          </p:nvPr>
        </p:nvSpPr>
        <p:spPr>
          <a:xfrm>
            <a:off x="622300" y="59055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512" h="512">
                <a:moveTo>
                  <a:pt x="256" y="0"/>
                </a:moveTo>
                <a:cubicBezTo>
                  <a:pt x="271" y="0"/>
                  <a:pt x="284" y="8"/>
                  <a:pt x="291" y="21"/>
                </a:cubicBezTo>
                <a:lnTo>
                  <a:pt x="507" y="421"/>
                </a:lnTo>
                <a:cubicBezTo>
                  <a:pt x="514" y="433"/>
                  <a:pt x="514" y="448"/>
                  <a:pt x="506" y="461"/>
                </a:cubicBezTo>
                <a:cubicBezTo>
                  <a:pt x="499" y="473"/>
                  <a:pt x="486" y="480"/>
                  <a:pt x="472" y="480"/>
                </a:cubicBezTo>
                <a:lnTo>
                  <a:pt x="40" y="480"/>
                </a:lnTo>
                <a:cubicBezTo>
                  <a:pt x="26" y="480"/>
                  <a:pt x="13" y="473"/>
                  <a:pt x="6" y="461"/>
                </a:cubicBezTo>
                <a:cubicBezTo>
                  <a:pt x="-2" y="448"/>
                  <a:pt x="-2" y="433"/>
                  <a:pt x="5" y="421"/>
                </a:cubicBezTo>
                <a:lnTo>
                  <a:pt x="221" y="21"/>
                </a:lnTo>
                <a:cubicBezTo>
                  <a:pt x="228" y="8"/>
                  <a:pt x="241" y="0"/>
                  <a:pt x="256" y="0"/>
                </a:cubicBezTo>
                <a:close/>
                <a:moveTo>
                  <a:pt x="256" y="352"/>
                </a:moveTo>
                <a:cubicBezTo>
                  <a:pt x="238" y="352"/>
                  <a:pt x="224" y="366"/>
                  <a:pt x="224" y="384"/>
                </a:cubicBezTo>
                <a:cubicBezTo>
                  <a:pt x="224" y="402"/>
                  <a:pt x="238" y="416"/>
                  <a:pt x="256" y="416"/>
                </a:cubicBezTo>
                <a:cubicBezTo>
                  <a:pt x="274" y="416"/>
                  <a:pt x="288" y="402"/>
                  <a:pt x="288" y="384"/>
                </a:cubicBezTo>
                <a:cubicBezTo>
                  <a:pt x="288" y="366"/>
                  <a:pt x="274" y="352"/>
                  <a:pt x="256" y="352"/>
                </a:cubicBezTo>
                <a:close/>
                <a:moveTo>
                  <a:pt x="256" y="160"/>
                </a:moveTo>
                <a:cubicBezTo>
                  <a:pt x="238" y="160"/>
                  <a:pt x="223" y="176"/>
                  <a:pt x="225" y="194"/>
                </a:cubicBezTo>
                <a:lnTo>
                  <a:pt x="232" y="298"/>
                </a:lnTo>
                <a:cubicBezTo>
                  <a:pt x="233" y="310"/>
                  <a:pt x="243" y="320"/>
                  <a:pt x="256" y="320"/>
                </a:cubicBezTo>
                <a:cubicBezTo>
                  <a:pt x="269" y="320"/>
                  <a:pt x="279" y="310"/>
                  <a:pt x="280" y="298"/>
                </a:cubicBezTo>
                <a:lnTo>
                  <a:pt x="287" y="194"/>
                </a:lnTo>
                <a:cubicBezTo>
                  <a:pt x="289" y="176"/>
                  <a:pt x="274" y="160"/>
                  <a:pt x="256" y="160"/>
                </a:cubicBezTo>
                <a:close/>
              </a:path>
            </a:pathLst>
          </a:custGeom>
          <a:solidFill>
            <a:srgbClr val="C2623E"/>
          </a:solidFill>
          <a:ln>
            <a:noFill/>
          </a:ln>
        </p:spPr>
      </p:sp>
      <p:sp>
        <p:nvSpPr>
          <p:cNvPr id="32" name="risk"/>
          <p:cNvSpPr txBox="1"/>
          <p:nvPr/>
        </p:nvSpPr>
        <p:spPr>
          <a:xfrm>
            <a:off x="1003300" y="5854700"/>
            <a:ext cx="10414000" cy="482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000" noProof="1">
                <a:solidFill>
                  <a:srgbClr val="68746F"/>
                </a:solidFill>
                <a:latin typeface="Manrope"/>
                <a:ea typeface="Manrope"/>
              </a:rPr>
              <a:t>Срок увеличивается при редком конденсате, задержке закупки или доработке механики. При дефектности 0,1% только накопление 1 000 дефектных примеров требует около 42 смен.</a:t>
            </a:r>
            <a:endParaRPr lang="en-US" sz="1000" noProof="1"/>
          </a:p>
        </p:txBody>
      </p:sp>
      <p:sp>
        <p:nvSpPr>
          <p:cNvPr id="33" name="footer"/>
          <p:cNvSpPr txBox="1"/>
          <p:nvPr/>
        </p:nvSpPr>
        <p:spPr>
          <a:xfrm>
            <a:off x="609600" y="6527800"/>
            <a:ext cx="9271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800" noProof="1">
                <a:solidFill>
                  <a:srgbClr val="68746F"/>
                </a:solidFill>
                <a:latin typeface="Manrope"/>
                <a:ea typeface="Manrope"/>
              </a:rPr>
              <a:t>Источник: README, раздел 7. Срок 16–20 недель возможен только при оборудовании в наличии и простой интеграции.</a:t>
            </a:r>
            <a:endParaRPr lang="en-US" sz="800" noProof="1"/>
          </a:p>
        </p:txBody>
      </p:sp>
      <p:sp>
        <p:nvSpPr>
          <p:cNvPr id="34" name="page"/>
          <p:cNvSpPr txBox="1"/>
          <p:nvPr/>
        </p:nvSpPr>
        <p:spPr>
          <a:xfrm>
            <a:off x="11112500" y="6477000"/>
            <a:ext cx="355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900" noProof="1">
                <a:solidFill>
                  <a:srgbClr val="68746F"/>
                </a:solidFill>
                <a:latin typeface="Manrope"/>
                <a:ea typeface="Manrope"/>
              </a:rPr>
              <a:t>10</a:t>
            </a:r>
            <a:endParaRPr lang="en-US" sz="9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09600" y="3175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130" noProof="1">
                <a:solidFill>
                  <a:srgbClr val="315B50"/>
                </a:solidFill>
                <a:latin typeface="Manrope"/>
                <a:ea typeface="Manrope"/>
              </a:rPr>
              <a:t>04 · ПРИ КАКИХ УСЛОВИЯХ МАСШТАБИРУЕМ</a:t>
            </a:r>
            <a:endParaRPr lang="en-US" sz="900" noProof="1"/>
          </a:p>
        </p:txBody>
      </p:sp>
      <p:sp>
        <p:nvSpPr>
          <p:cNvPr id="3" name="title"/>
          <p:cNvSpPr txBox="1"/>
          <p:nvPr/>
        </p:nvSpPr>
        <p:spPr>
          <a:xfrm>
            <a:off x="609600" y="673100"/>
            <a:ext cx="10795000" cy="863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8000"/>
              </a:lnSpc>
            </a:pPr>
            <a:r>
              <a:rPr lang="en-US" sz="2900" b="1" noProof="1">
                <a:solidFill>
                  <a:srgbClr val="172520"/>
                </a:solidFill>
                <a:latin typeface="PT Serif"/>
                <a:ea typeface="PT Serif"/>
              </a:rPr>
              <a:t>Масштабирование начинается после шести условий готовности</a:t>
            </a:r>
            <a:endParaRPr lang="en-US" sz="2900" noProof="1"/>
          </a:p>
        </p:txBody>
      </p:sp>
      <p:sp>
        <p:nvSpPr>
          <p:cNvPr id="4" name="title-rule"/>
          <p:cNvSpPr/>
          <p:nvPr/>
        </p:nvSpPr>
        <p:spPr>
          <a:xfrm>
            <a:off x="609600" y="1676400"/>
            <a:ext cx="584200" cy="38100"/>
          </a:xfrm>
          <a:prstGeom prst="rect">
            <a:avLst/>
          </a:prstGeom>
          <a:solidFill>
            <a:srgbClr val="C2623E"/>
          </a:solidFill>
          <a:ln>
            <a:noFill/>
          </a:ln>
        </p:spPr>
      </p:sp>
      <p:sp>
        <p:nvSpPr>
          <p:cNvPr id="5" name="g1n"/>
          <p:cNvSpPr txBox="1"/>
          <p:nvPr/>
        </p:nvSpPr>
        <p:spPr>
          <a:xfrm>
            <a:off x="609600" y="1993900"/>
            <a:ext cx="4572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C2623E"/>
                </a:solidFill>
                <a:latin typeface="Manrope"/>
                <a:ea typeface="Manrope"/>
              </a:rPr>
              <a:t>01</a:t>
            </a:r>
            <a:endParaRPr lang="en-US" sz="1600" noProof="1"/>
          </a:p>
        </p:txBody>
      </p:sp>
      <p:sp>
        <p:nvSpPr>
          <p:cNvPr id="6" name="g1"/>
          <p:cNvSpPr txBox="1"/>
          <p:nvPr/>
        </p:nvSpPr>
        <p:spPr>
          <a:xfrm>
            <a:off x="1206500" y="1955800"/>
            <a:ext cx="609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0"/>
                </a:solidFill>
                <a:latin typeface="Manrope"/>
                <a:ea typeface="Manrope"/>
              </a:rPr>
              <a:t>Все семь критериев приёмки выполнены на необходимом объёме данных</a:t>
            </a:r>
            <a:endParaRPr lang="en-US" sz="1400" noProof="1"/>
          </a:p>
        </p:txBody>
      </p:sp>
      <p:sp>
        <p:nvSpPr>
          <p:cNvPr id="7" name="l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eyJ2aWV3Qm94IjpbNTI1LDFdLCJwb2ludHMiOiIwLDAgNTI1LDAifQ</pptd:line>
              </p:ext>
            </p:extLst>
          </p:nvPr>
        </p:nvSpPr>
        <p:spPr>
          <a:xfrm>
            <a:off x="609600" y="2603500"/>
            <a:ext cx="6667500" cy="12700"/>
          </a:xfrm>
          <a:custGeom>
            <a:avLst/>
            <a:gdLst/>
            <a:ahLst/>
            <a:cxnLst/>
            <a:rect l="l" t="t" r="r" b="b"/>
            <a:pathLst>
              <a:path w="525" h="1">
                <a:moveTo>
                  <a:pt x="0" y="0"/>
                </a:moveTo>
                <a:lnTo>
                  <a:pt x="525" y="0"/>
                </a:lnTo>
              </a:path>
            </a:pathLst>
          </a:custGeom>
          <a:noFill/>
          <a:ln w="10160" cap="rnd">
            <a:solidFill>
              <a:srgbClr val="C9CEC5"/>
            </a:solidFill>
            <a:round/>
          </a:ln>
        </p:spPr>
      </p:sp>
      <p:sp>
        <p:nvSpPr>
          <p:cNvPr id="8" name="g2n"/>
          <p:cNvSpPr txBox="1"/>
          <p:nvPr/>
        </p:nvSpPr>
        <p:spPr>
          <a:xfrm>
            <a:off x="609600" y="2768600"/>
            <a:ext cx="4572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C2623E"/>
                </a:solidFill>
                <a:latin typeface="Manrope"/>
                <a:ea typeface="Manrope"/>
              </a:rPr>
              <a:t>02</a:t>
            </a:r>
            <a:endParaRPr lang="en-US" sz="1600" noProof="1"/>
          </a:p>
        </p:txBody>
      </p:sp>
      <p:sp>
        <p:nvSpPr>
          <p:cNvPr id="9" name="g2"/>
          <p:cNvSpPr txBox="1"/>
          <p:nvPr/>
        </p:nvSpPr>
        <p:spPr>
          <a:xfrm>
            <a:off x="1206500" y="2730500"/>
            <a:ext cx="609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0"/>
                </a:solidFill>
                <a:latin typeface="Manrope"/>
                <a:ea typeface="Manrope"/>
              </a:rPr>
              <a:t>Толкатель срабатывает стабильно, линия не останавливается по команде модели</a:t>
            </a:r>
            <a:endParaRPr lang="en-US" sz="1400" noProof="1"/>
          </a:p>
        </p:txBody>
      </p:sp>
      <p:sp>
        <p:nvSpPr>
          <p:cNvPr id="10" name="l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eyJ2aWV3Qm94IjpbNTI1LDFdLCJwb2ludHMiOiIwLDAgNTI1LDAifQ</pptd:line>
              </p:ext>
            </p:extLst>
          </p:nvPr>
        </p:nvSpPr>
        <p:spPr>
          <a:xfrm>
            <a:off x="609600" y="3378200"/>
            <a:ext cx="6667500" cy="12700"/>
          </a:xfrm>
          <a:custGeom>
            <a:avLst/>
            <a:gdLst/>
            <a:ahLst/>
            <a:cxnLst/>
            <a:rect l="l" t="t" r="r" b="b"/>
            <a:pathLst>
              <a:path w="525" h="1">
                <a:moveTo>
                  <a:pt x="0" y="0"/>
                </a:moveTo>
                <a:lnTo>
                  <a:pt x="525" y="0"/>
                </a:lnTo>
              </a:path>
            </a:pathLst>
          </a:custGeom>
          <a:noFill/>
          <a:ln w="10160" cap="rnd">
            <a:solidFill>
              <a:srgbClr val="C9CEC5"/>
            </a:solidFill>
            <a:round/>
          </a:ln>
        </p:spPr>
      </p:sp>
      <p:sp>
        <p:nvSpPr>
          <p:cNvPr id="11" name="g3n"/>
          <p:cNvSpPr txBox="1"/>
          <p:nvPr/>
        </p:nvSpPr>
        <p:spPr>
          <a:xfrm>
            <a:off x="609600" y="3543300"/>
            <a:ext cx="4572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C2623E"/>
                </a:solidFill>
                <a:latin typeface="Manrope"/>
                <a:ea typeface="Manrope"/>
              </a:rPr>
              <a:t>03</a:t>
            </a:r>
            <a:endParaRPr lang="en-US" sz="1600" noProof="1"/>
          </a:p>
        </p:txBody>
      </p:sp>
      <p:sp>
        <p:nvSpPr>
          <p:cNvPr id="12" name="g3"/>
          <p:cNvSpPr txBox="1"/>
          <p:nvPr/>
        </p:nvSpPr>
        <p:spPr>
          <a:xfrm>
            <a:off x="1206500" y="3505200"/>
            <a:ext cx="609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0"/>
                </a:solidFill>
                <a:latin typeface="Manrope"/>
                <a:ea typeface="Manrope"/>
              </a:rPr>
              <a:t>Экономический эффект подтверждён относительно утверждённой точки А</a:t>
            </a:r>
            <a:endParaRPr lang="en-US" sz="1400" noProof="1"/>
          </a:p>
        </p:txBody>
      </p:sp>
      <p:sp>
        <p:nvSpPr>
          <p:cNvPr id="13" name="l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eyJ2aWV3Qm94IjpbNTI1LDFdLCJwb2ludHMiOiIwLDAgNTI1LDAifQ</pptd:line>
              </p:ext>
            </p:extLst>
          </p:nvPr>
        </p:nvSpPr>
        <p:spPr>
          <a:xfrm>
            <a:off x="609600" y="4152900"/>
            <a:ext cx="6667500" cy="12700"/>
          </a:xfrm>
          <a:custGeom>
            <a:avLst/>
            <a:gdLst/>
            <a:ahLst/>
            <a:cxnLst/>
            <a:rect l="l" t="t" r="r" b="b"/>
            <a:pathLst>
              <a:path w="525" h="1">
                <a:moveTo>
                  <a:pt x="0" y="0"/>
                </a:moveTo>
                <a:lnTo>
                  <a:pt x="525" y="0"/>
                </a:lnTo>
              </a:path>
            </a:pathLst>
          </a:custGeom>
          <a:noFill/>
          <a:ln w="10160" cap="rnd">
            <a:solidFill>
              <a:srgbClr val="C9CEC5"/>
            </a:solidFill>
            <a:round/>
          </a:ln>
        </p:spPr>
      </p:sp>
      <p:sp>
        <p:nvSpPr>
          <p:cNvPr id="14" name="g4n"/>
          <p:cNvSpPr txBox="1"/>
          <p:nvPr/>
        </p:nvSpPr>
        <p:spPr>
          <a:xfrm>
            <a:off x="609600" y="4318000"/>
            <a:ext cx="4572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C2623E"/>
                </a:solidFill>
                <a:latin typeface="Manrope"/>
                <a:ea typeface="Manrope"/>
              </a:rPr>
              <a:t>04</a:t>
            </a:r>
            <a:endParaRPr lang="en-US" sz="1600" noProof="1"/>
          </a:p>
        </p:txBody>
      </p:sp>
      <p:sp>
        <p:nvSpPr>
          <p:cNvPr id="15" name="g4"/>
          <p:cNvSpPr txBox="1"/>
          <p:nvPr/>
        </p:nvSpPr>
        <p:spPr>
          <a:xfrm>
            <a:off x="1206500" y="4279900"/>
            <a:ext cx="609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0"/>
                </a:solidFill>
                <a:latin typeface="Manrope"/>
                <a:ea typeface="Manrope"/>
              </a:rPr>
              <a:t>Операторы обучены, амбассадор назначен, резервный ручной контроль проверен</a:t>
            </a:r>
            <a:endParaRPr lang="en-US" sz="1400" noProof="1"/>
          </a:p>
        </p:txBody>
      </p:sp>
      <p:sp>
        <p:nvSpPr>
          <p:cNvPr id="16" name="l4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eyJ2aWV3Qm94IjpbNTI1LDFdLCJwb2ludHMiOiIwLDAgNTI1LDAifQ</pptd:line>
              </p:ext>
            </p:extLst>
          </p:nvPr>
        </p:nvSpPr>
        <p:spPr>
          <a:xfrm>
            <a:off x="609600" y="4927600"/>
            <a:ext cx="6667500" cy="12700"/>
          </a:xfrm>
          <a:custGeom>
            <a:avLst/>
            <a:gdLst/>
            <a:ahLst/>
            <a:cxnLst/>
            <a:rect l="l" t="t" r="r" b="b"/>
            <a:pathLst>
              <a:path w="525" h="1">
                <a:moveTo>
                  <a:pt x="0" y="0"/>
                </a:moveTo>
                <a:lnTo>
                  <a:pt x="525" y="0"/>
                </a:lnTo>
              </a:path>
            </a:pathLst>
          </a:custGeom>
          <a:noFill/>
          <a:ln w="10160" cap="rnd">
            <a:solidFill>
              <a:srgbClr val="C9CEC5"/>
            </a:solidFill>
            <a:round/>
          </a:ln>
        </p:spPr>
      </p:sp>
      <p:sp>
        <p:nvSpPr>
          <p:cNvPr id="17" name="g5n"/>
          <p:cNvSpPr txBox="1"/>
          <p:nvPr/>
        </p:nvSpPr>
        <p:spPr>
          <a:xfrm>
            <a:off x="609600" y="5092700"/>
            <a:ext cx="4572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C2623E"/>
                </a:solidFill>
                <a:latin typeface="Manrope"/>
                <a:ea typeface="Manrope"/>
              </a:rPr>
              <a:t>05</a:t>
            </a:r>
            <a:endParaRPr lang="en-US" sz="1600" noProof="1"/>
          </a:p>
        </p:txBody>
      </p:sp>
      <p:sp>
        <p:nvSpPr>
          <p:cNvPr id="18" name="g5"/>
          <p:cNvSpPr txBox="1"/>
          <p:nvPr/>
        </p:nvSpPr>
        <p:spPr>
          <a:xfrm>
            <a:off x="1206500" y="5054600"/>
            <a:ext cx="6096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0"/>
                </a:solidFill>
                <a:latin typeface="Manrope"/>
                <a:ea typeface="Manrope"/>
              </a:rPr>
              <a:t>Регламенты поддержки, доступа, версий модели и реакции на отказ оформлены</a:t>
            </a:r>
            <a:endParaRPr lang="en-US" sz="1400" noProof="1"/>
          </a:p>
        </p:txBody>
      </p:sp>
      <p:sp>
        <p:nvSpPr>
          <p:cNvPr id="19" name="l5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eyJ2aWV3Qm94IjpbNTI1LDFdLCJwb2ludHMiOiIwLDAgNTI1LDAifQ</pptd:line>
              </p:ext>
            </p:extLst>
          </p:nvPr>
        </p:nvSpPr>
        <p:spPr>
          <a:xfrm>
            <a:off x="609600" y="5702300"/>
            <a:ext cx="6667500" cy="12700"/>
          </a:xfrm>
          <a:custGeom>
            <a:avLst/>
            <a:gdLst/>
            <a:ahLst/>
            <a:cxnLst/>
            <a:rect l="l" t="t" r="r" b="b"/>
            <a:pathLst>
              <a:path w="525" h="1">
                <a:moveTo>
                  <a:pt x="0" y="0"/>
                </a:moveTo>
                <a:lnTo>
                  <a:pt x="525" y="0"/>
                </a:lnTo>
              </a:path>
            </a:pathLst>
          </a:custGeom>
          <a:noFill/>
          <a:ln w="10160" cap="rnd">
            <a:solidFill>
              <a:srgbClr val="C9CEC5"/>
            </a:solidFill>
            <a:round/>
          </a:ln>
        </p:spPr>
      </p:sp>
      <p:sp>
        <p:nvSpPr>
          <p:cNvPr id="20" name="g6n"/>
          <p:cNvSpPr txBox="1"/>
          <p:nvPr/>
        </p:nvSpPr>
        <p:spPr>
          <a:xfrm>
            <a:off x="609600" y="5867400"/>
            <a:ext cx="4572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C2623E"/>
                </a:solidFill>
                <a:latin typeface="Manrope"/>
                <a:ea typeface="Manrope"/>
              </a:rPr>
              <a:t>06</a:t>
            </a:r>
            <a:endParaRPr lang="en-US" sz="1600" noProof="1"/>
          </a:p>
        </p:txBody>
      </p:sp>
      <p:sp>
        <p:nvSpPr>
          <p:cNvPr id="21" name="g6"/>
          <p:cNvSpPr txBox="1"/>
          <p:nvPr/>
        </p:nvSpPr>
        <p:spPr>
          <a:xfrm>
            <a:off x="1183442" y="5885863"/>
            <a:ext cx="60960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2520"/>
                </a:solidFill>
                <a:latin typeface="Manrope"/>
                <a:ea typeface="Manrope"/>
              </a:rPr>
              <a:t>Локальный контур и права доступа приняты производством и ИБ</a:t>
            </a:r>
            <a:endParaRPr lang="en-US" sz="1400" noProof="1"/>
          </a:p>
        </p:txBody>
      </p:sp>
      <p:sp>
        <p:nvSpPr>
          <p:cNvPr id="22" name="side-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eyJ2aWV3Qm94IjpbMSwzMzRdLCJwb2ludHMiOiIwLDAgMCwzMzQifQ</pptd:line>
              </p:ext>
            </p:extLst>
          </p:nvPr>
        </p:nvSpPr>
        <p:spPr>
          <a:xfrm>
            <a:off x="7835900" y="1993900"/>
            <a:ext cx="12700" cy="4241800"/>
          </a:xfrm>
          <a:custGeom>
            <a:avLst/>
            <a:gdLst/>
            <a:ahLst/>
            <a:cxnLst/>
            <a:rect l="l" t="t" r="r" b="b"/>
            <a:pathLst>
              <a:path w="1" h="334">
                <a:moveTo>
                  <a:pt x="0" y="0"/>
                </a:moveTo>
                <a:lnTo>
                  <a:pt x="0" y="334"/>
                </a:lnTo>
              </a:path>
            </a:pathLst>
          </a:custGeom>
          <a:noFill/>
          <a:ln w="12700" cap="rnd">
            <a:solidFill>
              <a:srgbClr val="173C34"/>
            </a:solidFill>
            <a:round/>
          </a:ln>
        </p:spPr>
      </p:sp>
      <p:sp>
        <p:nvSpPr>
          <p:cNvPr id="23" name="scale-label"/>
          <p:cNvSpPr txBox="1"/>
          <p:nvPr/>
        </p:nvSpPr>
        <p:spPr>
          <a:xfrm>
            <a:off x="8305800" y="1993900"/>
            <a:ext cx="3111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b="1" kern="0" spc="80" noProof="1">
                <a:solidFill>
                  <a:srgbClr val="315B50"/>
                </a:solidFill>
                <a:latin typeface="Manrope"/>
                <a:ea typeface="Manrope"/>
              </a:rPr>
              <a:t>МОДЕЛЬ ТИРАЖИРОВАНИЯ</a:t>
            </a:r>
            <a:endParaRPr lang="en-US" sz="1000" noProof="1"/>
          </a:p>
        </p:txBody>
      </p:sp>
      <p:sp>
        <p:nvSpPr>
          <p:cNvPr id="24" name="scale-big"/>
          <p:cNvSpPr txBox="1"/>
          <p:nvPr/>
        </p:nvSpPr>
        <p:spPr>
          <a:xfrm>
            <a:off x="8293100" y="2165643"/>
            <a:ext cx="31115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r>
              <a:rPr lang="en-US" sz="3600" b="1" noProof="1">
                <a:solidFill>
                  <a:srgbClr val="173C34"/>
                </a:solidFill>
                <a:latin typeface="Manrope"/>
                <a:ea typeface="Manrope"/>
              </a:rPr>
              <a:t>1 пост → N линий</a:t>
            </a:r>
            <a:endParaRPr lang="en-US" sz="3600" noProof="1"/>
          </a:p>
        </p:txBody>
      </p:sp>
      <p:sp>
        <p:nvSpPr>
          <p:cNvPr id="25" name="scale-note"/>
          <p:cNvSpPr txBox="1"/>
          <p:nvPr/>
        </p:nvSpPr>
        <p:spPr>
          <a:xfrm>
            <a:off x="8305800" y="3276600"/>
            <a:ext cx="3111500" cy="609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1100" noProof="1">
                <a:solidFill>
                  <a:srgbClr val="68746F"/>
                </a:solidFill>
                <a:latin typeface="Manrope"/>
                <a:ea typeface="Manrope"/>
              </a:rPr>
              <a:t>Один пост обрабатывает до 24 000 лотков за 8-часовую смену без увеличения числа проверяющих.</a:t>
            </a:r>
            <a:endParaRPr lang="en-US" sz="1100" noProof="1"/>
          </a:p>
        </p:txBody>
      </p:sp>
      <p:sp>
        <p:nvSpPr>
          <p:cNvPr id="26" name="repeat-label"/>
          <p:cNvSpPr txBox="1"/>
          <p:nvPr/>
        </p:nvSpPr>
        <p:spPr>
          <a:xfrm>
            <a:off x="8305800" y="4229100"/>
            <a:ext cx="3111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80" noProof="1">
                <a:solidFill>
                  <a:srgbClr val="315B50"/>
                </a:solidFill>
                <a:latin typeface="Manrope"/>
                <a:ea typeface="Manrope"/>
              </a:rPr>
              <a:t>НА КАЖДОЙ НОВОЙ ЛИНИИ</a:t>
            </a:r>
            <a:endParaRPr lang="en-US" sz="900" noProof="1"/>
          </a:p>
        </p:txBody>
      </p:sp>
      <p:sp>
        <p:nvSpPr>
          <p:cNvPr id="27" name="repeat"/>
          <p:cNvSpPr txBox="1"/>
          <p:nvPr/>
        </p:nvSpPr>
        <p:spPr>
          <a:xfrm>
            <a:off x="8305800" y="4584700"/>
            <a:ext cx="31115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8746F"/>
                </a:solidFill>
                <a:latin typeface="Manrope"/>
                <a:ea typeface="Manrope"/>
              </a:rPr>
              <a:t>• проверить оптику и механику;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8746F"/>
                </a:solidFill>
                <a:latin typeface="Manrope"/>
                <a:ea typeface="Manrope"/>
              </a:rPr>
              <a:t>• повторить испытание на новых крышках и продукции;</a:t>
            </a:r>
            <a:endParaRPr lang="en-US" sz="1200" noProof="1"/>
          </a:p>
          <a:p>
            <a:pPr>
              <a:lnSpc>
                <a:spcPct val="140000"/>
              </a:lnSpc>
            </a:pPr>
            <a:r>
              <a:rPr lang="en-US" sz="1200" noProof="1">
                <a:solidFill>
                  <a:srgbClr val="68746F"/>
                </a:solidFill>
                <a:latin typeface="Manrope"/>
                <a:ea typeface="Manrope"/>
              </a:rPr>
              <a:t>• подтвердить скорость, доступность и резервный сценарий.</a:t>
            </a:r>
            <a:endParaRPr lang="en-US" sz="1200" noProof="1"/>
          </a:p>
        </p:txBody>
      </p:sp>
      <p:sp>
        <p:nvSpPr>
          <p:cNvPr id="28" name="footer"/>
          <p:cNvSpPr txBox="1"/>
          <p:nvPr/>
        </p:nvSpPr>
        <p:spPr>
          <a:xfrm>
            <a:off x="609600" y="6527800"/>
            <a:ext cx="9652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800" noProof="1">
                <a:solidFill>
                  <a:srgbClr val="68746F"/>
                </a:solidFill>
                <a:latin typeface="Manrope"/>
                <a:ea typeface="Manrope"/>
              </a:rPr>
              <a:t>Источник: README, разделы 3.10, 5, 7. Масштабирование - управленческое решение после приёмки, не автоматическое продолжение пилота.</a:t>
            </a:r>
            <a:endParaRPr lang="en-US" sz="800" noProof="1"/>
          </a:p>
        </p:txBody>
      </p:sp>
      <p:sp>
        <p:nvSpPr>
          <p:cNvPr id="29" name="page"/>
          <p:cNvSpPr txBox="1"/>
          <p:nvPr/>
        </p:nvSpPr>
        <p:spPr>
          <a:xfrm>
            <a:off x="11112500" y="6477000"/>
            <a:ext cx="3556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30000"/>
              </a:lnSpc>
            </a:pPr>
            <a:r>
              <a:rPr lang="en-US" sz="900" noProof="1">
                <a:solidFill>
                  <a:srgbClr val="68746F"/>
                </a:solidFill>
                <a:latin typeface="Manrope"/>
                <a:ea typeface="Manrope"/>
              </a:rPr>
              <a:t>11</a:t>
            </a:r>
            <a:endParaRPr lang="en-US" sz="9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ight-panel"/>
          <p:cNvSpPr/>
          <p:nvPr/>
        </p:nvSpPr>
        <p:spPr>
          <a:xfrm>
            <a:off x="8255000" y="0"/>
            <a:ext cx="3937000" cy="6858000"/>
          </a:xfrm>
          <a:prstGeom prst="rect">
            <a:avLst/>
          </a:prstGeom>
          <a:solidFill>
            <a:srgbClr val="173C34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609600" y="381000"/>
            <a:ext cx="68580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130" noProof="1">
                <a:solidFill>
                  <a:srgbClr val="315B50"/>
                </a:solidFill>
                <a:latin typeface="Manrope"/>
                <a:ea typeface="Manrope"/>
              </a:rPr>
              <a:t>ИТОГ · РЕШЕНИЕ ПО ПЕРВОЙ ЛИНИИ</a:t>
            </a:r>
            <a:endParaRPr lang="en-US" sz="900" noProof="1"/>
          </a:p>
        </p:txBody>
      </p:sp>
      <p:sp>
        <p:nvSpPr>
          <p:cNvPr id="4" name="title"/>
          <p:cNvSpPr txBox="1"/>
          <p:nvPr/>
        </p:nvSpPr>
        <p:spPr>
          <a:xfrm>
            <a:off x="609600" y="825500"/>
            <a:ext cx="698500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08000"/>
              </a:lnSpc>
            </a:pPr>
            <a:r>
              <a:rPr lang="en-US" sz="3200" b="1" noProof="1">
                <a:solidFill>
                  <a:srgbClr val="172520"/>
                </a:solidFill>
                <a:latin typeface="PT Serif"/>
                <a:ea typeface="PT Serif"/>
              </a:rPr>
              <a:t>Запустить пилот - и принять решение о масштабировании по доказанным результатам</a:t>
            </a:r>
            <a:endParaRPr lang="en-US" sz="3200" noProof="1"/>
          </a:p>
        </p:txBody>
      </p:sp>
      <p:sp>
        <p:nvSpPr>
          <p:cNvPr id="5" name="title-rule"/>
          <p:cNvSpPr/>
          <p:nvPr/>
        </p:nvSpPr>
        <p:spPr>
          <a:xfrm>
            <a:off x="609600" y="2336800"/>
            <a:ext cx="584200" cy="38100"/>
          </a:xfrm>
          <a:prstGeom prst="rect">
            <a:avLst/>
          </a:prstGeom>
          <a:solidFill>
            <a:srgbClr val="C2623E"/>
          </a:solidFill>
          <a:ln>
            <a:noFill/>
          </a:ln>
        </p:spPr>
      </p:sp>
      <p:sp>
        <p:nvSpPr>
          <p:cNvPr id="6" name="row1n"/>
          <p:cNvSpPr txBox="1"/>
          <p:nvPr/>
        </p:nvSpPr>
        <p:spPr>
          <a:xfrm>
            <a:off x="609600" y="2730500"/>
            <a:ext cx="4826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C2623E"/>
                </a:solidFill>
                <a:latin typeface="Manrope"/>
                <a:ea typeface="Manrope"/>
              </a:rPr>
              <a:t>01</a:t>
            </a:r>
            <a:endParaRPr lang="en-US" sz="1600" noProof="1"/>
          </a:p>
        </p:txBody>
      </p:sp>
      <p:sp>
        <p:nvSpPr>
          <p:cNvPr id="7" name="row1"/>
          <p:cNvSpPr txBox="1"/>
          <p:nvPr/>
        </p:nvSpPr>
        <p:spPr>
          <a:xfrm>
            <a:off x="1219200" y="2679700"/>
            <a:ext cx="6350000" cy="59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b="1" noProof="1">
                <a:solidFill>
                  <a:srgbClr val="172520"/>
                </a:solidFill>
                <a:latin typeface="Manrope"/>
                <a:ea typeface="Manrope"/>
              </a:rPr>
              <a:t>Потери:</a:t>
            </a:r>
            <a:r>
              <a:rPr lang="en-US" sz="1300" noProof="1">
                <a:solidFill>
                  <a:srgbClr val="172520"/>
                </a:solidFill>
                <a:latin typeface="Manrope"/>
                <a:ea typeface="Manrope"/>
              </a:rPr>
              <a:t> сокращаем пропуски, возвраты, списания, остановки и ручные трудозатраты.</a:t>
            </a:r>
            <a:endParaRPr lang="en-US" sz="1300" noProof="1"/>
          </a:p>
        </p:txBody>
      </p:sp>
      <p:sp>
        <p:nvSpPr>
          <p:cNvPr id="8" name="r1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eyJ2aWV3Qm94IjpbNTQ4LDFdLCJwb2ludHMiOiIwLDAgNTQ4LDAifQ</pptd:line>
              </p:ext>
            </p:extLst>
          </p:nvPr>
        </p:nvSpPr>
        <p:spPr>
          <a:xfrm>
            <a:off x="609600" y="3403600"/>
            <a:ext cx="6959600" cy="12700"/>
          </a:xfrm>
          <a:custGeom>
            <a:avLst/>
            <a:gdLst/>
            <a:ahLst/>
            <a:cxnLst/>
            <a:rect l="l" t="t" r="r" b="b"/>
            <a:pathLst>
              <a:path w="548" h="1">
                <a:moveTo>
                  <a:pt x="0" y="0"/>
                </a:moveTo>
                <a:lnTo>
                  <a:pt x="548" y="0"/>
                </a:lnTo>
              </a:path>
            </a:pathLst>
          </a:custGeom>
          <a:noFill/>
          <a:ln w="10160" cap="rnd">
            <a:solidFill>
              <a:srgbClr val="C9CEC5"/>
            </a:solidFill>
            <a:round/>
          </a:ln>
        </p:spPr>
      </p:sp>
      <p:sp>
        <p:nvSpPr>
          <p:cNvPr id="9" name="row2n"/>
          <p:cNvSpPr txBox="1"/>
          <p:nvPr/>
        </p:nvSpPr>
        <p:spPr>
          <a:xfrm>
            <a:off x="609600" y="3606800"/>
            <a:ext cx="4826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C2623E"/>
                </a:solidFill>
                <a:latin typeface="Manrope"/>
                <a:ea typeface="Manrope"/>
              </a:rPr>
              <a:t>02</a:t>
            </a:r>
            <a:endParaRPr lang="en-US" sz="1600" noProof="1"/>
          </a:p>
        </p:txBody>
      </p:sp>
      <p:sp>
        <p:nvSpPr>
          <p:cNvPr id="10" name="row2"/>
          <p:cNvSpPr txBox="1"/>
          <p:nvPr/>
        </p:nvSpPr>
        <p:spPr>
          <a:xfrm>
            <a:off x="1219200" y="3556000"/>
            <a:ext cx="6350000" cy="59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b="1" noProof="1">
                <a:solidFill>
                  <a:srgbClr val="172520"/>
                </a:solidFill>
                <a:latin typeface="Manrope"/>
                <a:ea typeface="Manrope"/>
              </a:rPr>
              <a:t>Результат:</a:t>
            </a:r>
            <a:r>
              <a:rPr lang="en-US" sz="1300" noProof="1">
                <a:solidFill>
                  <a:srgbClr val="172520"/>
                </a:solidFill>
                <a:latin typeface="Manrope"/>
                <a:ea typeface="Manrope"/>
              </a:rPr>
              <a:t> доказываем сравнением режимов и выполнением всех критериев приёмки.</a:t>
            </a:r>
            <a:endParaRPr lang="en-US" sz="1300" noProof="1"/>
          </a:p>
        </p:txBody>
      </p:sp>
      <p:sp>
        <p:nvSpPr>
          <p:cNvPr id="11" name="r2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eyJ2aWV3Qm94IjpbNTQ4LDFdLCJwb2ludHMiOiIwLDAgNTQ4LDAifQ</pptd:line>
              </p:ext>
            </p:extLst>
          </p:nvPr>
        </p:nvSpPr>
        <p:spPr>
          <a:xfrm>
            <a:off x="609600" y="4279900"/>
            <a:ext cx="6959600" cy="12700"/>
          </a:xfrm>
          <a:custGeom>
            <a:avLst/>
            <a:gdLst/>
            <a:ahLst/>
            <a:cxnLst/>
            <a:rect l="l" t="t" r="r" b="b"/>
            <a:pathLst>
              <a:path w="548" h="1">
                <a:moveTo>
                  <a:pt x="0" y="0"/>
                </a:moveTo>
                <a:lnTo>
                  <a:pt x="548" y="0"/>
                </a:lnTo>
              </a:path>
            </a:pathLst>
          </a:custGeom>
          <a:noFill/>
          <a:ln w="10160" cap="rnd">
            <a:solidFill>
              <a:srgbClr val="C9CEC5"/>
            </a:solidFill>
            <a:round/>
          </a:ln>
        </p:spPr>
      </p:sp>
      <p:sp>
        <p:nvSpPr>
          <p:cNvPr id="12" name="row3n"/>
          <p:cNvSpPr txBox="1"/>
          <p:nvPr/>
        </p:nvSpPr>
        <p:spPr>
          <a:xfrm>
            <a:off x="609600" y="4483100"/>
            <a:ext cx="4826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C2623E"/>
                </a:solidFill>
                <a:latin typeface="Manrope"/>
                <a:ea typeface="Manrope"/>
              </a:rPr>
              <a:t>03</a:t>
            </a:r>
            <a:endParaRPr lang="en-US" sz="1600" noProof="1"/>
          </a:p>
        </p:txBody>
      </p:sp>
      <p:sp>
        <p:nvSpPr>
          <p:cNvPr id="13" name="row3"/>
          <p:cNvSpPr txBox="1"/>
          <p:nvPr/>
        </p:nvSpPr>
        <p:spPr>
          <a:xfrm>
            <a:off x="1219200" y="4432300"/>
            <a:ext cx="6350000" cy="596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b="1" noProof="1">
                <a:solidFill>
                  <a:srgbClr val="172520"/>
                </a:solidFill>
                <a:latin typeface="Manrope"/>
                <a:ea typeface="Manrope"/>
              </a:rPr>
              <a:t>Стоимость:</a:t>
            </a:r>
            <a:r>
              <a:rPr lang="en-US" sz="1300" noProof="1">
                <a:solidFill>
                  <a:srgbClr val="172520"/>
                </a:solidFill>
                <a:latin typeface="Manrope"/>
                <a:ea typeface="Manrope"/>
              </a:rPr>
              <a:t> считаем CAPEX, OPEX и чистый эффект после получения финансовой базы.</a:t>
            </a:r>
            <a:endParaRPr lang="en-US" sz="1300" noProof="1"/>
          </a:p>
        </p:txBody>
      </p:sp>
      <p:sp>
        <p:nvSpPr>
          <p:cNvPr id="14" name="r3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eyJ2aWV3Qm94IjpbNTQ4LDFdLCJwb2ludHMiOiIwLDAgNTQ4LDAifQ</pptd:line>
              </p:ext>
            </p:extLst>
          </p:nvPr>
        </p:nvSpPr>
        <p:spPr>
          <a:xfrm>
            <a:off x="609600" y="5156200"/>
            <a:ext cx="6959600" cy="12700"/>
          </a:xfrm>
          <a:custGeom>
            <a:avLst/>
            <a:gdLst/>
            <a:ahLst/>
            <a:cxnLst/>
            <a:rect l="l" t="t" r="r" b="b"/>
            <a:pathLst>
              <a:path w="548" h="1">
                <a:moveTo>
                  <a:pt x="0" y="0"/>
                </a:moveTo>
                <a:lnTo>
                  <a:pt x="548" y="0"/>
                </a:lnTo>
              </a:path>
            </a:pathLst>
          </a:custGeom>
          <a:noFill/>
          <a:ln w="10160" cap="rnd">
            <a:solidFill>
              <a:srgbClr val="C9CEC5"/>
            </a:solidFill>
            <a:round/>
          </a:ln>
        </p:spPr>
      </p:sp>
      <p:sp>
        <p:nvSpPr>
          <p:cNvPr id="15" name="row4n"/>
          <p:cNvSpPr txBox="1"/>
          <p:nvPr/>
        </p:nvSpPr>
        <p:spPr>
          <a:xfrm>
            <a:off x="609600" y="5359400"/>
            <a:ext cx="482600" cy="317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600" b="1" noProof="1">
                <a:solidFill>
                  <a:srgbClr val="C2623E"/>
                </a:solidFill>
                <a:latin typeface="Manrope"/>
                <a:ea typeface="Manrope"/>
              </a:rPr>
              <a:t>04</a:t>
            </a:r>
            <a:endParaRPr lang="en-US" sz="1600" noProof="1"/>
          </a:p>
        </p:txBody>
      </p:sp>
      <p:sp>
        <p:nvSpPr>
          <p:cNvPr id="16" name="row4"/>
          <p:cNvSpPr txBox="1"/>
          <p:nvPr/>
        </p:nvSpPr>
        <p:spPr>
          <a:xfrm>
            <a:off x="1219200" y="5308600"/>
            <a:ext cx="635000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300" b="1" noProof="1">
                <a:solidFill>
                  <a:srgbClr val="172520"/>
                </a:solidFill>
                <a:latin typeface="Manrope"/>
                <a:ea typeface="Manrope"/>
              </a:rPr>
              <a:t>Масштабирование:</a:t>
            </a:r>
            <a:r>
              <a:rPr lang="en-US" sz="1300" noProof="1">
                <a:solidFill>
                  <a:srgbClr val="172520"/>
                </a:solidFill>
                <a:latin typeface="Manrope"/>
                <a:ea typeface="Manrope"/>
              </a:rPr>
              <a:t> только после подтверждения качества, стабильности, экономики и готовности процесса.</a:t>
            </a:r>
            <a:endParaRPr lang="en-US" sz="1300" noProof="1"/>
          </a:p>
        </p:txBody>
      </p:sp>
      <p:sp>
        <p:nvSpPr>
          <p:cNvPr id="17" name="decision-label"/>
          <p:cNvSpPr txBox="1"/>
          <p:nvPr/>
        </p:nvSpPr>
        <p:spPr>
          <a:xfrm>
            <a:off x="8763000" y="69850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900" b="1" kern="0" spc="120" noProof="1">
                <a:solidFill>
                  <a:srgbClr val="C2D1C8"/>
                </a:solidFill>
                <a:latin typeface="Manrope"/>
                <a:ea typeface="Manrope"/>
              </a:rPr>
              <a:t>ЗАПРОС НА РЕШЕНИЕ</a:t>
            </a:r>
            <a:endParaRPr lang="en-US" sz="900" noProof="1"/>
          </a:p>
        </p:txBody>
      </p:sp>
      <p:sp>
        <p:nvSpPr>
          <p:cNvPr id="18" name="decision-title"/>
          <p:cNvSpPr txBox="1"/>
          <p:nvPr/>
        </p:nvSpPr>
        <p:spPr>
          <a:xfrm>
            <a:off x="8763000" y="1193800"/>
            <a:ext cx="28575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10000"/>
              </a:lnSpc>
            </a:pPr>
            <a:r>
              <a:rPr lang="en-US" sz="2800" b="1" noProof="1">
                <a:solidFill>
                  <a:srgbClr val="FFFFFF"/>
                </a:solidFill>
                <a:latin typeface="PT Serif"/>
                <a:ea typeface="PT Serif"/>
              </a:rPr>
              <a:t>Согласовать пилот первой линии</a:t>
            </a:r>
            <a:endParaRPr lang="en-US" sz="2800" noProof="1"/>
          </a:p>
        </p:txBody>
      </p:sp>
      <p:sp>
        <p:nvSpPr>
          <p:cNvPr id="19" name="decision-duration"/>
          <p:cNvSpPr txBox="1"/>
          <p:nvPr/>
        </p:nvSpPr>
        <p:spPr>
          <a:xfrm>
            <a:off x="8763000" y="2578100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200" b="1" noProof="1">
                <a:solidFill>
                  <a:srgbClr val="E8C4B3"/>
                </a:solidFill>
                <a:latin typeface="Manrope"/>
                <a:ea typeface="Manrope"/>
              </a:rPr>
              <a:t>22–26 недель</a:t>
            </a:r>
            <a:endParaRPr lang="en-US" sz="2200" noProof="1"/>
          </a:p>
        </p:txBody>
      </p:sp>
      <p:sp>
        <p:nvSpPr>
          <p:cNvPr id="20" name="decision-rule"/>
          <p:cNvSpPr/>
          <p:nvPr>
            <p:extLst>
              <p:ext uri="{F5677B7D-0D2A-4D9B-9A5C-6D8D7D0E5A5D}">
                <pptd:line xmlns:pptd="https://kimi-design.msh.team/pptd/2026" xmlns:mc="http://schemas.openxmlformats.org/markup-compatibility/2006" xmlns:m="http://schemas.openxmlformats.org/officeDocument/2006/math" xmlns:cx="http://schemas.microsoft.com/office/drawing/2014/chartex" xmlns:c="http://schemas.openxmlformats.org/drawingml/2006/chart" xmlns:a14="http://schemas.microsoft.com/office/drawing/2010/main" xmlns="" encoding="base64url">eyJ2aWV3Qm94IjpbMjIwLDFdLCJwb2ludHMiOiIwLDAgMjIwLDAifQ</pptd:line>
              </p:ext>
            </p:extLst>
          </p:nvPr>
        </p:nvSpPr>
        <p:spPr>
          <a:xfrm>
            <a:off x="8763000" y="3416300"/>
            <a:ext cx="2794000" cy="12700"/>
          </a:xfrm>
          <a:custGeom>
            <a:avLst/>
            <a:gdLst/>
            <a:ahLst/>
            <a:cxnLst/>
            <a:rect l="l" t="t" r="r" b="b"/>
            <a:pathLst>
              <a:path w="220" h="1">
                <a:moveTo>
                  <a:pt x="0" y="0"/>
                </a:moveTo>
                <a:lnTo>
                  <a:pt x="220" y="0"/>
                </a:lnTo>
              </a:path>
            </a:pathLst>
          </a:custGeom>
          <a:noFill/>
          <a:ln w="12700" cap="rnd">
            <a:solidFill>
              <a:srgbClr val="668177"/>
            </a:solidFill>
            <a:round/>
          </a:ln>
        </p:spPr>
      </p:sp>
      <p:sp>
        <p:nvSpPr>
          <p:cNvPr id="21" name="next"/>
          <p:cNvSpPr txBox="1"/>
          <p:nvPr/>
        </p:nvSpPr>
        <p:spPr>
          <a:xfrm>
            <a:off x="8763000" y="3733800"/>
            <a:ext cx="2857500" cy="1968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200" b="1" noProof="1">
                <a:solidFill>
                  <a:srgbClr val="E4EBE6"/>
                </a:solidFill>
                <a:latin typeface="Manrope"/>
                <a:ea typeface="Manrope"/>
              </a:rPr>
              <a:t>Первые действия</a:t>
            </a:r>
            <a:endParaRPr lang="en-US" sz="1200" noProof="1"/>
          </a:p>
          <a:p>
            <a:pPr>
              <a:lnSpc>
                <a:spcPct val="150000"/>
              </a:lnSpc>
              <a:spcBef>
                <a:spcPts val="800"/>
              </a:spcBef>
            </a:pPr>
            <a:r>
              <a:rPr lang="en-US" sz="1200" noProof="1">
                <a:solidFill>
                  <a:srgbClr val="E4EBE6"/>
                </a:solidFill>
                <a:latin typeface="Manrope"/>
                <a:ea typeface="Manrope"/>
              </a:rPr>
              <a:t>01  Утвердить точку А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E4EBE6"/>
                </a:solidFill>
                <a:latin typeface="Manrope"/>
                <a:ea typeface="Manrope"/>
              </a:rPr>
              <a:t>02  Назначить владельцев данных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E4EBE6"/>
                </a:solidFill>
                <a:latin typeface="Manrope"/>
                <a:ea typeface="Manrope"/>
              </a:rPr>
              <a:t>03  Собрать финансовые исходники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E4EBE6"/>
                </a:solidFill>
                <a:latin typeface="Manrope"/>
                <a:ea typeface="Manrope"/>
              </a:rPr>
              <a:t>04  Начать обследование и тест оптики</a:t>
            </a:r>
            <a:endParaRPr lang="en-US" sz="1200" noProof="1"/>
          </a:p>
        </p:txBody>
      </p:sp>
      <p:sp>
        <p:nvSpPr>
          <p:cNvPr id="22" name="curator"/>
          <p:cNvSpPr txBox="1"/>
          <p:nvPr/>
        </p:nvSpPr>
        <p:spPr>
          <a:xfrm>
            <a:off x="8763000" y="6032500"/>
            <a:ext cx="2857500" cy="444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5000"/>
              </a:lnSpc>
            </a:pPr>
            <a:r>
              <a:rPr lang="en-US" sz="1000" noProof="1">
                <a:solidFill>
                  <a:srgbClr val="C2D1C8"/>
                </a:solidFill>
                <a:latin typeface="Manrope"/>
                <a:ea typeface="Manrope"/>
              </a:rPr>
              <a:t>Куратор проекта: директор по производству</a:t>
            </a:r>
            <a:endParaRPr lang="en-US" sz="1000" noProof="1"/>
          </a:p>
        </p:txBody>
      </p:sp>
      <p:sp>
        <p:nvSpPr>
          <p:cNvPr id="23" name="footer"/>
          <p:cNvSpPr txBox="1"/>
          <p:nvPr/>
        </p:nvSpPr>
        <p:spPr>
          <a:xfrm>
            <a:off x="609600" y="6527800"/>
            <a:ext cx="6858000" cy="152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30000"/>
              </a:lnSpc>
            </a:pPr>
            <a:r>
              <a:rPr lang="en-US" sz="800" noProof="1">
                <a:solidFill>
                  <a:srgbClr val="68746F"/>
                </a:solidFill>
                <a:latin typeface="Manrope"/>
                <a:ea typeface="Manrope"/>
              </a:rPr>
              <a:t>Источник: README проекта. Все целевые показатели подлежат проверке в пилоте.</a:t>
            </a:r>
            <a:endParaRPr lang="en-US" sz="800" noProof="1"/>
          </a:p>
        </p:txBody>
      </p:sp>
      <p:sp>
        <p:nvSpPr>
          <p:cNvPr id="24" name="page"/>
          <p:cNvSpPr txBox="1"/>
          <p:nvPr/>
        </p:nvSpPr>
        <p:spPr>
          <a:xfrm>
            <a:off x="11455400" y="6477000"/>
            <a:ext cx="30480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900" noProof="1">
                <a:solidFill>
                  <a:srgbClr val="C2D1C8"/>
                </a:solidFill>
                <a:latin typeface="Manrope"/>
                <a:ea typeface="Manrope"/>
              </a:rPr>
              <a:t>12</a:t>
            </a:r>
            <a:endParaRPr lang="en-US" sz="9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1586</Words>
  <Application>Microsoft Office PowerPoint</Application>
  <PresentationFormat>Широкоэкранный</PresentationFormat>
  <Paragraphs>243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PT Serif</vt:lpstr>
      <vt:lpstr>Manrope</vt:lpstr>
      <vt:lpstr>MiSans</vt:lpstr>
      <vt:lpstr>PPTD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Автоматизация производства — контроль конденсата</dc:title>
  <cp:lastModifiedBy>Tatsyana Patalitsyna</cp:lastModifiedBy>
  <cp:revision>3</cp:revision>
  <dcterms:modified xsi:type="dcterms:W3CDTF">2026-10-25T16:21:30Z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</Properties>
</file>