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</p:sldIdLst>
  <p:sldSz cx="12192000" cy="6858000"/>
  <p:notesSz cx="12192000" cy="6858000"/>
  <p:defaultTextStyle>
    <a:defPPr>
      <a:defRPr lang="ru-BY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2" d="100"/>
          <a:sy n="102" d="100"/>
        </p:scale>
        <p:origin x="93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609600" y="304800"/>
            <a:ext cx="6858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000" b="1" kern="0" spc="140" noProof="1">
                <a:solidFill>
                  <a:srgbClr val="0B5D5E"/>
                </a:solidFill>
                <a:latin typeface="Arial"/>
                <a:ea typeface="Arial"/>
              </a:rPr>
              <a:t>ЧАСТЬ 4 • ОБОСНОВАНИЕ РЕШЕНИЯ • КОМПЬЮТЕРНОЕ ЗРЕНИЕ</a:t>
            </a:r>
            <a:endParaRPr lang="en-US" sz="1000" noProof="1"/>
          </a:p>
        </p:txBody>
      </p:sp>
      <p:sp>
        <p:nvSpPr>
          <p:cNvPr id="3" name="local"/>
          <p:cNvSpPr txBox="1"/>
          <p:nvPr/>
        </p:nvSpPr>
        <p:spPr>
          <a:xfrm>
            <a:off x="8255000" y="304800"/>
            <a:ext cx="33274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25000"/>
              </a:lnSpc>
            </a:pPr>
            <a:r>
              <a:rPr lang="en-US" sz="1100" noProof="1">
                <a:solidFill>
                  <a:srgbClr val="657475"/>
                </a:solidFill>
                <a:latin typeface="Arial"/>
                <a:ea typeface="Arial"/>
              </a:rPr>
              <a:t>Локально • без облака в контуре решения</a:t>
            </a:r>
            <a:endParaRPr lang="en-US" sz="1100" noProof="1"/>
          </a:p>
        </p:txBody>
      </p:sp>
      <p:sp>
        <p:nvSpPr>
          <p:cNvPr id="4" name="title"/>
          <p:cNvSpPr txBox="1"/>
          <p:nvPr/>
        </p:nvSpPr>
        <p:spPr>
          <a:xfrm>
            <a:off x="609600" y="622300"/>
            <a:ext cx="10795000" cy="838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12000"/>
              </a:lnSpc>
            </a:pPr>
            <a:r>
              <a:rPr lang="en-US" sz="2800" b="1" noProof="1">
                <a:solidFill>
                  <a:srgbClr val="172526"/>
                </a:solidFill>
                <a:latin typeface="Georgia"/>
                <a:ea typeface="Georgia"/>
              </a:rPr>
              <a:t>Выбираем YOLO-детекцию: находим и локализуем
конденсат, не останавливая производственную линию</a:t>
            </a:r>
            <a:endParaRPr lang="en-US" sz="2800" noProof="1"/>
          </a:p>
        </p:txBody>
      </p:sp>
      <p:sp>
        <p:nvSpPr>
          <p:cNvPr id="5" name="title-rule"/>
          <p:cNvSpPr/>
          <p:nvPr/>
        </p:nvSpPr>
        <p:spPr>
          <a:xfrm>
            <a:off x="609600" y="1574800"/>
            <a:ext cx="914400" cy="50800"/>
          </a:xfrm>
          <a:prstGeom prst="rect">
            <a:avLst/>
          </a:prstGeom>
          <a:solidFill>
            <a:srgbClr val="0B5D5E"/>
          </a:solidFill>
          <a:ln>
            <a:noFill/>
          </a:ln>
        </p:spPr>
      </p:sp>
      <p:sp>
        <p:nvSpPr>
          <p:cNvPr id="6" name="kpi1"/>
          <p:cNvSpPr txBox="1"/>
          <p:nvPr/>
        </p:nvSpPr>
        <p:spPr>
          <a:xfrm>
            <a:off x="609600" y="1841500"/>
            <a:ext cx="2286000" cy="622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20000"/>
              </a:lnSpc>
            </a:pPr>
            <a:r>
              <a:rPr lang="en-US" sz="2500" b="1" noProof="1">
                <a:solidFill>
                  <a:srgbClr val="083F40"/>
                </a:solidFill>
                <a:latin typeface="Arial"/>
                <a:ea typeface="Arial"/>
              </a:rPr>
              <a:t>50 лотков/мин</a:t>
            </a:r>
            <a:endParaRPr lang="en-US" sz="2500" noProof="1"/>
          </a:p>
          <a:p>
            <a:pPr>
              <a:lnSpc>
                <a:spcPct val="120000"/>
              </a:lnSpc>
            </a:pPr>
            <a:r>
              <a:rPr lang="en-US" sz="1100" b="1" noProof="1">
                <a:solidFill>
                  <a:srgbClr val="657475"/>
                </a:solidFill>
                <a:latin typeface="Arial"/>
                <a:ea typeface="Arial"/>
              </a:rPr>
              <a:t>производительность линии</a:t>
            </a:r>
            <a:endParaRPr lang="en-US" sz="2500" noProof="1"/>
          </a:p>
        </p:txBody>
      </p:sp>
      <p:sp>
        <p:nvSpPr>
          <p:cNvPr id="7" name="sep1"/>
          <p:cNvSpPr/>
          <p:nvPr>
            <p:extLst>
              <p:ext uri="{F5677B7D-0D2A-4D9B-9A5C-6D8D7D0E5A5D}">
                <pptd:line xmlns="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encoding="base64url">eyJ2aWV3Qm94IjpbMSw0N10sInBvaW50cyI6IjAsMCAwLDQ3In0</pptd:line>
              </p:ext>
            </p:extLst>
          </p:nvPr>
        </p:nvSpPr>
        <p:spPr>
          <a:xfrm>
            <a:off x="3175000" y="1879600"/>
            <a:ext cx="12700" cy="596900"/>
          </a:xfrm>
          <a:custGeom>
            <a:avLst/>
            <a:gdLst/>
            <a:ahLst/>
            <a:cxnLst/>
            <a:rect l="l" t="t" r="r" b="b"/>
            <a:pathLst>
              <a:path w="1" h="47">
                <a:moveTo>
                  <a:pt x="0" y="0"/>
                </a:moveTo>
                <a:lnTo>
                  <a:pt x="0" y="47"/>
                </a:lnTo>
              </a:path>
            </a:pathLst>
          </a:custGeom>
          <a:noFill/>
          <a:ln w="12700" cap="rnd">
            <a:solidFill>
              <a:srgbClr val="D9E2E2"/>
            </a:solidFill>
            <a:round/>
          </a:ln>
        </p:spPr>
      </p:sp>
      <p:sp>
        <p:nvSpPr>
          <p:cNvPr id="8" name="kpi2"/>
          <p:cNvSpPr txBox="1"/>
          <p:nvPr/>
        </p:nvSpPr>
        <p:spPr>
          <a:xfrm>
            <a:off x="3556000" y="1841500"/>
            <a:ext cx="2413000" cy="622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20000"/>
              </a:lnSpc>
            </a:pPr>
            <a:r>
              <a:rPr lang="en-US" sz="2500" b="1" noProof="1">
                <a:solidFill>
                  <a:srgbClr val="083F40"/>
                </a:solidFill>
                <a:latin typeface="Arial"/>
                <a:ea typeface="Arial"/>
              </a:rPr>
              <a:t>1,2 секунды</a:t>
            </a:r>
            <a:endParaRPr lang="en-US" sz="2500" noProof="1"/>
          </a:p>
          <a:p>
            <a:pPr>
              <a:lnSpc>
                <a:spcPct val="120000"/>
              </a:lnSpc>
            </a:pPr>
            <a:r>
              <a:rPr lang="en-US" sz="1100" b="1" noProof="1">
                <a:solidFill>
                  <a:srgbClr val="657475"/>
                </a:solidFill>
                <a:latin typeface="Arial"/>
                <a:ea typeface="Arial"/>
              </a:rPr>
              <a:t>на поступление одного лотка</a:t>
            </a:r>
            <a:endParaRPr lang="en-US" sz="2500" noProof="1"/>
          </a:p>
        </p:txBody>
      </p:sp>
      <p:sp>
        <p:nvSpPr>
          <p:cNvPr id="9" name="sep2"/>
          <p:cNvSpPr/>
          <p:nvPr>
            <p:extLst>
              <p:ext uri="{F5677B7D-0D2A-4D9B-9A5C-6D8D7D0E5A5D}">
                <pptd:line xmlns="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encoding="base64url">eyJ2aWV3Qm94IjpbMSw0N10sInBvaW50cyI6IjAsMCAwLDQ3In0</pptd:line>
              </p:ext>
            </p:extLst>
          </p:nvPr>
        </p:nvSpPr>
        <p:spPr>
          <a:xfrm>
            <a:off x="6223000" y="1879600"/>
            <a:ext cx="12700" cy="596900"/>
          </a:xfrm>
          <a:custGeom>
            <a:avLst/>
            <a:gdLst/>
            <a:ahLst/>
            <a:cxnLst/>
            <a:rect l="l" t="t" r="r" b="b"/>
            <a:pathLst>
              <a:path w="1" h="47">
                <a:moveTo>
                  <a:pt x="0" y="0"/>
                </a:moveTo>
                <a:lnTo>
                  <a:pt x="0" y="47"/>
                </a:lnTo>
              </a:path>
            </a:pathLst>
          </a:custGeom>
          <a:noFill/>
          <a:ln w="12700" cap="rnd">
            <a:solidFill>
              <a:srgbClr val="D9E2E2"/>
            </a:solidFill>
            <a:round/>
          </a:ln>
        </p:spPr>
      </p:sp>
      <p:sp>
        <p:nvSpPr>
          <p:cNvPr id="10" name="kpi3"/>
          <p:cNvSpPr txBox="1"/>
          <p:nvPr/>
        </p:nvSpPr>
        <p:spPr>
          <a:xfrm>
            <a:off x="6604000" y="1841500"/>
            <a:ext cx="2540000" cy="622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20000"/>
              </a:lnSpc>
            </a:pPr>
            <a:r>
              <a:rPr lang="en-US" sz="2500" b="1" noProof="1">
                <a:solidFill>
                  <a:srgbClr val="083F40"/>
                </a:solidFill>
                <a:latin typeface="Arial"/>
                <a:ea typeface="Arial"/>
              </a:rPr>
              <a:t>24 000 лотков</a:t>
            </a:r>
            <a:endParaRPr lang="en-US" sz="2500" noProof="1"/>
          </a:p>
          <a:p>
            <a:pPr>
              <a:lnSpc>
                <a:spcPct val="120000"/>
              </a:lnSpc>
            </a:pPr>
            <a:r>
              <a:rPr lang="en-US" sz="1100" b="1" noProof="1">
                <a:solidFill>
                  <a:srgbClr val="657475"/>
                </a:solidFill>
                <a:latin typeface="Arial"/>
                <a:ea typeface="Arial"/>
              </a:rPr>
              <a:t>за 8-часовую смену</a:t>
            </a:r>
            <a:endParaRPr lang="en-US" sz="2500" noProof="1"/>
          </a:p>
        </p:txBody>
      </p:sp>
      <p:sp>
        <p:nvSpPr>
          <p:cNvPr id="11" name="sep3"/>
          <p:cNvSpPr/>
          <p:nvPr>
            <p:extLst>
              <p:ext uri="{F5677B7D-0D2A-4D9B-9A5C-6D8D7D0E5A5D}">
                <pptd:line xmlns="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encoding="base64url">eyJ2aWV3Qm94IjpbMSw0N10sInBvaW50cyI6IjAsMCAwLDQ3In0</pptd:line>
              </p:ext>
            </p:extLst>
          </p:nvPr>
        </p:nvSpPr>
        <p:spPr>
          <a:xfrm>
            <a:off x="9525000" y="1879600"/>
            <a:ext cx="12700" cy="596900"/>
          </a:xfrm>
          <a:custGeom>
            <a:avLst/>
            <a:gdLst/>
            <a:ahLst/>
            <a:cxnLst/>
            <a:rect l="l" t="t" r="r" b="b"/>
            <a:pathLst>
              <a:path w="1" h="47">
                <a:moveTo>
                  <a:pt x="0" y="0"/>
                </a:moveTo>
                <a:lnTo>
                  <a:pt x="0" y="47"/>
                </a:lnTo>
              </a:path>
            </a:pathLst>
          </a:custGeom>
          <a:noFill/>
          <a:ln w="12700" cap="rnd">
            <a:solidFill>
              <a:srgbClr val="D9E2E2"/>
            </a:solidFill>
            <a:round/>
          </a:ln>
        </p:spPr>
      </p:sp>
      <p:sp>
        <p:nvSpPr>
          <p:cNvPr id="12" name="kpi4"/>
          <p:cNvSpPr txBox="1"/>
          <p:nvPr/>
        </p:nvSpPr>
        <p:spPr>
          <a:xfrm>
            <a:off x="9779000" y="1841500"/>
            <a:ext cx="1803400" cy="6223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2000" b="1" noProof="1">
                <a:solidFill>
                  <a:srgbClr val="083F40"/>
                </a:solidFill>
                <a:latin typeface="Arial"/>
                <a:ea typeface="Arial"/>
              </a:rPr>
              <a:t>0 остановок</a:t>
            </a:r>
            <a:endParaRPr lang="en-US" sz="2000" noProof="1"/>
          </a:p>
          <a:p>
            <a:pPr>
              <a:lnSpc>
                <a:spcPct val="120000"/>
              </a:lnSpc>
            </a:pPr>
            <a:r>
              <a:rPr lang="en-US" sz="1000" b="1" noProof="1">
                <a:solidFill>
                  <a:srgbClr val="657475"/>
                </a:solidFill>
                <a:latin typeface="Arial"/>
                <a:ea typeface="Arial"/>
              </a:rPr>
              <a:t>при обнаружении дефекта</a:t>
            </a:r>
            <a:endParaRPr lang="en-US" sz="2000" noProof="1"/>
          </a:p>
        </p:txBody>
      </p:sp>
      <p:sp>
        <p:nvSpPr>
          <p:cNvPr id="13" name="left-head"/>
          <p:cNvSpPr txBox="1"/>
          <p:nvPr/>
        </p:nvSpPr>
        <p:spPr>
          <a:xfrm>
            <a:off x="609600" y="2768600"/>
            <a:ext cx="50165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100" b="1" kern="0" spc="110" noProof="1">
                <a:solidFill>
                  <a:srgbClr val="0B5D5E"/>
                </a:solidFill>
                <a:latin typeface="Arial"/>
                <a:ea typeface="Arial"/>
              </a:rPr>
              <a:t>01  ЧТО ДАЁТ КОМПЬЮТЕРНОЕ ЗРЕНИЕ</a:t>
            </a:r>
            <a:endParaRPr lang="en-US" sz="1100" noProof="1"/>
          </a:p>
        </p:txBody>
      </p:sp>
      <p:sp>
        <p:nvSpPr>
          <p:cNvPr id="14" name="benefits"/>
          <p:cNvSpPr txBox="1"/>
          <p:nvPr/>
        </p:nvSpPr>
        <p:spPr>
          <a:xfrm>
            <a:off x="609600" y="3162300"/>
            <a:ext cx="5016500" cy="1866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47000"/>
              </a:lnSpc>
            </a:pPr>
            <a:r>
              <a:rPr lang="en-US" sz="1300" b="1" noProof="1">
                <a:solidFill>
                  <a:srgbClr val="172526"/>
                </a:solidFill>
                <a:latin typeface="Arial"/>
                <a:ea typeface="Arial"/>
              </a:rPr>
              <a:t>Стабильность</a:t>
            </a:r>
            <a:r>
              <a:rPr lang="en-US" sz="1300" noProof="1">
                <a:solidFill>
                  <a:srgbClr val="172526"/>
                </a:solidFill>
                <a:latin typeface="Arial"/>
                <a:ea typeface="Arial"/>
              </a:rPr>
              <a:t> - одинаковый режим контроля в течение смены</a:t>
            </a:r>
            <a:endParaRPr lang="en-US" sz="1300" noProof="1"/>
          </a:p>
          <a:p>
            <a:pPr>
              <a:lnSpc>
                <a:spcPct val="147000"/>
              </a:lnSpc>
            </a:pPr>
            <a:r>
              <a:rPr lang="en-US" sz="1300" b="1" noProof="1">
                <a:solidFill>
                  <a:srgbClr val="172526"/>
                </a:solidFill>
                <a:latin typeface="Arial"/>
                <a:ea typeface="Arial"/>
              </a:rPr>
              <a:t>Избирательность</a:t>
            </a:r>
            <a:r>
              <a:rPr lang="en-US" sz="1300" noProof="1">
                <a:solidFill>
                  <a:srgbClr val="172526"/>
                </a:solidFill>
                <a:latin typeface="Arial"/>
                <a:ea typeface="Arial"/>
              </a:rPr>
              <a:t> - удаляются только дефектные лотки</a:t>
            </a:r>
            <a:endParaRPr lang="en-US" sz="1300" noProof="1"/>
          </a:p>
          <a:p>
            <a:pPr>
              <a:lnSpc>
                <a:spcPct val="147000"/>
              </a:lnSpc>
            </a:pPr>
            <a:r>
              <a:rPr lang="en-US" sz="1300" b="1" noProof="1">
                <a:solidFill>
                  <a:srgbClr val="172526"/>
                </a:solidFill>
                <a:latin typeface="Arial"/>
                <a:ea typeface="Arial"/>
              </a:rPr>
              <a:t>Прослеживаемость</a:t>
            </a:r>
            <a:r>
              <a:rPr lang="en-US" sz="1300" noProof="1">
                <a:solidFill>
                  <a:srgbClr val="172526"/>
                </a:solidFill>
                <a:latin typeface="Arial"/>
                <a:ea typeface="Arial"/>
              </a:rPr>
              <a:t> - изображение и результат по каждому случаю</a:t>
            </a:r>
            <a:endParaRPr lang="en-US" sz="1300" noProof="1"/>
          </a:p>
          <a:p>
            <a:pPr>
              <a:lnSpc>
                <a:spcPct val="147000"/>
              </a:lnSpc>
            </a:pPr>
            <a:r>
              <a:rPr lang="en-US" sz="1300" b="1" noProof="1">
                <a:solidFill>
                  <a:srgbClr val="172526"/>
                </a:solidFill>
                <a:latin typeface="Arial"/>
                <a:ea typeface="Arial"/>
              </a:rPr>
              <a:t>Экономический эффект</a:t>
            </a:r>
            <a:r>
              <a:rPr lang="en-US" sz="1300" noProof="1">
                <a:solidFill>
                  <a:srgbClr val="172526"/>
                </a:solidFill>
                <a:latin typeface="Arial"/>
                <a:ea typeface="Arial"/>
              </a:rPr>
              <a:t> - меньше пропусков, возвратов и списаний относительно точки А</a:t>
            </a:r>
            <a:endParaRPr lang="en-US" sz="1300" noProof="1"/>
          </a:p>
        </p:txBody>
      </p:sp>
      <p:sp>
        <p:nvSpPr>
          <p:cNvPr id="15" name="backup"/>
          <p:cNvSpPr txBox="1"/>
          <p:nvPr/>
        </p:nvSpPr>
        <p:spPr>
          <a:xfrm>
            <a:off x="609600" y="5245100"/>
            <a:ext cx="5016500" cy="660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35000"/>
              </a:lnSpc>
            </a:pPr>
            <a:r>
              <a:rPr lang="en-US" sz="1200" b="1" noProof="1">
                <a:solidFill>
                  <a:srgbClr val="657475"/>
                </a:solidFill>
                <a:latin typeface="Arial"/>
                <a:ea typeface="Arial"/>
              </a:rPr>
              <a:t>Ручной контроль не исчезает:</a:t>
            </a:r>
            <a:r>
              <a:rPr lang="en-US" sz="1200" noProof="1">
                <a:solidFill>
                  <a:srgbClr val="657475"/>
                </a:solidFill>
                <a:latin typeface="Arial"/>
                <a:ea typeface="Arial"/>
              </a:rPr>
              <a:t> остаётся резервным регламентом на случай сбоя и для периодической проверки модели.</a:t>
            </a:r>
            <a:endParaRPr lang="en-US" sz="1200" noProof="1"/>
          </a:p>
        </p:txBody>
      </p:sp>
      <p:sp>
        <p:nvSpPr>
          <p:cNvPr id="16" name="mid-sep"/>
          <p:cNvSpPr/>
          <p:nvPr>
            <p:extLst>
              <p:ext uri="{F5677B7D-0D2A-4D9B-9A5C-6D8D7D0E5A5D}">
                <pptd:line xmlns="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encoding="base64url">eyJ2aWV3Qm94IjpbMSwyNDZdLCJwb2ludHMiOiIwLDAgMCwyNDYifQ</pptd:line>
              </p:ext>
            </p:extLst>
          </p:nvPr>
        </p:nvSpPr>
        <p:spPr>
          <a:xfrm>
            <a:off x="6032500" y="2781300"/>
            <a:ext cx="12700" cy="3124200"/>
          </a:xfrm>
          <a:custGeom>
            <a:avLst/>
            <a:gdLst/>
            <a:ahLst/>
            <a:cxnLst/>
            <a:rect l="l" t="t" r="r" b="b"/>
            <a:pathLst>
              <a:path w="1" h="246">
                <a:moveTo>
                  <a:pt x="0" y="0"/>
                </a:moveTo>
                <a:lnTo>
                  <a:pt x="0" y="246"/>
                </a:lnTo>
              </a:path>
            </a:pathLst>
          </a:custGeom>
          <a:noFill/>
          <a:ln w="12700" cap="rnd">
            <a:solidFill>
              <a:srgbClr val="D9E2E2"/>
            </a:solidFill>
            <a:round/>
          </a:ln>
        </p:spPr>
      </p:sp>
      <p:sp>
        <p:nvSpPr>
          <p:cNvPr id="17" name="right-head"/>
          <p:cNvSpPr txBox="1"/>
          <p:nvPr/>
        </p:nvSpPr>
        <p:spPr>
          <a:xfrm>
            <a:off x="6477000" y="2768600"/>
            <a:ext cx="51054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100" b="1" kern="0" spc="110" noProof="1">
                <a:solidFill>
                  <a:srgbClr val="0B5D5E"/>
                </a:solidFill>
                <a:latin typeface="Arial"/>
                <a:ea typeface="Arial"/>
              </a:rPr>
              <a:t>02  ПОЧЕМУ YOLO И ДООБУЧЕНИЕ</a:t>
            </a:r>
            <a:endParaRPr lang="en-US" sz="1100" noProof="1"/>
          </a:p>
        </p:txBody>
      </p:sp>
      <p:sp>
        <p:nvSpPr>
          <p:cNvPr id="18" name="detection"/>
          <p:cNvSpPr txBox="1"/>
          <p:nvPr/>
        </p:nvSpPr>
        <p:spPr>
          <a:xfrm>
            <a:off x="6477000" y="3162300"/>
            <a:ext cx="5105400" cy="952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40000"/>
              </a:lnSpc>
            </a:pPr>
            <a:r>
              <a:rPr lang="en-US" sz="1300" b="1" noProof="1">
                <a:solidFill>
                  <a:srgbClr val="172526"/>
                </a:solidFill>
                <a:latin typeface="Arial"/>
                <a:ea typeface="Arial"/>
              </a:rPr>
              <a:t>Детекция вместо классификации:</a:t>
            </a:r>
            <a:r>
              <a:rPr lang="en-US" sz="1300" noProof="1">
                <a:solidFill>
                  <a:srgbClr val="172526"/>
                </a:solidFill>
                <a:latin typeface="Arial"/>
                <a:ea typeface="Arial"/>
              </a:rPr>
              <a:t> модель показывает не только наличие конденсата, но и его зону на крышке. Это упрощает разбор ошибок и спорных случаев.</a:t>
            </a:r>
            <a:endParaRPr lang="en-US" sz="1300" noProof="1"/>
          </a:p>
        </p:txBody>
      </p:sp>
      <p:sp>
        <p:nvSpPr>
          <p:cNvPr id="19" name="training"/>
          <p:cNvSpPr txBox="1"/>
          <p:nvPr/>
        </p:nvSpPr>
        <p:spPr>
          <a:xfrm>
            <a:off x="6477000" y="4279900"/>
            <a:ext cx="5105400" cy="800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40000"/>
              </a:lnSpc>
            </a:pPr>
            <a:r>
              <a:rPr lang="en-US" sz="1300" b="1" noProof="1">
                <a:solidFill>
                  <a:srgbClr val="172526"/>
                </a:solidFill>
                <a:latin typeface="Arial"/>
                <a:ea typeface="Arial"/>
              </a:rPr>
              <a:t>Дообучение предобученной модели</a:t>
            </a:r>
            <a:r>
              <a:rPr lang="en-US" sz="1300" noProof="1">
                <a:solidFill>
                  <a:srgbClr val="172526"/>
                </a:solidFill>
                <a:latin typeface="Arial"/>
                <a:ea typeface="Arial"/>
              </a:rPr>
              <a:t> на собственных производственных изображениях. Разработка с нуля не требуется: она увеличит сроки и потребность в данных.</a:t>
            </a:r>
            <a:endParaRPr lang="en-US" sz="1300" noProof="1"/>
          </a:p>
        </p:txBody>
      </p:sp>
      <p:sp>
        <p:nvSpPr>
          <p:cNvPr id="20" name="local-note"/>
          <p:cNvSpPr txBox="1"/>
          <p:nvPr/>
        </p:nvSpPr>
        <p:spPr>
          <a:xfrm>
            <a:off x="6477000" y="5245100"/>
            <a:ext cx="5105400" cy="660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35000"/>
              </a:lnSpc>
            </a:pPr>
            <a:r>
              <a:rPr lang="en-US" sz="1200" b="1" noProof="1">
                <a:solidFill>
                  <a:srgbClr val="657475"/>
                </a:solidFill>
                <a:latin typeface="Arial"/>
                <a:ea typeface="Arial"/>
              </a:rPr>
              <a:t>Локальное исполнение</a:t>
            </a:r>
            <a:r>
              <a:rPr lang="en-US" sz="1200" noProof="1">
                <a:solidFill>
                  <a:srgbClr val="657475"/>
                </a:solidFill>
                <a:latin typeface="Arial"/>
                <a:ea typeface="Arial"/>
              </a:rPr>
              <a:t> снижает зависимость от сети и обеспечивает скорость. Лицензия модели проверяется перед промышленным запуском.</a:t>
            </a:r>
            <a:endParaRPr lang="en-US" sz="1200" noProof="1"/>
          </a:p>
        </p:txBody>
      </p:sp>
      <p:sp>
        <p:nvSpPr>
          <p:cNvPr id="21" name="criteria-bg"/>
          <p:cNvSpPr/>
          <p:nvPr/>
        </p:nvSpPr>
        <p:spPr>
          <a:xfrm>
            <a:off x="609600" y="6172200"/>
            <a:ext cx="10972800" cy="317500"/>
          </a:xfrm>
          <a:prstGeom prst="rect">
            <a:avLst/>
          </a:prstGeom>
          <a:solidFill>
            <a:srgbClr val="E7F2F1"/>
          </a:solidFill>
          <a:ln>
            <a:noFill/>
          </a:ln>
        </p:spPr>
      </p:sp>
      <p:sp>
        <p:nvSpPr>
          <p:cNvPr id="22" name="criteria"/>
          <p:cNvSpPr txBox="1"/>
          <p:nvPr/>
        </p:nvSpPr>
        <p:spPr>
          <a:xfrm>
            <a:off x="762000" y="6235700"/>
            <a:ext cx="10668000" cy="190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ctr">
              <a:lnSpc>
                <a:spcPct val="120000"/>
              </a:lnSpc>
            </a:pPr>
            <a:r>
              <a:rPr lang="en-US" sz="1100" b="1" noProof="1">
                <a:solidFill>
                  <a:srgbClr val="083F40"/>
                </a:solidFill>
                <a:latin typeface="Arial"/>
                <a:ea typeface="Arial"/>
              </a:rPr>
              <a:t>Выбор модели: полнота ≥99% • ложная отбраковка ≤1% • программное решение ≤200 мс на лоток</a:t>
            </a:r>
            <a:endParaRPr lang="en-US" sz="1100" noProof="1"/>
          </a:p>
        </p:txBody>
      </p:sp>
      <p:sp>
        <p:nvSpPr>
          <p:cNvPr id="23" name="source"/>
          <p:cNvSpPr txBox="1"/>
          <p:nvPr/>
        </p:nvSpPr>
        <p:spPr>
          <a:xfrm>
            <a:off x="609600" y="6604000"/>
            <a:ext cx="939800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900" noProof="1">
                <a:solidFill>
                  <a:srgbClr val="657475"/>
                </a:solidFill>
                <a:latin typeface="Arial"/>
                <a:ea typeface="Arial"/>
              </a:rPr>
              <a:t>Источник: раздел 4. Сравниваются компактная и более точная конфигурации, например YOLO26n и YOLO26s.</a:t>
            </a:r>
            <a:endParaRPr lang="en-US" sz="900" noProof="1"/>
          </a:p>
        </p:txBody>
      </p:sp>
      <p:sp>
        <p:nvSpPr>
          <p:cNvPr id="24" name="page-num"/>
          <p:cNvSpPr txBox="1"/>
          <p:nvPr/>
        </p:nvSpPr>
        <p:spPr>
          <a:xfrm>
            <a:off x="11226800" y="6578600"/>
            <a:ext cx="3556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1000" noProof="1">
                <a:solidFill>
                  <a:srgbClr val="657475"/>
                </a:solidFill>
                <a:latin typeface="Arial"/>
                <a:ea typeface="Arial"/>
              </a:rPr>
              <a:t>01</a:t>
            </a:r>
            <a:endParaRPr lang="en-US" sz="1000" noProof="1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609600" y="304800"/>
            <a:ext cx="6858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000" b="1" kern="0" spc="140" noProof="1">
                <a:solidFill>
                  <a:srgbClr val="0B5D5E"/>
                </a:solidFill>
                <a:latin typeface="Arial"/>
                <a:ea typeface="Arial"/>
              </a:rPr>
              <a:t>ЧАСТЬ 4 • ПРОЕКТИРОВАНИЕ • ПРОИЗВОДСТВЕННЫЙ КОНТУР</a:t>
            </a:r>
            <a:endParaRPr lang="en-US" sz="1000" noProof="1"/>
          </a:p>
        </p:txBody>
      </p:sp>
      <p:sp>
        <p:nvSpPr>
          <p:cNvPr id="3" name="title"/>
          <p:cNvSpPr txBox="1"/>
          <p:nvPr/>
        </p:nvSpPr>
        <p:spPr>
          <a:xfrm>
            <a:off x="609600" y="622300"/>
            <a:ext cx="10795000" cy="838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12000"/>
              </a:lnSpc>
            </a:pPr>
            <a:r>
              <a:rPr lang="en-US" sz="2600" b="1" noProof="1">
                <a:solidFill>
                  <a:srgbClr val="172526"/>
                </a:solidFill>
                <a:latin typeface="Georgia"/>
                <a:ea typeface="Georgia"/>
              </a:rPr>
              <a:t>Система работает автоматически; оператор контролирует исключения и качество, а не проверяет каждый лоток</a:t>
            </a:r>
            <a:endParaRPr lang="en-US" sz="2600" noProof="1"/>
          </a:p>
        </p:txBody>
      </p:sp>
      <p:sp>
        <p:nvSpPr>
          <p:cNvPr id="4" name="title-rule"/>
          <p:cNvSpPr/>
          <p:nvPr/>
        </p:nvSpPr>
        <p:spPr>
          <a:xfrm>
            <a:off x="609600" y="1574800"/>
            <a:ext cx="914400" cy="50800"/>
          </a:xfrm>
          <a:prstGeom prst="rect">
            <a:avLst/>
          </a:prstGeom>
          <a:solidFill>
            <a:srgbClr val="0B5D5E"/>
          </a:solidFill>
          <a:ln>
            <a:noFill/>
          </a:ln>
        </p:spPr>
      </p:sp>
      <p:sp>
        <p:nvSpPr>
          <p:cNvPr id="5" name="flow-head"/>
          <p:cNvSpPr txBox="1"/>
          <p:nvPr/>
        </p:nvSpPr>
        <p:spPr>
          <a:xfrm>
            <a:off x="609600" y="1841500"/>
            <a:ext cx="109728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000" b="1" kern="0" spc="120" noProof="1">
                <a:solidFill>
                  <a:srgbClr val="657475"/>
                </a:solidFill>
                <a:latin typeface="Arial"/>
                <a:ea typeface="Arial"/>
              </a:rPr>
              <a:t>АРХИТЕКТУРА: ОТ ИЗОБРАЖЕНИЯ ДО ПОДТВЕРЖДЁННОЙ ОТБРАКОВКИ</a:t>
            </a:r>
            <a:endParaRPr lang="en-US" sz="1000" noProof="1"/>
          </a:p>
        </p:txBody>
      </p:sp>
      <p:sp>
        <p:nvSpPr>
          <p:cNvPr id="6" name="flow1-icon"/>
          <p:cNvSpPr/>
          <p:nvPr>
            <p:extLst>
              <p:ext uri="{F5677B7D-0D2A-4D9B-9A5C-6D8D7D0E5A5D}">
                <pptd:icon xmlns="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encoding="base64url">eyJpY29uTmFtZSI6ImZhczpjYW1lcmEifQ</pptd:icon>
              </p:ext>
            </p:extLst>
          </p:nvPr>
        </p:nvSpPr>
        <p:spPr>
          <a:xfrm>
            <a:off x="609600" y="23114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149" y="65"/>
                </a:moveTo>
                <a:lnTo>
                  <a:pt x="139" y="96"/>
                </a:lnTo>
                <a:lnTo>
                  <a:pt x="64" y="96"/>
                </a:lnTo>
                <a:cubicBezTo>
                  <a:pt x="29" y="96"/>
                  <a:pt x="0" y="125"/>
                  <a:pt x="0" y="160"/>
                </a:cubicBezTo>
                <a:lnTo>
                  <a:pt x="0" y="416"/>
                </a:lnTo>
                <a:cubicBezTo>
                  <a:pt x="0" y="451"/>
                  <a:pt x="29" y="480"/>
                  <a:pt x="64" y="480"/>
                </a:cubicBezTo>
                <a:lnTo>
                  <a:pt x="448" y="480"/>
                </a:lnTo>
                <a:cubicBezTo>
                  <a:pt x="483" y="480"/>
                  <a:pt x="512" y="451"/>
                  <a:pt x="512" y="416"/>
                </a:cubicBezTo>
                <a:lnTo>
                  <a:pt x="512" y="160"/>
                </a:lnTo>
                <a:cubicBezTo>
                  <a:pt x="512" y="125"/>
                  <a:pt x="483" y="96"/>
                  <a:pt x="448" y="96"/>
                </a:cubicBezTo>
                <a:lnTo>
                  <a:pt x="373" y="96"/>
                </a:lnTo>
                <a:lnTo>
                  <a:pt x="363" y="65"/>
                </a:lnTo>
                <a:cubicBezTo>
                  <a:pt x="356" y="45"/>
                  <a:pt x="338" y="32"/>
                  <a:pt x="317" y="32"/>
                </a:cubicBezTo>
                <a:lnTo>
                  <a:pt x="195" y="32"/>
                </a:lnTo>
                <a:cubicBezTo>
                  <a:pt x="174" y="32"/>
                  <a:pt x="156" y="45"/>
                  <a:pt x="149" y="65"/>
                </a:cubicBezTo>
                <a:close/>
                <a:moveTo>
                  <a:pt x="256" y="192"/>
                </a:moveTo>
                <a:cubicBezTo>
                  <a:pt x="309" y="192"/>
                  <a:pt x="352" y="235"/>
                  <a:pt x="352" y="288"/>
                </a:cubicBezTo>
                <a:cubicBezTo>
                  <a:pt x="352" y="341"/>
                  <a:pt x="309" y="384"/>
                  <a:pt x="256" y="384"/>
                </a:cubicBezTo>
                <a:cubicBezTo>
                  <a:pt x="203" y="384"/>
                  <a:pt x="160" y="341"/>
                  <a:pt x="160" y="288"/>
                </a:cubicBezTo>
                <a:cubicBezTo>
                  <a:pt x="160" y="235"/>
                  <a:pt x="203" y="192"/>
                  <a:pt x="256" y="192"/>
                </a:cubicBezTo>
                <a:close/>
              </a:path>
            </a:pathLst>
          </a:custGeom>
          <a:solidFill>
            <a:srgbClr val="0B5D5E"/>
          </a:solidFill>
          <a:ln>
            <a:noFill/>
          </a:ln>
        </p:spPr>
      </p:sp>
      <p:sp>
        <p:nvSpPr>
          <p:cNvPr id="7" name="flow1-title"/>
          <p:cNvSpPr txBox="1"/>
          <p:nvPr/>
        </p:nvSpPr>
        <p:spPr>
          <a:xfrm>
            <a:off x="609600" y="2819400"/>
            <a:ext cx="2095500" cy="27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500" b="1" noProof="1">
                <a:solidFill>
                  <a:srgbClr val="172526"/>
                </a:solidFill>
                <a:latin typeface="Arial"/>
                <a:ea typeface="Arial"/>
              </a:rPr>
              <a:t>1. Входные данные</a:t>
            </a:r>
            <a:endParaRPr lang="en-US" sz="1500" noProof="1"/>
          </a:p>
        </p:txBody>
      </p:sp>
      <p:sp>
        <p:nvSpPr>
          <p:cNvPr id="8" name="flow1-note"/>
          <p:cNvSpPr txBox="1"/>
          <p:nvPr/>
        </p:nvSpPr>
        <p:spPr>
          <a:xfrm>
            <a:off x="609600" y="3175000"/>
            <a:ext cx="2095500" cy="850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35000"/>
              </a:lnSpc>
            </a:pPr>
            <a:r>
              <a:rPr lang="en-US" sz="1200" noProof="1">
                <a:solidFill>
                  <a:srgbClr val="657475"/>
                </a:solidFill>
                <a:latin typeface="Arial"/>
                <a:ea typeface="Arial"/>
              </a:rPr>
              <a:t>Камера, подсветка и датчик; 2–3 кадра крышки, ID лотка, партия и смена.</a:t>
            </a:r>
            <a:endParaRPr lang="en-US" sz="1200" noProof="1"/>
          </a:p>
        </p:txBody>
      </p:sp>
      <p:sp>
        <p:nvSpPr>
          <p:cNvPr id="9" name="arrow1"/>
          <p:cNvSpPr/>
          <p:nvPr>
            <p:extLst>
              <p:ext uri="{F5677B7D-0D2A-4D9B-9A5C-6D8D7D0E5A5D}">
                <pptd:line xmlns="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encoding="base64url">eyJ2aWV3Qm94IjpbNDAsMV0sInBvaW50cyI6IjAsMCA0MCwwIn0</pptd:line>
              </p:ext>
            </p:extLst>
          </p:nvPr>
        </p:nvSpPr>
        <p:spPr>
          <a:xfrm>
            <a:off x="3433099" y="2514600"/>
            <a:ext cx="508000" cy="12700"/>
          </a:xfrm>
          <a:custGeom>
            <a:avLst/>
            <a:gdLst/>
            <a:ahLst/>
            <a:cxnLst/>
            <a:rect l="l" t="t" r="r" b="b"/>
            <a:pathLst>
              <a:path w="40" h="1">
                <a:moveTo>
                  <a:pt x="0" y="0"/>
                </a:moveTo>
                <a:lnTo>
                  <a:pt x="40" y="0"/>
                </a:lnTo>
              </a:path>
            </a:pathLst>
          </a:custGeom>
          <a:noFill/>
          <a:ln w="25400" cap="rnd">
            <a:solidFill>
              <a:srgbClr val="8BBDB9"/>
            </a:solidFill>
            <a:round/>
            <a:tailEnd type="stealth"/>
          </a:ln>
        </p:spPr>
      </p:sp>
      <p:sp>
        <p:nvSpPr>
          <p:cNvPr id="10" name="flow2-icon"/>
          <p:cNvSpPr/>
          <p:nvPr>
            <p:extLst>
              <p:ext uri="{F5677B7D-0D2A-4D9B-9A5C-6D8D7D0E5A5D}">
                <pptd:icon xmlns="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encoding="base64url">eyJpY29uTmFtZSI6ImZhczptaWNyb2NoaXAifQ</pptd:icon>
              </p:ext>
            </p:extLst>
          </p:nvPr>
        </p:nvSpPr>
        <p:spPr>
          <a:xfrm>
            <a:off x="4042699" y="23114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176" y="24"/>
                </a:moveTo>
                <a:cubicBezTo>
                  <a:pt x="176" y="11"/>
                  <a:pt x="165" y="0"/>
                  <a:pt x="152" y="0"/>
                </a:cubicBezTo>
                <a:cubicBezTo>
                  <a:pt x="139" y="0"/>
                  <a:pt x="128" y="11"/>
                  <a:pt x="128" y="24"/>
                </a:cubicBezTo>
                <a:lnTo>
                  <a:pt x="128" y="64"/>
                </a:lnTo>
                <a:cubicBezTo>
                  <a:pt x="93" y="64"/>
                  <a:pt x="64" y="93"/>
                  <a:pt x="64" y="128"/>
                </a:cubicBezTo>
                <a:lnTo>
                  <a:pt x="24" y="128"/>
                </a:lnTo>
                <a:cubicBezTo>
                  <a:pt x="11" y="128"/>
                  <a:pt x="0" y="139"/>
                  <a:pt x="0" y="152"/>
                </a:cubicBezTo>
                <a:cubicBezTo>
                  <a:pt x="0" y="165"/>
                  <a:pt x="11" y="176"/>
                  <a:pt x="24" y="176"/>
                </a:cubicBezTo>
                <a:lnTo>
                  <a:pt x="64" y="176"/>
                </a:lnTo>
                <a:lnTo>
                  <a:pt x="64" y="232"/>
                </a:lnTo>
                <a:lnTo>
                  <a:pt x="24" y="232"/>
                </a:lnTo>
                <a:cubicBezTo>
                  <a:pt x="11" y="232"/>
                  <a:pt x="0" y="243"/>
                  <a:pt x="0" y="256"/>
                </a:cubicBezTo>
                <a:cubicBezTo>
                  <a:pt x="0" y="269"/>
                  <a:pt x="11" y="280"/>
                  <a:pt x="24" y="280"/>
                </a:cubicBezTo>
                <a:lnTo>
                  <a:pt x="64" y="280"/>
                </a:lnTo>
                <a:lnTo>
                  <a:pt x="64" y="336"/>
                </a:lnTo>
                <a:lnTo>
                  <a:pt x="24" y="336"/>
                </a:lnTo>
                <a:cubicBezTo>
                  <a:pt x="11" y="336"/>
                  <a:pt x="0" y="347"/>
                  <a:pt x="0" y="360"/>
                </a:cubicBezTo>
                <a:cubicBezTo>
                  <a:pt x="0" y="373"/>
                  <a:pt x="11" y="384"/>
                  <a:pt x="24" y="384"/>
                </a:cubicBezTo>
                <a:lnTo>
                  <a:pt x="64" y="384"/>
                </a:lnTo>
                <a:cubicBezTo>
                  <a:pt x="64" y="419"/>
                  <a:pt x="93" y="448"/>
                  <a:pt x="128" y="448"/>
                </a:cubicBezTo>
                <a:lnTo>
                  <a:pt x="128" y="488"/>
                </a:lnTo>
                <a:cubicBezTo>
                  <a:pt x="128" y="501"/>
                  <a:pt x="139" y="512"/>
                  <a:pt x="152" y="512"/>
                </a:cubicBezTo>
                <a:cubicBezTo>
                  <a:pt x="165" y="512"/>
                  <a:pt x="176" y="501"/>
                  <a:pt x="176" y="488"/>
                </a:cubicBezTo>
                <a:lnTo>
                  <a:pt x="176" y="448"/>
                </a:lnTo>
                <a:lnTo>
                  <a:pt x="232" y="448"/>
                </a:lnTo>
                <a:lnTo>
                  <a:pt x="232" y="488"/>
                </a:lnTo>
                <a:cubicBezTo>
                  <a:pt x="232" y="501"/>
                  <a:pt x="243" y="512"/>
                  <a:pt x="256" y="512"/>
                </a:cubicBezTo>
                <a:cubicBezTo>
                  <a:pt x="269" y="512"/>
                  <a:pt x="280" y="501"/>
                  <a:pt x="280" y="488"/>
                </a:cubicBezTo>
                <a:lnTo>
                  <a:pt x="280" y="448"/>
                </a:lnTo>
                <a:lnTo>
                  <a:pt x="336" y="448"/>
                </a:lnTo>
                <a:lnTo>
                  <a:pt x="336" y="488"/>
                </a:lnTo>
                <a:cubicBezTo>
                  <a:pt x="336" y="501"/>
                  <a:pt x="347" y="512"/>
                  <a:pt x="360" y="512"/>
                </a:cubicBezTo>
                <a:cubicBezTo>
                  <a:pt x="373" y="512"/>
                  <a:pt x="384" y="501"/>
                  <a:pt x="384" y="488"/>
                </a:cubicBezTo>
                <a:lnTo>
                  <a:pt x="384" y="448"/>
                </a:lnTo>
                <a:cubicBezTo>
                  <a:pt x="419" y="448"/>
                  <a:pt x="448" y="419"/>
                  <a:pt x="448" y="384"/>
                </a:cubicBezTo>
                <a:lnTo>
                  <a:pt x="488" y="384"/>
                </a:lnTo>
                <a:cubicBezTo>
                  <a:pt x="501" y="384"/>
                  <a:pt x="512" y="373"/>
                  <a:pt x="512" y="360"/>
                </a:cubicBezTo>
                <a:cubicBezTo>
                  <a:pt x="512" y="347"/>
                  <a:pt x="501" y="336"/>
                  <a:pt x="488" y="336"/>
                </a:cubicBezTo>
                <a:lnTo>
                  <a:pt x="448" y="336"/>
                </a:lnTo>
                <a:lnTo>
                  <a:pt x="448" y="280"/>
                </a:lnTo>
                <a:lnTo>
                  <a:pt x="488" y="280"/>
                </a:lnTo>
                <a:cubicBezTo>
                  <a:pt x="501" y="280"/>
                  <a:pt x="512" y="269"/>
                  <a:pt x="512" y="256"/>
                </a:cubicBezTo>
                <a:cubicBezTo>
                  <a:pt x="512" y="243"/>
                  <a:pt x="501" y="232"/>
                  <a:pt x="488" y="232"/>
                </a:cubicBezTo>
                <a:lnTo>
                  <a:pt x="448" y="232"/>
                </a:lnTo>
                <a:lnTo>
                  <a:pt x="448" y="176"/>
                </a:lnTo>
                <a:lnTo>
                  <a:pt x="488" y="176"/>
                </a:lnTo>
                <a:cubicBezTo>
                  <a:pt x="501" y="176"/>
                  <a:pt x="512" y="165"/>
                  <a:pt x="512" y="152"/>
                </a:cubicBezTo>
                <a:cubicBezTo>
                  <a:pt x="512" y="139"/>
                  <a:pt x="501" y="128"/>
                  <a:pt x="488" y="128"/>
                </a:cubicBezTo>
                <a:lnTo>
                  <a:pt x="448" y="128"/>
                </a:lnTo>
                <a:cubicBezTo>
                  <a:pt x="448" y="93"/>
                  <a:pt x="419" y="64"/>
                  <a:pt x="384" y="64"/>
                </a:cubicBezTo>
                <a:lnTo>
                  <a:pt x="384" y="24"/>
                </a:lnTo>
                <a:cubicBezTo>
                  <a:pt x="384" y="11"/>
                  <a:pt x="373" y="0"/>
                  <a:pt x="360" y="0"/>
                </a:cubicBezTo>
                <a:cubicBezTo>
                  <a:pt x="347" y="0"/>
                  <a:pt x="336" y="11"/>
                  <a:pt x="336" y="24"/>
                </a:cubicBezTo>
                <a:lnTo>
                  <a:pt x="336" y="64"/>
                </a:lnTo>
                <a:lnTo>
                  <a:pt x="280" y="64"/>
                </a:lnTo>
                <a:lnTo>
                  <a:pt x="280" y="24"/>
                </a:lnTo>
                <a:cubicBezTo>
                  <a:pt x="280" y="11"/>
                  <a:pt x="269" y="0"/>
                  <a:pt x="256" y="0"/>
                </a:cubicBezTo>
                <a:cubicBezTo>
                  <a:pt x="243" y="0"/>
                  <a:pt x="232" y="11"/>
                  <a:pt x="232" y="24"/>
                </a:cubicBezTo>
                <a:lnTo>
                  <a:pt x="232" y="64"/>
                </a:lnTo>
                <a:lnTo>
                  <a:pt x="176" y="64"/>
                </a:lnTo>
                <a:lnTo>
                  <a:pt x="176" y="24"/>
                </a:lnTo>
                <a:close/>
                <a:moveTo>
                  <a:pt x="160" y="128"/>
                </a:moveTo>
                <a:lnTo>
                  <a:pt x="352" y="128"/>
                </a:lnTo>
                <a:cubicBezTo>
                  <a:pt x="370" y="128"/>
                  <a:pt x="384" y="142"/>
                  <a:pt x="384" y="160"/>
                </a:cubicBezTo>
                <a:lnTo>
                  <a:pt x="384" y="352"/>
                </a:lnTo>
                <a:cubicBezTo>
                  <a:pt x="384" y="370"/>
                  <a:pt x="370" y="384"/>
                  <a:pt x="352" y="384"/>
                </a:cubicBezTo>
                <a:lnTo>
                  <a:pt x="160" y="384"/>
                </a:lnTo>
                <a:cubicBezTo>
                  <a:pt x="142" y="384"/>
                  <a:pt x="128" y="370"/>
                  <a:pt x="128" y="352"/>
                </a:cubicBezTo>
                <a:lnTo>
                  <a:pt x="128" y="160"/>
                </a:lnTo>
                <a:cubicBezTo>
                  <a:pt x="128" y="142"/>
                  <a:pt x="142" y="128"/>
                  <a:pt x="160" y="128"/>
                </a:cubicBezTo>
                <a:close/>
              </a:path>
              <a:path w="512" h="512">
                <a:moveTo>
                  <a:pt x="176" y="176"/>
                </a:moveTo>
                <a:lnTo>
                  <a:pt x="176" y="336"/>
                </a:lnTo>
                <a:lnTo>
                  <a:pt x="336" y="336"/>
                </a:lnTo>
                <a:lnTo>
                  <a:pt x="336" y="176"/>
                </a:lnTo>
                <a:lnTo>
                  <a:pt x="176" y="176"/>
                </a:lnTo>
                <a:close/>
              </a:path>
            </a:pathLst>
          </a:custGeom>
          <a:solidFill>
            <a:srgbClr val="0B5D5E"/>
          </a:solidFill>
          <a:ln>
            <a:noFill/>
          </a:ln>
        </p:spPr>
      </p:sp>
      <p:sp>
        <p:nvSpPr>
          <p:cNvPr id="11" name="flow2-title"/>
          <p:cNvSpPr txBox="1"/>
          <p:nvPr/>
        </p:nvSpPr>
        <p:spPr>
          <a:xfrm>
            <a:off x="3390900" y="2819400"/>
            <a:ext cx="2095500" cy="27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500" b="1" noProof="1">
                <a:solidFill>
                  <a:srgbClr val="172526"/>
                </a:solidFill>
                <a:latin typeface="Arial"/>
                <a:ea typeface="Arial"/>
              </a:rPr>
              <a:t>2. Локальная YOLO</a:t>
            </a:r>
            <a:endParaRPr lang="en-US" sz="1500" noProof="1"/>
          </a:p>
        </p:txBody>
      </p:sp>
      <p:sp>
        <p:nvSpPr>
          <p:cNvPr id="12" name="flow2-note"/>
          <p:cNvSpPr txBox="1"/>
          <p:nvPr/>
        </p:nvSpPr>
        <p:spPr>
          <a:xfrm>
            <a:off x="3390900" y="3175000"/>
            <a:ext cx="2095500" cy="850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35000"/>
              </a:lnSpc>
            </a:pPr>
            <a:r>
              <a:rPr lang="en-US" sz="1200" noProof="1">
                <a:solidFill>
                  <a:srgbClr val="657475"/>
                </a:solidFill>
                <a:latin typeface="Arial"/>
                <a:ea typeface="Arial"/>
              </a:rPr>
              <a:t>«Норма» / «конденсат», зона дефекта и решение по нескольким кадрам.</a:t>
            </a:r>
            <a:endParaRPr lang="en-US" sz="1200" noProof="1"/>
          </a:p>
        </p:txBody>
      </p:sp>
      <p:sp>
        <p:nvSpPr>
          <p:cNvPr id="13" name="arrow2"/>
          <p:cNvSpPr/>
          <p:nvPr>
            <p:extLst>
              <p:ext uri="{F5677B7D-0D2A-4D9B-9A5C-6D8D7D0E5A5D}">
                <pptd:line xmlns="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encoding="base64url">eyJ2aWV3Qm94IjpbNDAsMV0sInBvaW50cyI6IjAsMCA0MCwwIn0</pptd:line>
              </p:ext>
            </p:extLst>
          </p:nvPr>
        </p:nvSpPr>
        <p:spPr>
          <a:xfrm>
            <a:off x="6214399" y="2514600"/>
            <a:ext cx="508000" cy="12700"/>
          </a:xfrm>
          <a:custGeom>
            <a:avLst/>
            <a:gdLst/>
            <a:ahLst/>
            <a:cxnLst/>
            <a:rect l="l" t="t" r="r" b="b"/>
            <a:pathLst>
              <a:path w="40" h="1">
                <a:moveTo>
                  <a:pt x="0" y="0"/>
                </a:moveTo>
                <a:lnTo>
                  <a:pt x="40" y="0"/>
                </a:lnTo>
              </a:path>
            </a:pathLst>
          </a:custGeom>
          <a:noFill/>
          <a:ln w="25400" cap="rnd">
            <a:solidFill>
              <a:srgbClr val="8BBDB9"/>
            </a:solidFill>
            <a:round/>
            <a:tailEnd type="stealth"/>
          </a:ln>
        </p:spPr>
      </p:sp>
      <p:sp>
        <p:nvSpPr>
          <p:cNvPr id="14" name="flow3-icon"/>
          <p:cNvSpPr/>
          <p:nvPr>
            <p:extLst>
              <p:ext uri="{F5677B7D-0D2A-4D9B-9A5C-6D8D7D0E5A5D}">
                <pptd:icon xmlns="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encoding="base64url">eyJpY29uTmFtZSI6ImZhczpkaXNwbGF5In0</pptd:icon>
              </p:ext>
            </p:extLst>
          </p:nvPr>
        </p:nvSpPr>
        <p:spPr>
          <a:xfrm>
            <a:off x="6823999" y="23114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448" y="96"/>
                </a:moveTo>
                <a:lnTo>
                  <a:pt x="448" y="352"/>
                </a:lnTo>
                <a:lnTo>
                  <a:pt x="64" y="352"/>
                </a:lnTo>
                <a:lnTo>
                  <a:pt x="64" y="96"/>
                </a:lnTo>
                <a:lnTo>
                  <a:pt x="448" y="96"/>
                </a:lnTo>
                <a:close/>
                <a:moveTo>
                  <a:pt x="64" y="32"/>
                </a:moveTo>
                <a:cubicBezTo>
                  <a:pt x="29" y="32"/>
                  <a:pt x="0" y="61"/>
                  <a:pt x="0" y="96"/>
                </a:cubicBezTo>
                <a:lnTo>
                  <a:pt x="0" y="352"/>
                </a:lnTo>
                <a:cubicBezTo>
                  <a:pt x="0" y="387"/>
                  <a:pt x="29" y="416"/>
                  <a:pt x="64" y="416"/>
                </a:cubicBezTo>
                <a:lnTo>
                  <a:pt x="208" y="416"/>
                </a:lnTo>
                <a:lnTo>
                  <a:pt x="192" y="464"/>
                </a:lnTo>
                <a:lnTo>
                  <a:pt x="120" y="464"/>
                </a:lnTo>
                <a:cubicBezTo>
                  <a:pt x="107" y="464"/>
                  <a:pt x="96" y="475"/>
                  <a:pt x="96" y="488"/>
                </a:cubicBezTo>
                <a:cubicBezTo>
                  <a:pt x="96" y="501"/>
                  <a:pt x="107" y="512"/>
                  <a:pt x="120" y="512"/>
                </a:cubicBezTo>
                <a:lnTo>
                  <a:pt x="392" y="512"/>
                </a:lnTo>
                <a:cubicBezTo>
                  <a:pt x="405" y="512"/>
                  <a:pt x="416" y="501"/>
                  <a:pt x="416" y="488"/>
                </a:cubicBezTo>
                <a:cubicBezTo>
                  <a:pt x="416" y="475"/>
                  <a:pt x="405" y="464"/>
                  <a:pt x="392" y="464"/>
                </a:cubicBezTo>
                <a:lnTo>
                  <a:pt x="320" y="464"/>
                </a:lnTo>
                <a:lnTo>
                  <a:pt x="304" y="416"/>
                </a:lnTo>
                <a:lnTo>
                  <a:pt x="448" y="416"/>
                </a:lnTo>
                <a:cubicBezTo>
                  <a:pt x="483" y="416"/>
                  <a:pt x="512" y="387"/>
                  <a:pt x="512" y="352"/>
                </a:cubicBezTo>
                <a:lnTo>
                  <a:pt x="512" y="96"/>
                </a:lnTo>
                <a:cubicBezTo>
                  <a:pt x="512" y="61"/>
                  <a:pt x="483" y="32"/>
                  <a:pt x="448" y="32"/>
                </a:cubicBezTo>
                <a:lnTo>
                  <a:pt x="64" y="32"/>
                </a:lnTo>
                <a:close/>
              </a:path>
            </a:pathLst>
          </a:custGeom>
          <a:solidFill>
            <a:srgbClr val="0B5D5E"/>
          </a:solidFill>
          <a:ln>
            <a:noFill/>
          </a:ln>
        </p:spPr>
      </p:sp>
      <p:sp>
        <p:nvSpPr>
          <p:cNvPr id="15" name="flow3-title"/>
          <p:cNvSpPr txBox="1"/>
          <p:nvPr/>
        </p:nvSpPr>
        <p:spPr>
          <a:xfrm>
            <a:off x="6172200" y="2819400"/>
            <a:ext cx="2095500" cy="27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500" b="1" noProof="1">
                <a:solidFill>
                  <a:srgbClr val="172526"/>
                </a:solidFill>
                <a:latin typeface="Arial"/>
                <a:ea typeface="Arial"/>
              </a:rPr>
              <a:t>3. Интерфейс</a:t>
            </a:r>
            <a:endParaRPr lang="en-US" sz="1500" noProof="1"/>
          </a:p>
        </p:txBody>
      </p:sp>
      <p:sp>
        <p:nvSpPr>
          <p:cNvPr id="16" name="flow3-note"/>
          <p:cNvSpPr txBox="1"/>
          <p:nvPr/>
        </p:nvSpPr>
        <p:spPr>
          <a:xfrm>
            <a:off x="6172200" y="3175000"/>
            <a:ext cx="2095500" cy="850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35000"/>
              </a:lnSpc>
            </a:pPr>
            <a:r>
              <a:rPr lang="en-US" sz="1200" noProof="1">
                <a:solidFill>
                  <a:srgbClr val="657475"/>
                </a:solidFill>
                <a:latin typeface="Arial"/>
                <a:ea typeface="Arial"/>
              </a:rPr>
              <a:t>Статус, изображения дефектов, счётчики, предупреждения и журнал событий.</a:t>
            </a:r>
            <a:endParaRPr lang="en-US" sz="1200" noProof="1"/>
          </a:p>
        </p:txBody>
      </p:sp>
      <p:sp>
        <p:nvSpPr>
          <p:cNvPr id="17" name="arrow3"/>
          <p:cNvSpPr/>
          <p:nvPr>
            <p:extLst>
              <p:ext uri="{F5677B7D-0D2A-4D9B-9A5C-6D8D7D0E5A5D}">
                <pptd:line xmlns="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encoding="base64url">eyJ2aWV3Qm94IjpbNDAsMV0sInBvaW50cyI6IjAsMCA0MCwwIn0</pptd:line>
              </p:ext>
            </p:extLst>
          </p:nvPr>
        </p:nvSpPr>
        <p:spPr>
          <a:xfrm>
            <a:off x="8995699" y="2514600"/>
            <a:ext cx="508000" cy="12700"/>
          </a:xfrm>
          <a:custGeom>
            <a:avLst/>
            <a:gdLst/>
            <a:ahLst/>
            <a:cxnLst/>
            <a:rect l="l" t="t" r="r" b="b"/>
            <a:pathLst>
              <a:path w="40" h="1">
                <a:moveTo>
                  <a:pt x="0" y="0"/>
                </a:moveTo>
                <a:lnTo>
                  <a:pt x="40" y="0"/>
                </a:lnTo>
              </a:path>
            </a:pathLst>
          </a:custGeom>
          <a:noFill/>
          <a:ln w="25400" cap="rnd">
            <a:solidFill>
              <a:srgbClr val="8BBDB9"/>
            </a:solidFill>
            <a:round/>
            <a:tailEnd type="stealth"/>
          </a:ln>
        </p:spPr>
      </p:sp>
      <p:sp>
        <p:nvSpPr>
          <p:cNvPr id="18" name="flow4-icon"/>
          <p:cNvSpPr/>
          <p:nvPr>
            <p:extLst>
              <p:ext uri="{F5677B7D-0D2A-4D9B-9A5C-6D8D7D0E5A5D}">
                <pptd:icon xmlns="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encoding="base64url">eyJpY29uTmFtZSI6ImZhczpnZWFycyJ9</pptd:icon>
              </p:ext>
            </p:extLst>
          </p:nvPr>
        </p:nvSpPr>
        <p:spPr>
          <a:xfrm>
            <a:off x="9605298" y="2311400"/>
            <a:ext cx="508000" cy="381000"/>
          </a:xfrm>
          <a:custGeom>
            <a:avLst/>
            <a:gdLst/>
            <a:ahLst/>
            <a:cxnLst/>
            <a:rect l="l" t="t" r="r" b="b"/>
            <a:pathLst>
              <a:path w="640" h="512">
                <a:moveTo>
                  <a:pt x="416" y="211"/>
                </a:moveTo>
                <a:cubicBezTo>
                  <a:pt x="428" y="207"/>
                  <a:pt x="441" y="213"/>
                  <a:pt x="446" y="224"/>
                </a:cubicBezTo>
                <a:lnTo>
                  <a:pt x="465" y="262"/>
                </a:lnTo>
                <a:cubicBezTo>
                  <a:pt x="475" y="263"/>
                  <a:pt x="485" y="266"/>
                  <a:pt x="495" y="270"/>
                </a:cubicBezTo>
                <a:lnTo>
                  <a:pt x="530" y="247"/>
                </a:lnTo>
                <a:cubicBezTo>
                  <a:pt x="540" y="240"/>
                  <a:pt x="554" y="241"/>
                  <a:pt x="563" y="250"/>
                </a:cubicBezTo>
                <a:lnTo>
                  <a:pt x="582" y="269"/>
                </a:lnTo>
                <a:cubicBezTo>
                  <a:pt x="591" y="278"/>
                  <a:pt x="593" y="292"/>
                  <a:pt x="586" y="303"/>
                </a:cubicBezTo>
                <a:lnTo>
                  <a:pt x="562" y="337"/>
                </a:lnTo>
                <a:cubicBezTo>
                  <a:pt x="564" y="342"/>
                  <a:pt x="566" y="347"/>
                  <a:pt x="567" y="352"/>
                </a:cubicBezTo>
                <a:cubicBezTo>
                  <a:pt x="569" y="357"/>
                  <a:pt x="570" y="362"/>
                  <a:pt x="570" y="367"/>
                </a:cubicBezTo>
                <a:lnTo>
                  <a:pt x="608" y="386"/>
                </a:lnTo>
                <a:cubicBezTo>
                  <a:pt x="619" y="392"/>
                  <a:pt x="625" y="404"/>
                  <a:pt x="622" y="416"/>
                </a:cubicBezTo>
                <a:lnTo>
                  <a:pt x="615" y="443"/>
                </a:lnTo>
                <a:cubicBezTo>
                  <a:pt x="612" y="455"/>
                  <a:pt x="600" y="463"/>
                  <a:pt x="588" y="462"/>
                </a:cubicBezTo>
                <a:lnTo>
                  <a:pt x="546" y="459"/>
                </a:lnTo>
                <a:cubicBezTo>
                  <a:pt x="539" y="468"/>
                  <a:pt x="532" y="475"/>
                  <a:pt x="524" y="481"/>
                </a:cubicBezTo>
                <a:lnTo>
                  <a:pt x="527" y="523"/>
                </a:lnTo>
                <a:cubicBezTo>
                  <a:pt x="527" y="536"/>
                  <a:pt x="519" y="547"/>
                  <a:pt x="507" y="551"/>
                </a:cubicBezTo>
                <a:lnTo>
                  <a:pt x="481" y="558"/>
                </a:lnTo>
                <a:cubicBezTo>
                  <a:pt x="469" y="561"/>
                  <a:pt x="456" y="555"/>
                  <a:pt x="450" y="544"/>
                </a:cubicBezTo>
                <a:lnTo>
                  <a:pt x="432" y="506"/>
                </a:lnTo>
                <a:cubicBezTo>
                  <a:pt x="421" y="505"/>
                  <a:pt x="411" y="502"/>
                  <a:pt x="402" y="498"/>
                </a:cubicBezTo>
                <a:lnTo>
                  <a:pt x="367" y="521"/>
                </a:lnTo>
                <a:cubicBezTo>
                  <a:pt x="356" y="528"/>
                  <a:pt x="342" y="527"/>
                  <a:pt x="334" y="518"/>
                </a:cubicBezTo>
                <a:lnTo>
                  <a:pt x="314" y="499"/>
                </a:lnTo>
                <a:cubicBezTo>
                  <a:pt x="305" y="490"/>
                  <a:pt x="304" y="476"/>
                  <a:pt x="311" y="466"/>
                </a:cubicBezTo>
                <a:lnTo>
                  <a:pt x="334" y="431"/>
                </a:lnTo>
                <a:cubicBezTo>
                  <a:pt x="332" y="426"/>
                  <a:pt x="331" y="421"/>
                  <a:pt x="329" y="416"/>
                </a:cubicBezTo>
                <a:cubicBezTo>
                  <a:pt x="328" y="411"/>
                  <a:pt x="327" y="406"/>
                  <a:pt x="326" y="401"/>
                </a:cubicBezTo>
                <a:lnTo>
                  <a:pt x="289" y="382"/>
                </a:lnTo>
                <a:cubicBezTo>
                  <a:pt x="277" y="376"/>
                  <a:pt x="272" y="364"/>
                  <a:pt x="275" y="352"/>
                </a:cubicBezTo>
                <a:lnTo>
                  <a:pt x="282" y="325"/>
                </a:lnTo>
                <a:cubicBezTo>
                  <a:pt x="285" y="313"/>
                  <a:pt x="296" y="305"/>
                  <a:pt x="309" y="306"/>
                </a:cubicBezTo>
                <a:lnTo>
                  <a:pt x="351" y="309"/>
                </a:lnTo>
                <a:cubicBezTo>
                  <a:pt x="357" y="300"/>
                  <a:pt x="365" y="293"/>
                  <a:pt x="373" y="287"/>
                </a:cubicBezTo>
                <a:lnTo>
                  <a:pt x="370" y="245"/>
                </a:lnTo>
                <a:cubicBezTo>
                  <a:pt x="369" y="232"/>
                  <a:pt x="377" y="221"/>
                  <a:pt x="390" y="218"/>
                </a:cubicBezTo>
                <a:lnTo>
                  <a:pt x="416" y="211"/>
                </a:lnTo>
                <a:close/>
                <a:moveTo>
                  <a:pt x="448" y="340"/>
                </a:moveTo>
                <a:cubicBezTo>
                  <a:pt x="424" y="340"/>
                  <a:pt x="404" y="360"/>
                  <a:pt x="404" y="384"/>
                </a:cubicBezTo>
                <a:cubicBezTo>
                  <a:pt x="404" y="408"/>
                  <a:pt x="424" y="428"/>
                  <a:pt x="449" y="428"/>
                </a:cubicBezTo>
                <a:cubicBezTo>
                  <a:pt x="473" y="428"/>
                  <a:pt x="492" y="408"/>
                  <a:pt x="492" y="384"/>
                </a:cubicBezTo>
                <a:cubicBezTo>
                  <a:pt x="492" y="360"/>
                  <a:pt x="473" y="340"/>
                  <a:pt x="448" y="340"/>
                </a:cubicBezTo>
                <a:close/>
              </a:path>
              <a:path w="640" h="512">
                <a:moveTo>
                  <a:pt x="225" y="-45"/>
                </a:moveTo>
                <a:lnTo>
                  <a:pt x="251" y="-38"/>
                </a:lnTo>
                <a:cubicBezTo>
                  <a:pt x="263" y="-35"/>
                  <a:pt x="271" y="-24"/>
                  <a:pt x="271" y="-11"/>
                </a:cubicBezTo>
                <a:lnTo>
                  <a:pt x="268" y="30"/>
                </a:lnTo>
                <a:cubicBezTo>
                  <a:pt x="276" y="37"/>
                  <a:pt x="284" y="44"/>
                  <a:pt x="290" y="53"/>
                </a:cubicBezTo>
                <a:lnTo>
                  <a:pt x="332" y="50"/>
                </a:lnTo>
                <a:cubicBezTo>
                  <a:pt x="344" y="49"/>
                  <a:pt x="356" y="57"/>
                  <a:pt x="359" y="69"/>
                </a:cubicBezTo>
                <a:lnTo>
                  <a:pt x="366" y="96"/>
                </a:lnTo>
                <a:cubicBezTo>
                  <a:pt x="369" y="108"/>
                  <a:pt x="364" y="120"/>
                  <a:pt x="352" y="126"/>
                </a:cubicBezTo>
                <a:lnTo>
                  <a:pt x="315" y="145"/>
                </a:lnTo>
                <a:cubicBezTo>
                  <a:pt x="314" y="150"/>
                  <a:pt x="313" y="155"/>
                  <a:pt x="312" y="160"/>
                </a:cubicBezTo>
                <a:cubicBezTo>
                  <a:pt x="310" y="165"/>
                  <a:pt x="308" y="170"/>
                  <a:pt x="307" y="174"/>
                </a:cubicBezTo>
                <a:lnTo>
                  <a:pt x="330" y="209"/>
                </a:lnTo>
                <a:cubicBezTo>
                  <a:pt x="337" y="220"/>
                  <a:pt x="335" y="234"/>
                  <a:pt x="327" y="243"/>
                </a:cubicBezTo>
                <a:lnTo>
                  <a:pt x="307" y="262"/>
                </a:lnTo>
                <a:cubicBezTo>
                  <a:pt x="298" y="271"/>
                  <a:pt x="285" y="272"/>
                  <a:pt x="274" y="265"/>
                </a:cubicBezTo>
                <a:lnTo>
                  <a:pt x="239" y="242"/>
                </a:lnTo>
                <a:cubicBezTo>
                  <a:pt x="230" y="246"/>
                  <a:pt x="219" y="249"/>
                  <a:pt x="209" y="250"/>
                </a:cubicBezTo>
                <a:lnTo>
                  <a:pt x="191" y="288"/>
                </a:lnTo>
                <a:cubicBezTo>
                  <a:pt x="185" y="299"/>
                  <a:pt x="172" y="305"/>
                  <a:pt x="160" y="302"/>
                </a:cubicBezTo>
                <a:lnTo>
                  <a:pt x="134" y="295"/>
                </a:lnTo>
                <a:cubicBezTo>
                  <a:pt x="122" y="291"/>
                  <a:pt x="114" y="280"/>
                  <a:pt x="114" y="267"/>
                </a:cubicBezTo>
                <a:lnTo>
                  <a:pt x="117" y="225"/>
                </a:lnTo>
                <a:cubicBezTo>
                  <a:pt x="109" y="219"/>
                  <a:pt x="101" y="212"/>
                  <a:pt x="95" y="203"/>
                </a:cubicBezTo>
                <a:lnTo>
                  <a:pt x="53" y="206"/>
                </a:lnTo>
                <a:cubicBezTo>
                  <a:pt x="41" y="207"/>
                  <a:pt x="29" y="199"/>
                  <a:pt x="26" y="187"/>
                </a:cubicBezTo>
                <a:lnTo>
                  <a:pt x="19" y="160"/>
                </a:lnTo>
                <a:cubicBezTo>
                  <a:pt x="16" y="148"/>
                  <a:pt x="21" y="136"/>
                  <a:pt x="33" y="130"/>
                </a:cubicBezTo>
                <a:lnTo>
                  <a:pt x="70" y="111"/>
                </a:lnTo>
                <a:cubicBezTo>
                  <a:pt x="71" y="106"/>
                  <a:pt x="72" y="101"/>
                  <a:pt x="73" y="96"/>
                </a:cubicBezTo>
                <a:cubicBezTo>
                  <a:pt x="75" y="91"/>
                  <a:pt x="76" y="86"/>
                  <a:pt x="78" y="81"/>
                </a:cubicBezTo>
                <a:lnTo>
                  <a:pt x="55" y="47"/>
                </a:lnTo>
                <a:cubicBezTo>
                  <a:pt x="48" y="36"/>
                  <a:pt x="50" y="22"/>
                  <a:pt x="58" y="13"/>
                </a:cubicBezTo>
                <a:lnTo>
                  <a:pt x="78" y="-6"/>
                </a:lnTo>
                <a:cubicBezTo>
                  <a:pt x="87" y="-15"/>
                  <a:pt x="100" y="-16"/>
                  <a:pt x="111" y="-9"/>
                </a:cubicBezTo>
                <a:lnTo>
                  <a:pt x="146" y="14"/>
                </a:lnTo>
                <a:cubicBezTo>
                  <a:pt x="155" y="10"/>
                  <a:pt x="165" y="7"/>
                  <a:pt x="176" y="6"/>
                </a:cubicBezTo>
                <a:lnTo>
                  <a:pt x="194" y="-32"/>
                </a:lnTo>
                <a:cubicBezTo>
                  <a:pt x="200" y="-43"/>
                  <a:pt x="213" y="-49"/>
                  <a:pt x="225" y="-45"/>
                </a:cubicBezTo>
                <a:close/>
                <a:moveTo>
                  <a:pt x="192" y="84"/>
                </a:moveTo>
                <a:cubicBezTo>
                  <a:pt x="168" y="84"/>
                  <a:pt x="148" y="104"/>
                  <a:pt x="148" y="128"/>
                </a:cubicBezTo>
                <a:cubicBezTo>
                  <a:pt x="148" y="152"/>
                  <a:pt x="168" y="172"/>
                  <a:pt x="192" y="172"/>
                </a:cubicBezTo>
                <a:cubicBezTo>
                  <a:pt x="217" y="172"/>
                  <a:pt x="236" y="152"/>
                  <a:pt x="236" y="128"/>
                </a:cubicBezTo>
                <a:cubicBezTo>
                  <a:pt x="236" y="104"/>
                  <a:pt x="217" y="84"/>
                  <a:pt x="192" y="84"/>
                </a:cubicBezTo>
                <a:close/>
              </a:path>
            </a:pathLst>
          </a:custGeom>
          <a:solidFill>
            <a:srgbClr val="0B5D5E"/>
          </a:solidFill>
          <a:ln>
            <a:noFill/>
          </a:ln>
        </p:spPr>
      </p:sp>
      <p:sp>
        <p:nvSpPr>
          <p:cNvPr id="19" name="flow4-title"/>
          <p:cNvSpPr txBox="1"/>
          <p:nvPr/>
        </p:nvSpPr>
        <p:spPr>
          <a:xfrm>
            <a:off x="8953500" y="2819400"/>
            <a:ext cx="2628900" cy="27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500" b="1" noProof="1">
                <a:solidFill>
                  <a:srgbClr val="172526"/>
                </a:solidFill>
                <a:latin typeface="Arial"/>
                <a:ea typeface="Arial"/>
              </a:rPr>
              <a:t>4. ПЛК и толкатель</a:t>
            </a:r>
            <a:endParaRPr lang="en-US" sz="1500" noProof="1"/>
          </a:p>
        </p:txBody>
      </p:sp>
      <p:sp>
        <p:nvSpPr>
          <p:cNvPr id="20" name="flow4-note"/>
          <p:cNvSpPr txBox="1"/>
          <p:nvPr/>
        </p:nvSpPr>
        <p:spPr>
          <a:xfrm>
            <a:off x="8953500" y="3175000"/>
            <a:ext cx="2628900" cy="850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35000"/>
              </a:lnSpc>
            </a:pPr>
            <a:r>
              <a:rPr lang="en-US" sz="1200" noProof="1">
                <a:solidFill>
                  <a:srgbClr val="657475"/>
                </a:solidFill>
                <a:latin typeface="Arial"/>
                <a:ea typeface="Arial"/>
              </a:rPr>
              <a:t>Удаление дефектного лотка, подтверждение датчиком; качественная продукция идёт дальше.</a:t>
            </a:r>
            <a:endParaRPr lang="en-US" sz="1200" noProof="1"/>
          </a:p>
        </p:txBody>
      </p:sp>
      <p:sp>
        <p:nvSpPr>
          <p:cNvPr id="21" name="roles-line"/>
          <p:cNvSpPr/>
          <p:nvPr>
            <p:extLst>
              <p:ext uri="{F5677B7D-0D2A-4D9B-9A5C-6D8D7D0E5A5D}">
                <pptd:line xmlns="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encoding="base64url">eyJ2aWV3Qm94IjpbODY0LDFdLCJwb2ludHMiOiIwLDAgODY0LDAifQ</pptd:line>
              </p:ext>
            </p:extLst>
          </p:nvPr>
        </p:nvSpPr>
        <p:spPr>
          <a:xfrm>
            <a:off x="609600" y="4279900"/>
            <a:ext cx="10972800" cy="12700"/>
          </a:xfrm>
          <a:custGeom>
            <a:avLst/>
            <a:gdLst/>
            <a:ahLst/>
            <a:cxnLst/>
            <a:rect l="l" t="t" r="r" b="b"/>
            <a:pathLst>
              <a:path w="864" h="1">
                <a:moveTo>
                  <a:pt x="0" y="0"/>
                </a:moveTo>
                <a:lnTo>
                  <a:pt x="864" y="0"/>
                </a:lnTo>
              </a:path>
            </a:pathLst>
          </a:custGeom>
          <a:noFill/>
          <a:ln w="12700" cap="rnd">
            <a:solidFill>
              <a:srgbClr val="D9E2E2"/>
            </a:solidFill>
            <a:round/>
          </a:ln>
        </p:spPr>
      </p:sp>
      <p:sp>
        <p:nvSpPr>
          <p:cNvPr id="22" name="operator-head"/>
          <p:cNvSpPr txBox="1"/>
          <p:nvPr/>
        </p:nvSpPr>
        <p:spPr>
          <a:xfrm>
            <a:off x="609600" y="4533900"/>
            <a:ext cx="50165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100" b="1" kern="0" spc="110" noProof="1">
                <a:solidFill>
                  <a:srgbClr val="0B5D5E"/>
                </a:solidFill>
                <a:latin typeface="Arial"/>
                <a:ea typeface="Arial"/>
              </a:rPr>
              <a:t>ОПЕРАТОР • КОНТРОЛЬ ИСКЛЮЧЕНИЙ</a:t>
            </a:r>
            <a:endParaRPr lang="en-US" sz="1100" noProof="1"/>
          </a:p>
        </p:txBody>
      </p:sp>
      <p:sp>
        <p:nvSpPr>
          <p:cNvPr id="23" name="operator"/>
          <p:cNvSpPr txBox="1"/>
          <p:nvPr/>
        </p:nvSpPr>
        <p:spPr>
          <a:xfrm>
            <a:off x="609600" y="4889500"/>
            <a:ext cx="5016500" cy="1104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45000"/>
              </a:lnSpc>
            </a:pPr>
            <a:r>
              <a:rPr lang="en-US" sz="1200" noProof="1">
                <a:solidFill>
                  <a:srgbClr val="172526"/>
                </a:solidFill>
                <a:latin typeface="Arial"/>
                <a:ea typeface="Arial"/>
              </a:rPr>
              <a:t>• следит за состоянием системы и предупреждениями</a:t>
            </a:r>
            <a:endParaRPr lang="en-US" sz="1200" noProof="1"/>
          </a:p>
          <a:p>
            <a:pPr>
              <a:lnSpc>
                <a:spcPct val="145000"/>
              </a:lnSpc>
            </a:pPr>
            <a:r>
              <a:rPr lang="en-US" sz="1200" noProof="1">
                <a:solidFill>
                  <a:srgbClr val="172526"/>
                </a:solidFill>
                <a:latin typeface="Arial"/>
                <a:ea typeface="Arial"/>
              </a:rPr>
              <a:t>• проверяет отбракованные лотки и отмечает ошибки</a:t>
            </a:r>
            <a:endParaRPr lang="en-US" sz="1200" noProof="1"/>
          </a:p>
          <a:p>
            <a:pPr>
              <a:lnSpc>
                <a:spcPct val="145000"/>
              </a:lnSpc>
            </a:pPr>
            <a:r>
              <a:rPr lang="en-US" sz="1200" noProof="1">
                <a:solidFill>
                  <a:srgbClr val="172526"/>
                </a:solidFill>
                <a:latin typeface="Arial"/>
                <a:ea typeface="Arial"/>
              </a:rPr>
              <a:t>• проводит выборочный контроль основной линии</a:t>
            </a:r>
            <a:endParaRPr lang="en-US" sz="1200" noProof="1"/>
          </a:p>
          <a:p>
            <a:pPr>
              <a:lnSpc>
                <a:spcPct val="145000"/>
              </a:lnSpc>
            </a:pPr>
            <a:r>
              <a:rPr lang="en-US" sz="1200" noProof="1">
                <a:solidFill>
                  <a:srgbClr val="172526"/>
                </a:solidFill>
                <a:latin typeface="Arial"/>
                <a:ea typeface="Arial"/>
              </a:rPr>
              <a:t>• сообщает о загрязнении камеры и сбоях оборудования</a:t>
            </a:r>
            <a:endParaRPr lang="en-US" sz="1200" noProof="1"/>
          </a:p>
        </p:txBody>
      </p:sp>
      <p:sp>
        <p:nvSpPr>
          <p:cNvPr id="24" name="mid-sep"/>
          <p:cNvSpPr/>
          <p:nvPr>
            <p:extLst>
              <p:ext uri="{F5677B7D-0D2A-4D9B-9A5C-6D8D7D0E5A5D}">
                <pptd:line xmlns="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encoding="base64url">eyJ2aWV3Qm94IjpbMSwxMTRdLCJwb2ludHMiOiIwLDAgMCwxMTQifQ</pptd:line>
              </p:ext>
            </p:extLst>
          </p:nvPr>
        </p:nvSpPr>
        <p:spPr>
          <a:xfrm>
            <a:off x="6032500" y="4546600"/>
            <a:ext cx="12700" cy="1447800"/>
          </a:xfrm>
          <a:custGeom>
            <a:avLst/>
            <a:gdLst/>
            <a:ahLst/>
            <a:cxnLst/>
            <a:rect l="l" t="t" r="r" b="b"/>
            <a:pathLst>
              <a:path w="1" h="114">
                <a:moveTo>
                  <a:pt x="0" y="0"/>
                </a:moveTo>
                <a:lnTo>
                  <a:pt x="0" y="114"/>
                </a:lnTo>
              </a:path>
            </a:pathLst>
          </a:custGeom>
          <a:noFill/>
          <a:ln w="12700" cap="rnd">
            <a:solidFill>
              <a:srgbClr val="D9E2E2"/>
            </a:solidFill>
            <a:round/>
          </a:ln>
        </p:spPr>
      </p:sp>
      <p:sp>
        <p:nvSpPr>
          <p:cNvPr id="25" name="curator-head"/>
          <p:cNvSpPr txBox="1"/>
          <p:nvPr/>
        </p:nvSpPr>
        <p:spPr>
          <a:xfrm>
            <a:off x="6477000" y="4533900"/>
            <a:ext cx="51054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100" b="1" kern="0" spc="110" noProof="1">
                <a:solidFill>
                  <a:srgbClr val="0B5D5E"/>
                </a:solidFill>
                <a:latin typeface="Arial"/>
                <a:ea typeface="Arial"/>
              </a:rPr>
              <a:t>КУРАТОР / КАЧЕСТО + DS • УПРАВЛЕНИЕ</a:t>
            </a:r>
            <a:endParaRPr lang="en-US" sz="1100" noProof="1"/>
          </a:p>
        </p:txBody>
      </p:sp>
      <p:sp>
        <p:nvSpPr>
          <p:cNvPr id="26" name="curator"/>
          <p:cNvSpPr txBox="1"/>
          <p:nvPr/>
        </p:nvSpPr>
        <p:spPr>
          <a:xfrm>
            <a:off x="6477000" y="4889500"/>
            <a:ext cx="5105400" cy="1104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45000"/>
              </a:lnSpc>
            </a:pPr>
            <a:r>
              <a:rPr lang="en-US" sz="1200" noProof="1">
                <a:solidFill>
                  <a:srgbClr val="172526"/>
                </a:solidFill>
                <a:latin typeface="Arial"/>
                <a:ea typeface="Arial"/>
              </a:rPr>
              <a:t>• технолог утверждает норму дефекта и разбирает споры</a:t>
            </a:r>
            <a:endParaRPr lang="en-US" sz="1200" noProof="1"/>
          </a:p>
          <a:p>
            <a:pPr>
              <a:lnSpc>
                <a:spcPct val="145000"/>
              </a:lnSpc>
            </a:pPr>
            <a:r>
              <a:rPr lang="en-US" sz="1200" noProof="1">
                <a:solidFill>
                  <a:srgbClr val="172526"/>
                </a:solidFill>
                <a:latin typeface="Arial"/>
                <a:ea typeface="Arial"/>
              </a:rPr>
              <a:t>• куратор контролирует метрики и корректирующие действия</a:t>
            </a:r>
            <a:endParaRPr lang="en-US" sz="1200" noProof="1"/>
          </a:p>
          <a:p>
            <a:pPr>
              <a:lnSpc>
                <a:spcPct val="145000"/>
              </a:lnSpc>
            </a:pPr>
            <a:r>
              <a:rPr lang="en-US" sz="1200" noProof="1">
                <a:solidFill>
                  <a:srgbClr val="172526"/>
                </a:solidFill>
                <a:latin typeface="Arial"/>
                <a:ea typeface="Arial"/>
              </a:rPr>
              <a:t>• DS дообучивает и обновляет модель после проверки данных</a:t>
            </a:r>
            <a:endParaRPr lang="en-US" sz="1200" noProof="1"/>
          </a:p>
          <a:p>
            <a:pPr>
              <a:lnSpc>
                <a:spcPct val="145000"/>
              </a:lnSpc>
            </a:pPr>
            <a:r>
              <a:rPr lang="en-US" sz="1200" noProof="1">
                <a:solidFill>
                  <a:srgbClr val="172526"/>
                </a:solidFill>
                <a:latin typeface="Arial"/>
                <a:ea typeface="Arial"/>
              </a:rPr>
              <a:t>• оператор не изменяет пороги модели самостоятельно</a:t>
            </a:r>
            <a:endParaRPr lang="en-US" sz="1200" noProof="1"/>
          </a:p>
        </p:txBody>
      </p:sp>
      <p:sp>
        <p:nvSpPr>
          <p:cNvPr id="27" name="result-bg"/>
          <p:cNvSpPr/>
          <p:nvPr/>
        </p:nvSpPr>
        <p:spPr>
          <a:xfrm>
            <a:off x="609600" y="6172200"/>
            <a:ext cx="10972800" cy="317500"/>
          </a:xfrm>
          <a:prstGeom prst="rect">
            <a:avLst/>
          </a:prstGeom>
          <a:solidFill>
            <a:srgbClr val="0B5D5E"/>
          </a:solidFill>
          <a:ln>
            <a:noFill/>
          </a:ln>
        </p:spPr>
      </p:sp>
      <p:sp>
        <p:nvSpPr>
          <p:cNvPr id="28" name="result"/>
          <p:cNvSpPr txBox="1"/>
          <p:nvPr/>
        </p:nvSpPr>
        <p:spPr>
          <a:xfrm>
            <a:off x="762000" y="6235700"/>
            <a:ext cx="10668000" cy="190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ctr">
              <a:lnSpc>
                <a:spcPct val="120000"/>
              </a:lnSpc>
            </a:pPr>
            <a:r>
              <a:rPr lang="en-US" sz="1100" b="1" noProof="1">
                <a:solidFill>
                  <a:srgbClr val="FFFFFF"/>
                </a:solidFill>
                <a:latin typeface="Arial"/>
                <a:ea typeface="Arial"/>
              </a:rPr>
              <a:t>При сбое камеры, модели или толкателя: предупреждение + переход на резервный регламент ручного контроля</a:t>
            </a:r>
            <a:endParaRPr lang="en-US" sz="1100" noProof="1"/>
          </a:p>
        </p:txBody>
      </p:sp>
      <p:sp>
        <p:nvSpPr>
          <p:cNvPr id="29" name="source"/>
          <p:cNvSpPr txBox="1"/>
          <p:nvPr/>
        </p:nvSpPr>
        <p:spPr>
          <a:xfrm>
            <a:off x="609600" y="6604000"/>
            <a:ext cx="939800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900" noProof="1">
                <a:solidFill>
                  <a:srgbClr val="657475"/>
                </a:solidFill>
                <a:latin typeface="Arial"/>
                <a:ea typeface="Arial"/>
              </a:rPr>
              <a:t>Штатный режим не требует подтверждения оператором каждого лотка; событие и изображение сохраняются.</a:t>
            </a:r>
            <a:endParaRPr lang="en-US" sz="900" noProof="1"/>
          </a:p>
        </p:txBody>
      </p:sp>
      <p:sp>
        <p:nvSpPr>
          <p:cNvPr id="30" name="page-num"/>
          <p:cNvSpPr txBox="1"/>
          <p:nvPr/>
        </p:nvSpPr>
        <p:spPr>
          <a:xfrm>
            <a:off x="11226800" y="6578600"/>
            <a:ext cx="3556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1000" noProof="1">
                <a:solidFill>
                  <a:srgbClr val="657475"/>
                </a:solidFill>
                <a:latin typeface="Arial"/>
                <a:ea typeface="Arial"/>
              </a:rPr>
              <a:t>02</a:t>
            </a:r>
            <a:endParaRPr lang="en-US" sz="1000" noProof="1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PTD">
  <a:themeElements>
    <a:clrScheme name="PPTD">
      <a:dk1>
        <a:srgbClr val="000000"/>
      </a:dk1>
      <a:lt1>
        <a:srgbClr val="FFFFFF"/>
      </a:lt1>
      <a:dk2>
        <a:srgbClr val="1F2937"/>
      </a:dk2>
      <a:lt2>
        <a:srgbClr val="F3F4F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PTD">
      <a:majorFont>
        <a:latin typeface="MiSans"/>
        <a:ea typeface="MiSans"/>
        <a:cs typeface="MiSans"/>
      </a:majorFont>
      <a:minorFont>
        <a:latin typeface="MiSans"/>
        <a:ea typeface="MiSans"/>
        <a:cs typeface="MiSans"/>
      </a:minorFont>
    </a:fontScheme>
    <a:fmtScheme name="PPTD">
      <a:fillStyleLst>
        <a:solidFill>
          <a:schemeClr val="accent1"/>
        </a:solidFill>
        <a:solidFill>
          <a:schemeClr val="accent2"/>
        </a:solidFill>
        <a:solidFill>
          <a:schemeClr val="accent3"/>
        </a:solidFill>
      </a:fillStyleLst>
      <a:lnStyleLst>
        <a:ln w="6350" cap="flat" cmpd="sng" algn="ctr">
          <a:solidFill>
            <a:schemeClr val="accent1"/>
          </a:solidFill>
          <a:prstDash val="solid"/>
        </a:ln>
        <a:ln w="12700" cap="flat" cmpd="sng" algn="ctr">
          <a:solidFill>
            <a:schemeClr val="accent1"/>
          </a:solidFill>
          <a:prstDash val="solid"/>
        </a:ln>
        <a:ln w="19050" cap="flat" cmpd="sng" algn="ctr">
          <a:solidFill>
            <a:schemeClr val="accent1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lt1"/>
        </a:solidFill>
        <a:solidFill>
          <a:schemeClr val="lt2"/>
        </a:solidFill>
        <a:solidFill>
          <a:schemeClr val="dk1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418</Words>
  <Application>Microsoft Office PowerPoint</Application>
  <PresentationFormat>Широкоэкранный</PresentationFormat>
  <Paragraphs>48</Paragraphs>
  <Slides>2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</vt:i4>
      </vt:variant>
    </vt:vector>
  </HeadingPairs>
  <TitlesOfParts>
    <vt:vector size="6" baseType="lpstr">
      <vt:lpstr>Arial</vt:lpstr>
      <vt:lpstr>Georgia</vt:lpstr>
      <vt:lpstr>MiSans</vt:lpstr>
      <vt:lpstr>PPTD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Обоснование и проектирование решения</dc:title>
  <cp:lastModifiedBy>Tatsyana Patalitsyna</cp:lastModifiedBy>
  <cp:revision>2</cp:revision>
  <dcterms:modified xsi:type="dcterms:W3CDTF">2026-10-29T17:50:03Z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/>
  </property>
</Properties>
</file>