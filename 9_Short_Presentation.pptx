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ПРОЕКТ • КАЧЕСТВО ПРОДУКЦИИ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255000" y="304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Границы: производство → магазин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Ручной контроль конденсата создаёт два источника потерь: простои линии и возвраты продукции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-value"/>
          <p:cNvSpPr txBox="1"/>
          <p:nvPr/>
        </p:nvSpPr>
        <p:spPr>
          <a:xfrm>
            <a:off x="609600" y="18415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50 лотков/мин</a:t>
            </a:r>
            <a:endParaRPr lang="en-US" sz="2500" noProof="1"/>
          </a:p>
        </p:txBody>
      </p:sp>
      <p:sp>
        <p:nvSpPr>
          <p:cNvPr id="7" name="kpi1-label"/>
          <p:cNvSpPr txBox="1"/>
          <p:nvPr/>
        </p:nvSpPr>
        <p:spPr>
          <a:xfrm>
            <a:off x="609600" y="2260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производительность упаковки</a:t>
            </a:r>
            <a:endParaRPr lang="en-US" sz="1100" noProof="1"/>
          </a:p>
        </p:txBody>
      </p:sp>
      <p:sp>
        <p:nvSpPr>
          <p:cNvPr id="8" name="kpi-sep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30353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9" name="kpi2-value"/>
          <p:cNvSpPr txBox="1"/>
          <p:nvPr/>
        </p:nvSpPr>
        <p:spPr>
          <a:xfrm>
            <a:off x="3352800" y="18415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1,2 сек</a:t>
            </a:r>
            <a:endParaRPr lang="en-US" sz="2500" noProof="1"/>
          </a:p>
        </p:txBody>
      </p:sp>
      <p:sp>
        <p:nvSpPr>
          <p:cNvPr id="10" name="kpi2-label"/>
          <p:cNvSpPr txBox="1"/>
          <p:nvPr/>
        </p:nvSpPr>
        <p:spPr>
          <a:xfrm>
            <a:off x="3352800" y="2260600"/>
            <a:ext cx="215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на проверку одного лотка</a:t>
            </a:r>
            <a:endParaRPr lang="en-US" sz="1100" noProof="1"/>
          </a:p>
        </p:txBody>
      </p:sp>
      <p:sp>
        <p:nvSpPr>
          <p:cNvPr id="11" name="kpi-sep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56515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2" name="kpi3-value"/>
          <p:cNvSpPr txBox="1"/>
          <p:nvPr/>
        </p:nvSpPr>
        <p:spPr>
          <a:xfrm>
            <a:off x="5969000" y="18415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 оператора</a:t>
            </a:r>
            <a:endParaRPr lang="en-US" sz="2500" noProof="1"/>
          </a:p>
        </p:txBody>
      </p:sp>
      <p:sp>
        <p:nvSpPr>
          <p:cNvPr id="13" name="kpi3-label"/>
          <p:cNvSpPr txBox="1"/>
          <p:nvPr/>
        </p:nvSpPr>
        <p:spPr>
          <a:xfrm>
            <a:off x="5969000" y="22606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визуально проверяют крышки</a:t>
            </a:r>
            <a:endParaRPr lang="en-US" sz="1100" noProof="1"/>
          </a:p>
        </p:txBody>
      </p:sp>
      <p:sp>
        <p:nvSpPr>
          <p:cNvPr id="14" name="kpi-sep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8255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kpi4-value"/>
          <p:cNvSpPr txBox="1"/>
          <p:nvPr/>
        </p:nvSpPr>
        <p:spPr>
          <a:xfrm>
            <a:off x="8572500" y="1841500"/>
            <a:ext cx="3009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24 000 лотков</a:t>
            </a:r>
            <a:endParaRPr lang="en-US" sz="2500" noProof="1"/>
          </a:p>
        </p:txBody>
      </p:sp>
      <p:sp>
        <p:nvSpPr>
          <p:cNvPr id="16" name="kpi4-label"/>
          <p:cNvSpPr txBox="1"/>
          <p:nvPr/>
        </p:nvSpPr>
        <p:spPr>
          <a:xfrm>
            <a:off x="8572500" y="2260600"/>
            <a:ext cx="3009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за 8-часовую смену</a:t>
            </a:r>
            <a:endParaRPr lang="en-US" sz="1100" noProof="1"/>
          </a:p>
        </p:txBody>
      </p:sp>
      <p:sp>
        <p:nvSpPr>
          <p:cNvPr id="17" name="process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eyJ2aWV3Qm94IjpbNzcwLDFdLCJwb2ludHMiOiIwLDAgNzcwLDAifQ</pptd:line>
              </p:ext>
            </p:extLst>
          </p:nvPr>
        </p:nvSpPr>
        <p:spPr>
          <a:xfrm flipV="1">
            <a:off x="990600" y="3149600"/>
            <a:ext cx="8122920" cy="88900"/>
          </a:xfrm>
          <a:custGeom>
            <a:avLst/>
            <a:gdLst/>
            <a:ahLst/>
            <a:cxnLst/>
            <a:rect l="l" t="t" r="r" b="b"/>
            <a:pathLst>
              <a:path w="770" h="1">
                <a:moveTo>
                  <a:pt x="0" y="0"/>
                </a:moveTo>
                <a:lnTo>
                  <a:pt x="770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8" name="process-icon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eyJpY29uTmFtZSI6ImZhczppbmR1c3RyeSJ9</pptd:icon>
              </p:ext>
            </p:extLst>
          </p:nvPr>
        </p:nvSpPr>
        <p:spPr>
          <a:xfrm>
            <a:off x="6985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14" y="32"/>
                  <a:pt x="0" y="46"/>
                  <a:pt x="0" y="64"/>
                </a:cubicBezTo>
                <a:lnTo>
                  <a:pt x="0" y="432"/>
                </a:lnTo>
                <a:cubicBezTo>
                  <a:pt x="0" y="459"/>
                  <a:pt x="22" y="480"/>
                  <a:pt x="48" y="480"/>
                </a:cubicBezTo>
                <a:lnTo>
                  <a:pt x="464" y="480"/>
                </a:lnTo>
                <a:cubicBezTo>
                  <a:pt x="491" y="480"/>
                  <a:pt x="512" y="459"/>
                  <a:pt x="512" y="432"/>
                </a:cubicBezTo>
                <a:lnTo>
                  <a:pt x="512" y="152"/>
                </a:lnTo>
                <a:cubicBezTo>
                  <a:pt x="512" y="134"/>
                  <a:pt x="493" y="122"/>
                  <a:pt x="477" y="131"/>
                </a:cubicBezTo>
                <a:lnTo>
                  <a:pt x="320" y="215"/>
                </a:lnTo>
                <a:lnTo>
                  <a:pt x="320" y="152"/>
                </a:lnTo>
                <a:cubicBezTo>
                  <a:pt x="320" y="134"/>
                  <a:pt x="301" y="122"/>
                  <a:pt x="285" y="131"/>
                </a:cubicBezTo>
                <a:lnTo>
                  <a:pt x="128" y="215"/>
                </a:lnTo>
                <a:lnTo>
                  <a:pt x="128" y="64"/>
                </a:lnTo>
                <a:cubicBezTo>
                  <a:pt x="128" y="46"/>
                  <a:pt x="114" y="32"/>
                  <a:pt x="96" y="32"/>
                </a:cubicBezTo>
                <a:lnTo>
                  <a:pt x="32" y="32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process-label1"/>
          <p:cNvSpPr txBox="1"/>
          <p:nvPr/>
        </p:nvSpPr>
        <p:spPr>
          <a:xfrm>
            <a:off x="1155700" y="27813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ИЗГОТОВЛЕНИЕ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без изменения рецептур</a:t>
            </a:r>
            <a:endParaRPr lang="en-US" sz="1600" noProof="1"/>
          </a:p>
        </p:txBody>
      </p:sp>
      <p:sp>
        <p:nvSpPr>
          <p:cNvPr id="20" name="process-icon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eyJpY29uTmFtZSI6ImZhczpib3gtb3BlbiJ9</pptd:icon>
              </p:ext>
            </p:extLst>
          </p:nvPr>
        </p:nvSpPr>
        <p:spPr>
          <a:xfrm>
            <a:off x="378714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60" y="237"/>
                </a:moveTo>
                <a:cubicBezTo>
                  <a:pt x="571" y="249"/>
                  <a:pt x="589" y="252"/>
                  <a:pt x="602" y="243"/>
                </a:cubicBezTo>
                <a:cubicBezTo>
                  <a:pt x="617" y="233"/>
                  <a:pt x="621" y="213"/>
                  <a:pt x="611" y="198"/>
                </a:cubicBezTo>
                <a:lnTo>
                  <a:pt x="563" y="126"/>
                </a:lnTo>
                <a:cubicBezTo>
                  <a:pt x="560" y="122"/>
                  <a:pt x="556" y="119"/>
                  <a:pt x="552" y="116"/>
                </a:cubicBezTo>
                <a:lnTo>
                  <a:pt x="351" y="5"/>
                </a:lnTo>
                <a:cubicBezTo>
                  <a:pt x="332" y="-6"/>
                  <a:pt x="309" y="-6"/>
                  <a:pt x="289" y="5"/>
                </a:cubicBezTo>
                <a:lnTo>
                  <a:pt x="89" y="116"/>
                </a:lnTo>
                <a:cubicBezTo>
                  <a:pt x="83" y="119"/>
                  <a:pt x="79" y="123"/>
                  <a:pt x="76" y="129"/>
                </a:cubicBezTo>
                <a:lnTo>
                  <a:pt x="28" y="219"/>
                </a:lnTo>
                <a:cubicBezTo>
                  <a:pt x="15" y="242"/>
                  <a:pt x="24" y="271"/>
                  <a:pt x="47" y="284"/>
                </a:cubicBezTo>
                <a:lnTo>
                  <a:pt x="80" y="301"/>
                </a:lnTo>
                <a:lnTo>
                  <a:pt x="80" y="355"/>
                </a:lnTo>
                <a:cubicBezTo>
                  <a:pt x="80" y="378"/>
                  <a:pt x="93" y="399"/>
                  <a:pt x="113" y="410"/>
                </a:cubicBezTo>
                <a:lnTo>
                  <a:pt x="289" y="510"/>
                </a:lnTo>
                <a:cubicBezTo>
                  <a:pt x="308" y="521"/>
                  <a:pt x="332" y="521"/>
                  <a:pt x="352" y="510"/>
                </a:cubicBezTo>
                <a:lnTo>
                  <a:pt x="528" y="410"/>
                </a:lnTo>
                <a:cubicBezTo>
                  <a:pt x="548" y="399"/>
                  <a:pt x="560" y="378"/>
                  <a:pt x="560" y="355"/>
                </a:cubicBezTo>
                <a:lnTo>
                  <a:pt x="560" y="237"/>
                </a:lnTo>
                <a:close/>
                <a:moveTo>
                  <a:pt x="320" y="227"/>
                </a:moveTo>
                <a:lnTo>
                  <a:pt x="170" y="144"/>
                </a:lnTo>
                <a:lnTo>
                  <a:pt x="320" y="61"/>
                </a:lnTo>
                <a:lnTo>
                  <a:pt x="470" y="144"/>
                </a:lnTo>
                <a:lnTo>
                  <a:pt x="320" y="227"/>
                </a:lnTo>
                <a:close/>
                <a:moveTo>
                  <a:pt x="279" y="278"/>
                </a:moveTo>
                <a:lnTo>
                  <a:pt x="257" y="324"/>
                </a:lnTo>
                <a:lnTo>
                  <a:pt x="92" y="235"/>
                </a:lnTo>
                <a:lnTo>
                  <a:pt x="117" y="188"/>
                </a:lnTo>
                <a:lnTo>
                  <a:pt x="279" y="278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1" name="process-label2"/>
          <p:cNvSpPr txBox="1"/>
          <p:nvPr/>
        </p:nvSpPr>
        <p:spPr>
          <a:xfrm>
            <a:off x="4269740" y="2781300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УПАКОВКА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ручной контроль</a:t>
            </a:r>
            <a:endParaRPr lang="en-US" sz="1600" noProof="1"/>
          </a:p>
        </p:txBody>
      </p:sp>
      <p:sp>
        <p:nvSpPr>
          <p:cNvPr id="22" name="process-icon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eyJpY29uTmFtZSI6ImZhczp0cnVjayJ9</pptd:icon>
              </p:ext>
            </p:extLst>
          </p:nvPr>
        </p:nvSpPr>
        <p:spPr>
          <a:xfrm>
            <a:off x="684911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52" y="32"/>
                </a:lnTo>
                <a:cubicBezTo>
                  <a:pt x="387" y="32"/>
                  <a:pt x="416" y="61"/>
                  <a:pt x="416" y="96"/>
                </a:cubicBezTo>
                <a:lnTo>
                  <a:pt x="416" y="128"/>
                </a:lnTo>
                <a:lnTo>
                  <a:pt x="467" y="128"/>
                </a:lnTo>
                <a:cubicBezTo>
                  <a:pt x="484" y="128"/>
                  <a:pt x="500" y="135"/>
                  <a:pt x="512" y="147"/>
                </a:cubicBezTo>
                <a:lnTo>
                  <a:pt x="557" y="192"/>
                </a:lnTo>
                <a:cubicBezTo>
                  <a:pt x="569" y="204"/>
                  <a:pt x="576" y="220"/>
                  <a:pt x="576" y="237"/>
                </a:cubicBezTo>
                <a:lnTo>
                  <a:pt x="576" y="384"/>
                </a:lnTo>
                <a:cubicBezTo>
                  <a:pt x="576" y="419"/>
                  <a:pt x="547" y="448"/>
                  <a:pt x="512" y="448"/>
                </a:cubicBezTo>
                <a:lnTo>
                  <a:pt x="509" y="448"/>
                </a:lnTo>
                <a:cubicBezTo>
                  <a:pt x="498" y="485"/>
                  <a:pt x="464" y="512"/>
                  <a:pt x="424" y="512"/>
                </a:cubicBezTo>
                <a:cubicBezTo>
                  <a:pt x="384" y="512"/>
                  <a:pt x="350" y="485"/>
                  <a:pt x="339" y="448"/>
                </a:cubicBezTo>
                <a:lnTo>
                  <a:pt x="237" y="448"/>
                </a:lnTo>
                <a:cubicBezTo>
                  <a:pt x="226" y="485"/>
                  <a:pt x="192" y="512"/>
                  <a:pt x="152" y="512"/>
                </a:cubicBezTo>
                <a:cubicBezTo>
                  <a:pt x="112" y="512"/>
                  <a:pt x="78" y="485"/>
                  <a:pt x="67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96"/>
                </a:lnTo>
                <a:close/>
                <a:moveTo>
                  <a:pt x="512" y="288"/>
                </a:moveTo>
                <a:lnTo>
                  <a:pt x="512" y="237"/>
                </a:lnTo>
                <a:lnTo>
                  <a:pt x="467" y="192"/>
                </a:lnTo>
                <a:lnTo>
                  <a:pt x="416" y="192"/>
                </a:lnTo>
                <a:lnTo>
                  <a:pt x="416" y="288"/>
                </a:lnTo>
                <a:lnTo>
                  <a:pt x="512" y="288"/>
                </a:lnTo>
                <a:close/>
                <a:moveTo>
                  <a:pt x="192" y="424"/>
                </a:moveTo>
                <a:cubicBezTo>
                  <a:pt x="192" y="402"/>
                  <a:pt x="174" y="384"/>
                  <a:pt x="152" y="384"/>
                </a:cubicBezTo>
                <a:cubicBezTo>
                  <a:pt x="130" y="384"/>
                  <a:pt x="112" y="402"/>
                  <a:pt x="112" y="424"/>
                </a:cubicBezTo>
                <a:cubicBezTo>
                  <a:pt x="112" y="446"/>
                  <a:pt x="130" y="464"/>
                  <a:pt x="152" y="464"/>
                </a:cubicBezTo>
                <a:cubicBezTo>
                  <a:pt x="174" y="464"/>
                  <a:pt x="192" y="446"/>
                  <a:pt x="192" y="424"/>
                </a:cubicBezTo>
                <a:close/>
                <a:moveTo>
                  <a:pt x="424" y="464"/>
                </a:moveTo>
                <a:cubicBezTo>
                  <a:pt x="446" y="464"/>
                  <a:pt x="464" y="446"/>
                  <a:pt x="464" y="424"/>
                </a:cubicBezTo>
                <a:cubicBezTo>
                  <a:pt x="464" y="402"/>
                  <a:pt x="446" y="384"/>
                  <a:pt x="424" y="384"/>
                </a:cubicBezTo>
                <a:cubicBezTo>
                  <a:pt x="402" y="384"/>
                  <a:pt x="384" y="402"/>
                  <a:pt x="384" y="424"/>
                </a:cubicBezTo>
                <a:cubicBezTo>
                  <a:pt x="384" y="446"/>
                  <a:pt x="402" y="464"/>
                  <a:pt x="424" y="46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3" name="process-label3"/>
          <p:cNvSpPr txBox="1"/>
          <p:nvPr/>
        </p:nvSpPr>
        <p:spPr>
          <a:xfrm>
            <a:off x="7357110" y="2800350"/>
            <a:ext cx="158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ДОСТАВКА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до магазина</a:t>
            </a:r>
            <a:endParaRPr lang="en-US" sz="1600" noProof="1"/>
          </a:p>
        </p:txBody>
      </p:sp>
      <p:sp>
        <p:nvSpPr>
          <p:cNvPr id="24" name="process-store"/>
          <p:cNvSpPr txBox="1"/>
          <p:nvPr/>
        </p:nvSpPr>
        <p:spPr>
          <a:xfrm>
            <a:off x="8966200" y="2727960"/>
            <a:ext cx="13792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C00000"/>
                </a:solidFill>
                <a:latin typeface="Arial"/>
                <a:ea typeface="Arial"/>
              </a:rPr>
              <a:t>МАГАЗИН</a:t>
            </a:r>
            <a:endParaRPr lang="en-US" sz="1600" noProof="1"/>
          </a:p>
        </p:txBody>
      </p:sp>
      <p:sp>
        <p:nvSpPr>
          <p:cNvPr id="25" name="loss-left-head"/>
          <p:cNvSpPr txBox="1"/>
          <p:nvPr/>
        </p:nvSpPr>
        <p:spPr>
          <a:xfrm>
            <a:off x="609600" y="35306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0B5D5E"/>
                </a:solidFill>
                <a:latin typeface="Arial"/>
                <a:ea typeface="Arial"/>
              </a:rPr>
              <a:t>01  КОНДЕНСАТ ОБНАРУЖЕН ВРУЧНУЮ</a:t>
            </a:r>
            <a:endParaRPr lang="en-US" sz="1200" noProof="1"/>
          </a:p>
        </p:txBody>
      </p:sp>
      <p:sp>
        <p:nvSpPr>
          <p:cNvPr id="26" name="loss-left-title"/>
          <p:cNvSpPr txBox="1"/>
          <p:nvPr/>
        </p:nvSpPr>
        <p:spPr>
          <a:xfrm>
            <a:off x="609600" y="3873500"/>
            <a:ext cx="4953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172526"/>
                </a:solidFill>
                <a:latin typeface="Arial"/>
                <a:ea typeface="Arial"/>
              </a:rPr>
              <a:t>Линия останавливается</a:t>
            </a:r>
            <a:endParaRPr lang="en-US" sz="1900" noProof="1"/>
          </a:p>
        </p:txBody>
      </p:sp>
      <p:sp>
        <p:nvSpPr>
          <p:cNvPr id="27" name="stop10-label"/>
          <p:cNvSpPr txBox="1"/>
          <p:nvPr/>
        </p:nvSpPr>
        <p:spPr>
          <a:xfrm>
            <a:off x="609600" y="43434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57475"/>
                </a:solidFill>
                <a:latin typeface="Arial"/>
                <a:ea typeface="Arial"/>
              </a:rPr>
              <a:t>Остановка 10 мин</a:t>
            </a:r>
            <a:endParaRPr lang="en-US" sz="1300" noProof="1"/>
          </a:p>
        </p:txBody>
      </p:sp>
      <p:sp>
        <p:nvSpPr>
          <p:cNvPr id="28" name="stop10-bar"/>
          <p:cNvSpPr/>
          <p:nvPr/>
        </p:nvSpPr>
        <p:spPr>
          <a:xfrm>
            <a:off x="2222500" y="4356100"/>
            <a:ext cx="1016000" cy="203200"/>
          </a:xfrm>
          <a:prstGeom prst="rect">
            <a:avLst/>
          </a:prstGeom>
          <a:solidFill>
            <a:srgbClr val="8BBDB9"/>
          </a:solidFill>
          <a:ln>
            <a:noFill/>
          </a:ln>
        </p:spPr>
      </p:sp>
      <p:sp>
        <p:nvSpPr>
          <p:cNvPr id="29" name="stop10-value"/>
          <p:cNvSpPr txBox="1"/>
          <p:nvPr/>
        </p:nvSpPr>
        <p:spPr>
          <a:xfrm>
            <a:off x="3416300" y="4292600"/>
            <a:ext cx="21463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−500 лотков</a:t>
            </a:r>
            <a:endParaRPr lang="en-US" sz="1800" noProof="1"/>
          </a:p>
        </p:txBody>
      </p:sp>
      <p:sp>
        <p:nvSpPr>
          <p:cNvPr id="30" name="stop30-label"/>
          <p:cNvSpPr txBox="1"/>
          <p:nvPr/>
        </p:nvSpPr>
        <p:spPr>
          <a:xfrm>
            <a:off x="609600" y="48006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57475"/>
                </a:solidFill>
                <a:latin typeface="Arial"/>
                <a:ea typeface="Arial"/>
              </a:rPr>
              <a:t>Остановка 30 мин</a:t>
            </a:r>
            <a:endParaRPr lang="en-US" sz="1300" noProof="1"/>
          </a:p>
        </p:txBody>
      </p:sp>
      <p:sp>
        <p:nvSpPr>
          <p:cNvPr id="31" name="stop30-bar"/>
          <p:cNvSpPr/>
          <p:nvPr/>
        </p:nvSpPr>
        <p:spPr>
          <a:xfrm>
            <a:off x="2222500" y="4813300"/>
            <a:ext cx="3048000" cy="2032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32" name="stop30-value"/>
          <p:cNvSpPr txBox="1"/>
          <p:nvPr/>
        </p:nvSpPr>
        <p:spPr>
          <a:xfrm>
            <a:off x="609600" y="51308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−1 500 лотков задержки выпуска</a:t>
            </a:r>
            <a:endParaRPr lang="en-US" sz="1800" noProof="1"/>
          </a:p>
        </p:txBody>
      </p:sp>
      <p:sp>
        <p:nvSpPr>
          <p:cNvPr id="33" name="losses-separato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eyJ2aWV3Qm94IjpbMSwxNTBdLCJwb2ludHMiOiIwLDAgMCwxNTAifQ</pptd:line>
              </p:ext>
            </p:extLst>
          </p:nvPr>
        </p:nvSpPr>
        <p:spPr>
          <a:xfrm>
            <a:off x="5943600" y="3556000"/>
            <a:ext cx="12700" cy="1905000"/>
          </a:xfrm>
          <a:custGeom>
            <a:avLst/>
            <a:gdLst/>
            <a:ahLst/>
            <a:cxnLst/>
            <a:rect l="l" t="t" r="r" b="b"/>
            <a:pathLst>
              <a:path w="1" h="150">
                <a:moveTo>
                  <a:pt x="0" y="0"/>
                </a:moveTo>
                <a:lnTo>
                  <a:pt x="0" y="15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34" name="loss-right-head"/>
          <p:cNvSpPr txBox="1"/>
          <p:nvPr/>
        </p:nvSpPr>
        <p:spPr>
          <a:xfrm>
            <a:off x="6350000" y="3530600"/>
            <a:ext cx="5232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0B5D5E"/>
                </a:solidFill>
                <a:latin typeface="Arial"/>
                <a:ea typeface="Arial"/>
              </a:rPr>
              <a:t>02  КОНДЕНСАТ ПРОПУЩЕН</a:t>
            </a:r>
            <a:endParaRPr lang="en-US" sz="1200" noProof="1"/>
          </a:p>
        </p:txBody>
      </p:sp>
      <p:sp>
        <p:nvSpPr>
          <p:cNvPr id="35" name="loss-right-title"/>
          <p:cNvSpPr txBox="1"/>
          <p:nvPr/>
        </p:nvSpPr>
        <p:spPr>
          <a:xfrm>
            <a:off x="6350000" y="3873500"/>
            <a:ext cx="52324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172526"/>
                </a:solidFill>
                <a:latin typeface="Arial"/>
                <a:ea typeface="Arial"/>
              </a:rPr>
              <a:t>Потери переносятся дальше:</a:t>
            </a:r>
            <a:endParaRPr lang="en-US" sz="1900" noProof="1"/>
          </a:p>
        </p:txBody>
      </p:sp>
      <p:sp>
        <p:nvSpPr>
          <p:cNvPr id="36" name="shelf-life"/>
          <p:cNvSpPr txBox="1"/>
          <p:nvPr/>
        </p:nvSpPr>
        <p:spPr>
          <a:xfrm>
            <a:off x="6350000" y="4356100"/>
            <a:ext cx="52324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↓ остаточный срок годности</a:t>
            </a:r>
            <a:endParaRPr lang="en-US" sz="1600" noProof="1"/>
          </a:p>
        </p:txBody>
      </p:sp>
      <p:sp>
        <p:nvSpPr>
          <p:cNvPr id="37" name="return-chain"/>
          <p:cNvSpPr txBox="1"/>
          <p:nvPr/>
        </p:nvSpPr>
        <p:spPr>
          <a:xfrm>
            <a:off x="6363970" y="4659630"/>
            <a:ext cx="5232400" cy="801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↓ </a:t>
            </a:r>
            <a:r>
              <a:rPr lang="en-US" sz="1600" b="1" noProof="1">
                <a:solidFill>
                  <a:srgbClr val="172526"/>
                </a:solidFill>
                <a:latin typeface="Arial"/>
                <a:ea typeface="Arial"/>
              </a:rPr>
              <a:t>продажи в магазине падают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400" b="1" noProof="1">
                <a:solidFill>
                  <a:srgbClr val="C00000"/>
                </a:solidFill>
                <a:latin typeface="Arial"/>
                <a:ea typeface="Arial"/>
              </a:rPr>
              <a:t>↑</a:t>
            </a: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600" b="1" noProof="1">
                <a:solidFill>
                  <a:srgbClr val="C00000"/>
                </a:solidFill>
                <a:latin typeface="Arial"/>
                <a:ea typeface="Arial"/>
              </a:rPr>
              <a:t>возвраты, обратная логистика и списания</a:t>
            </a:r>
            <a:endParaRPr lang="en-US" sz="1600" noProof="1"/>
          </a:p>
        </p:txBody>
      </p:sp>
      <p:sp>
        <p:nvSpPr>
          <p:cNvPr id="38" name="objective-bg"/>
          <p:cNvSpPr/>
          <p:nvPr/>
        </p:nvSpPr>
        <p:spPr>
          <a:xfrm>
            <a:off x="609600" y="5765800"/>
            <a:ext cx="10895330" cy="6350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39" name="objective-bar"/>
          <p:cNvSpPr/>
          <p:nvPr/>
        </p:nvSpPr>
        <p:spPr>
          <a:xfrm>
            <a:off x="609600" y="5765800"/>
            <a:ext cx="63500" cy="6350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40" name="objective"/>
          <p:cNvSpPr txBox="1"/>
          <p:nvPr/>
        </p:nvSpPr>
        <p:spPr>
          <a:xfrm>
            <a:off x="850900" y="5854700"/>
            <a:ext cx="10541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Цель проекта: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найти этап возникновения условий для конденсата и снизить число пропущенных лотков, возвратов и незапланированных остановок.</a:t>
            </a:r>
            <a:endParaRPr lang="en-US" sz="1300" noProof="1"/>
          </a:p>
        </p:txBody>
      </p:sp>
      <p:sp>
        <p:nvSpPr>
          <p:cNvPr id="41" name="source"/>
          <p:cNvSpPr txBox="1"/>
          <p:nvPr/>
        </p:nvSpPr>
        <p:spPr>
          <a:xfrm>
            <a:off x="609600" y="65532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исходное описание процесса; расчёт выпуска при 50 лотках/мин.</a:t>
            </a:r>
            <a:endParaRPr lang="en-US" sz="900" noProof="1"/>
          </a:p>
        </p:txBody>
      </p:sp>
      <p:sp>
        <p:nvSpPr>
          <p:cNvPr id="42" name="page-num"/>
          <p:cNvSpPr txBox="1"/>
          <p:nvPr/>
        </p:nvSpPr>
        <p:spPr>
          <a:xfrm>
            <a:off x="11226800" y="6527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1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3 • АНАЛИЗ ДАННЫХ • РЕШЕНИЕ НА ЛИНИИ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318500" y="304800"/>
            <a:ext cx="32639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Видимый конденсат на крышке лотка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Камера выявляет дефект, а толкатель удаляет лоток:
линия продолжает работать без остановки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-value"/>
          <p:cNvSpPr txBox="1"/>
          <p:nvPr/>
        </p:nvSpPr>
        <p:spPr>
          <a:xfrm>
            <a:off x="609600" y="18415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1 лоток / 1,2 сек</a:t>
            </a:r>
            <a:endParaRPr lang="en-US" sz="2500" noProof="1"/>
          </a:p>
        </p:txBody>
      </p:sp>
      <p:sp>
        <p:nvSpPr>
          <p:cNvPr id="7" name="kpi1-label"/>
          <p:cNvSpPr txBox="1"/>
          <p:nvPr/>
        </p:nvSpPr>
        <p:spPr>
          <a:xfrm>
            <a:off x="609600" y="2260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темп поступления на контроль</a:t>
            </a:r>
            <a:endParaRPr lang="en-US" sz="1100" noProof="1"/>
          </a:p>
        </p:txBody>
      </p:sp>
      <p:sp>
        <p:nvSpPr>
          <p:cNvPr id="8" name="sep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33274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9" name="kpi2-value"/>
          <p:cNvSpPr txBox="1"/>
          <p:nvPr/>
        </p:nvSpPr>
        <p:spPr>
          <a:xfrm>
            <a:off x="3683000" y="18415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24 000 лотков</a:t>
            </a:r>
            <a:endParaRPr lang="en-US" sz="2500" noProof="1"/>
          </a:p>
        </p:txBody>
      </p:sp>
      <p:sp>
        <p:nvSpPr>
          <p:cNvPr id="10" name="kpi2-label"/>
          <p:cNvSpPr txBox="1"/>
          <p:nvPr/>
        </p:nvSpPr>
        <p:spPr>
          <a:xfrm>
            <a:off x="3683000" y="2260600"/>
            <a:ext cx="215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за 8-часовую смену</a:t>
            </a:r>
            <a:endParaRPr lang="en-US" sz="1100" noProof="1"/>
          </a:p>
        </p:txBody>
      </p:sp>
      <p:sp>
        <p:nvSpPr>
          <p:cNvPr id="11" name="sep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6223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2" name="kpi3-value"/>
          <p:cNvSpPr txBox="1"/>
          <p:nvPr/>
        </p:nvSpPr>
        <p:spPr>
          <a:xfrm>
            <a:off x="6604000" y="18415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≤ 200 мс</a:t>
            </a:r>
            <a:endParaRPr lang="en-US" sz="2500" noProof="1"/>
          </a:p>
        </p:txBody>
      </p:sp>
      <p:sp>
        <p:nvSpPr>
          <p:cNvPr id="13" name="kpi3-label"/>
          <p:cNvSpPr txBox="1"/>
          <p:nvPr/>
        </p:nvSpPr>
        <p:spPr>
          <a:xfrm>
            <a:off x="6604000" y="2260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проектная цель решения модели</a:t>
            </a:r>
            <a:endParaRPr lang="en-US" sz="1100" noProof="1"/>
          </a:p>
        </p:txBody>
      </p:sp>
      <p:sp>
        <p:nvSpPr>
          <p:cNvPr id="14" name="sep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9144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kpi4-value"/>
          <p:cNvSpPr txBox="1"/>
          <p:nvPr/>
        </p:nvSpPr>
        <p:spPr>
          <a:xfrm>
            <a:off x="9525000" y="1841500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2–3 кадра</a:t>
            </a:r>
            <a:endParaRPr lang="en-US" sz="2500" noProof="1"/>
          </a:p>
        </p:txBody>
      </p:sp>
      <p:sp>
        <p:nvSpPr>
          <p:cNvPr id="16" name="kpi4-label"/>
          <p:cNvSpPr txBox="1"/>
          <p:nvPr/>
        </p:nvSpPr>
        <p:spPr>
          <a:xfrm>
            <a:off x="9525000" y="226060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на один лоток</a:t>
            </a:r>
            <a:endParaRPr lang="en-US" sz="1100" noProof="1"/>
          </a:p>
        </p:txBody>
      </p:sp>
      <p:sp>
        <p:nvSpPr>
          <p:cNvPr id="17" name="flow-head"/>
          <p:cNvSpPr txBox="1"/>
          <p:nvPr/>
        </p:nvSpPr>
        <p:spPr>
          <a:xfrm>
            <a:off x="609600" y="27559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АВТОМАТИЧЕСКИЙ КОНТУР КОНТРОЛЯ</a:t>
            </a:r>
            <a:endParaRPr lang="en-US" sz="1000" noProof="1"/>
          </a:p>
        </p:txBody>
      </p:sp>
      <p:sp>
        <p:nvSpPr>
          <p:cNvPr id="18" name="flow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eyJpY29uTmFtZSI6ImZhczpjYW1lcmEifQ</pptd:icon>
              </p:ext>
            </p:extLst>
          </p:nvPr>
        </p:nvSpPr>
        <p:spPr>
          <a:xfrm>
            <a:off x="6223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flow1-title"/>
          <p:cNvSpPr txBox="1"/>
          <p:nvPr/>
        </p:nvSpPr>
        <p:spPr>
          <a:xfrm>
            <a:off x="609600" y="37338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1. Съёмка</a:t>
            </a:r>
            <a:endParaRPr lang="en-US" sz="1400" noProof="1"/>
          </a:p>
        </p:txBody>
      </p:sp>
      <p:sp>
        <p:nvSpPr>
          <p:cNvPr id="20" name="flow1-note"/>
          <p:cNvSpPr txBox="1"/>
          <p:nvPr/>
        </p:nvSpPr>
        <p:spPr>
          <a:xfrm>
            <a:off x="609600" y="40513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Датчик запуска, камера и управляемая подсветка.</a:t>
            </a:r>
            <a:endParaRPr lang="en-US" sz="1100" noProof="1"/>
          </a:p>
        </p:txBody>
      </p:sp>
      <p:sp>
        <p:nvSpPr>
          <p:cNvPr id="21" name="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eyJ2aWV3Qm94IjpbNDIsMV0sInBvaW50cyI6IjAsMCA0MiwwIn0</pptd:line>
              </p:ext>
            </p:extLst>
          </p:nvPr>
        </p:nvSpPr>
        <p:spPr>
          <a:xfrm>
            <a:off x="23368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22" name="flow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29972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3" name="flow2-title"/>
          <p:cNvSpPr txBox="1"/>
          <p:nvPr/>
        </p:nvSpPr>
        <p:spPr>
          <a:xfrm>
            <a:off x="2984500" y="37338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2. Решение CV</a:t>
            </a:r>
            <a:endParaRPr lang="en-US" sz="1400" noProof="1"/>
          </a:p>
        </p:txBody>
      </p:sp>
      <p:sp>
        <p:nvSpPr>
          <p:cNvPr id="24" name="flow2-note"/>
          <p:cNvSpPr txBox="1"/>
          <p:nvPr/>
        </p:nvSpPr>
        <p:spPr>
          <a:xfrm>
            <a:off x="2984500" y="4051300"/>
            <a:ext cx="177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Локальная YOLO-модель: «норма» / «конденсат».</a:t>
            </a:r>
            <a:endParaRPr lang="en-US" sz="1100" noProof="1"/>
          </a:p>
        </p:txBody>
      </p:sp>
      <p:sp>
        <p:nvSpPr>
          <p:cNvPr id="25" name="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eyJ2aWV3Qm94IjpbNDIsMV0sInBvaW50cyI6IjAsMCA0MiwwIn0</pptd:line>
              </p:ext>
            </p:extLst>
          </p:nvPr>
        </p:nvSpPr>
        <p:spPr>
          <a:xfrm>
            <a:off x="49022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26" name="flow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eyJpY29uTmFtZSI6ImZhczpnZWFycyJ9</pptd:icon>
              </p:ext>
            </p:extLst>
          </p:nvPr>
        </p:nvSpPr>
        <p:spPr>
          <a:xfrm>
            <a:off x="5562600" y="3213100"/>
            <a:ext cx="533400" cy="3937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7" name="flow3-title"/>
          <p:cNvSpPr txBox="1"/>
          <p:nvPr/>
        </p:nvSpPr>
        <p:spPr>
          <a:xfrm>
            <a:off x="5549900" y="3733800"/>
            <a:ext cx="184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3. Отбраковка</a:t>
            </a:r>
            <a:endParaRPr lang="en-US" sz="1400" noProof="1"/>
          </a:p>
        </p:txBody>
      </p:sp>
      <p:sp>
        <p:nvSpPr>
          <p:cNvPr id="28" name="flow3-note"/>
          <p:cNvSpPr txBox="1"/>
          <p:nvPr/>
        </p:nvSpPr>
        <p:spPr>
          <a:xfrm>
            <a:off x="5549900" y="4051300"/>
            <a:ext cx="1841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ПЛК активирует толкатель точного лотка.</a:t>
            </a:r>
            <a:endParaRPr lang="en-US" sz="1100" noProof="1"/>
          </a:p>
        </p:txBody>
      </p:sp>
      <p:sp>
        <p:nvSpPr>
          <p:cNvPr id="29" name="arrow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eyJ2aWV3Qm94IjpbNDIsMV0sInBvaW50cyI6IjAsMCA0MiwwIn0</pptd:line>
              </p:ext>
            </p:extLst>
          </p:nvPr>
        </p:nvSpPr>
        <p:spPr>
          <a:xfrm>
            <a:off x="75184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30" name="flow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81788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31" name="flow4-title"/>
          <p:cNvSpPr txBox="1"/>
          <p:nvPr/>
        </p:nvSpPr>
        <p:spPr>
          <a:xfrm>
            <a:off x="8166100" y="3733800"/>
            <a:ext cx="184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4. Подтверждение</a:t>
            </a:r>
            <a:endParaRPr lang="en-US" sz="1400" noProof="1"/>
          </a:p>
        </p:txBody>
      </p:sp>
      <p:sp>
        <p:nvSpPr>
          <p:cNvPr id="32" name="flow4-note"/>
          <p:cNvSpPr txBox="1"/>
          <p:nvPr/>
        </p:nvSpPr>
        <p:spPr>
          <a:xfrm>
            <a:off x="8166100" y="4051300"/>
            <a:ext cx="1841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Датчик подтверждает удаление дефектного лотка.</a:t>
            </a:r>
            <a:endParaRPr lang="en-US" sz="1100" noProof="1"/>
          </a:p>
        </p:txBody>
      </p:sp>
      <p:sp>
        <p:nvSpPr>
          <p:cNvPr id="33" name="arrow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eyJ2aWV3Qm94IjpbNDIsMV0sInBvaW50cyI6IjAsMCA0MiwwIn0</pptd:line>
              </p:ext>
            </p:extLst>
          </p:nvPr>
        </p:nvSpPr>
        <p:spPr>
          <a:xfrm>
            <a:off x="101346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34" name="flow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107950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35" name="flow5-title"/>
          <p:cNvSpPr txBox="1"/>
          <p:nvPr/>
        </p:nvSpPr>
        <p:spPr>
          <a:xfrm>
            <a:off x="10439400" y="37338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5. Журнал</a:t>
            </a:r>
            <a:endParaRPr lang="en-US" sz="1400" noProof="1"/>
          </a:p>
        </p:txBody>
      </p:sp>
      <p:sp>
        <p:nvSpPr>
          <p:cNvPr id="36" name="flow5-note"/>
          <p:cNvSpPr txBox="1"/>
          <p:nvPr/>
        </p:nvSpPr>
        <p:spPr>
          <a:xfrm>
            <a:off x="10439400" y="4051300"/>
            <a:ext cx="1143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Изображение, партия, решение и версия модели.</a:t>
            </a:r>
            <a:endParaRPr lang="en-US" sz="1100" noProof="1"/>
          </a:p>
        </p:txBody>
      </p:sp>
      <p:sp>
        <p:nvSpPr>
          <p:cNvPr id="37" name="infra-head"/>
          <p:cNvSpPr txBox="1"/>
          <p:nvPr/>
        </p:nvSpPr>
        <p:spPr>
          <a:xfrm>
            <a:off x="609600" y="49911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ПРОИЗВОДСТВЕННАЯ КОНФИГУРАЦИЯ</a:t>
            </a:r>
            <a:endParaRPr lang="en-US" sz="1000" noProof="1"/>
          </a:p>
        </p:txBody>
      </p:sp>
      <p:sp>
        <p:nvSpPr>
          <p:cNvPr id="38" name="infra"/>
          <p:cNvSpPr txBox="1"/>
          <p:nvPr/>
        </p:nvSpPr>
        <p:spPr>
          <a:xfrm>
            <a:off x="609600" y="533400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Базово: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одна камера над линией, 2–5 Мп, глобальный затвор, защита IP65/IP67, поляризованная подсветка.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Локальный контур: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GPU от 8 ГБ, RAM от 32 ГБ, NVMe от 1 ТБ; ПЛК, датчики и ИБП. Облако не требуется.</a:t>
            </a:r>
            <a:endParaRPr lang="en-US" sz="1200" noProof="1"/>
          </a:p>
        </p:txBody>
      </p:sp>
      <p:sp>
        <p:nvSpPr>
          <p:cNvPr id="39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40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Вторая камера - только если стендовый тест покажет, что одна не видит всю крышку или часть дефектов</a:t>
            </a:r>
            <a:endParaRPr lang="en-US" sz="1100" noProof="1"/>
          </a:p>
        </p:txBody>
      </p:sp>
      <p:sp>
        <p:nvSpPr>
          <p:cNvPr id="41" name="source"/>
          <p:cNvSpPr txBox="1"/>
          <p:nvPr/>
        </p:nvSpPr>
        <p:spPr>
          <a:xfrm>
            <a:off x="609600" y="6604000"/>
            <a:ext cx="9652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3. Лимит 200 мс уточняется после замера расстояния до толкателя и скорости конвейера.</a:t>
            </a:r>
            <a:endParaRPr lang="en-US" sz="900" noProof="1"/>
          </a:p>
        </p:txBody>
      </p:sp>
      <p:sp>
        <p:nvSpPr>
          <p:cNvPr id="42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3 • АНАЛИЗ ДАННЫХ • ПРИЁМКА И ЭФФЕКТ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Промышленный запуск - после доказательства качества, стабильной отбраковки и эффектотносительно точки А</a:t>
            </a:r>
            <a:endParaRPr lang="en-US" sz="26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test-head"/>
          <p:cNvSpPr txBox="1"/>
          <p:nvPr/>
        </p:nvSpPr>
        <p:spPr>
          <a:xfrm>
            <a:off x="609600" y="1841500"/>
            <a:ext cx="463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ПАРНОЕ ИСПЫТАНИЕ: ЛЮДИ ↔ КАМЕРА</a:t>
            </a:r>
            <a:endParaRPr lang="en-US" sz="1100" noProof="1"/>
          </a:p>
        </p:txBody>
      </p:sp>
      <p:sp>
        <p:nvSpPr>
          <p:cNvPr id="6" name="test-title"/>
          <p:cNvSpPr txBox="1"/>
          <p:nvPr/>
        </p:nvSpPr>
        <p:spPr>
          <a:xfrm>
            <a:off x="609600" y="2209800"/>
            <a:ext cx="4635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72526"/>
                </a:solidFill>
                <a:latin typeface="Arial"/>
                <a:ea typeface="Arial"/>
              </a:rPr>
              <a:t>1 месяц, сопоставимые периоды</a:t>
            </a:r>
            <a:endParaRPr lang="en-US" sz="1700" noProof="1"/>
          </a:p>
        </p:txBody>
      </p:sp>
      <p:sp>
        <p:nvSpPr>
          <p:cNvPr id="7" name="test-note"/>
          <p:cNvSpPr txBox="1"/>
          <p:nvPr/>
        </p:nvSpPr>
        <p:spPr>
          <a:xfrm>
            <a:off x="609600" y="2628900"/>
            <a:ext cx="4635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Режимы чередуются по неделям. Эталон устанавливают два эксперта по качеству; спорный случай разбирает третий эксперт или технолог.</a:t>
            </a:r>
            <a:endParaRPr lang="en-US" sz="1200" noProof="1"/>
          </a:p>
        </p:txBody>
      </p:sp>
      <p:sp>
        <p:nvSpPr>
          <p:cNvPr id="8" name="sample"/>
          <p:cNvSpPr txBox="1"/>
          <p:nvPr/>
        </p:nvSpPr>
        <p:spPr>
          <a:xfrm>
            <a:off x="609600" y="34544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≥20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производственных смен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≥300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дефектных лотков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≥3 000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лотков без дефекта</a:t>
            </a:r>
            <a:endParaRPr lang="en-US" sz="1300" noProof="1"/>
          </a:p>
        </p:txBody>
      </p:sp>
      <p:sp>
        <p:nvSpPr>
          <p:cNvPr id="9" name="shadow"/>
          <p:cNvSpPr txBox="1"/>
          <p:nvPr/>
        </p:nvSpPr>
        <p:spPr>
          <a:xfrm>
            <a:off x="609600" y="4470400"/>
            <a:ext cx="4635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Сначала теневой режим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без управления толкателем.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Затем автоматическая отбраковка под наблюдением и приёмка.</a:t>
            </a:r>
            <a:endParaRPr lang="en-US" sz="1200" noProof="1"/>
          </a:p>
        </p:txBody>
      </p:sp>
      <p:sp>
        <p:nvSpPr>
          <p:cNvPr id="10" name="economics-head"/>
          <p:cNvSpPr txBox="1"/>
          <p:nvPr/>
        </p:nvSpPr>
        <p:spPr>
          <a:xfrm>
            <a:off x="609600" y="5486400"/>
            <a:ext cx="463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10" noProof="1">
                <a:solidFill>
                  <a:srgbClr val="657475"/>
                </a:solidFill>
                <a:latin typeface="Arial"/>
                <a:ea typeface="Arial"/>
              </a:rPr>
              <a:t>ЭКОНОМИКА ОТНОСИТЕЛЬНО ТОЧКИ А</a:t>
            </a:r>
            <a:endParaRPr lang="en-US" sz="1000" noProof="1"/>
          </a:p>
        </p:txBody>
      </p:sp>
      <p:sp>
        <p:nvSpPr>
          <p:cNvPr id="11" name="economics"/>
          <p:cNvSpPr txBox="1"/>
          <p:nvPr/>
        </p:nvSpPr>
        <p:spPr>
          <a:xfrm>
            <a:off x="609600" y="5816600"/>
            <a:ext cx="4635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Эффект/мес. = снижение потерь − эксплуатация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Окупаемость = CAPEX / эффект в месяц</a:t>
            </a:r>
            <a:endParaRPr lang="en-US" sz="1200" noProof="1"/>
          </a:p>
        </p:txBody>
      </p:sp>
      <p:sp>
        <p:nvSpPr>
          <p:cNvPr id="12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eyJ2aWV3Qm94IjpbMSwzNTRdLCJwb2ludHMiOiIwLDAgMCwzNTQifQ</pptd:line>
              </p:ext>
            </p:extLst>
          </p:nvPr>
        </p:nvSpPr>
        <p:spPr>
          <a:xfrm>
            <a:off x="5651500" y="1854200"/>
            <a:ext cx="12700" cy="4495800"/>
          </a:xfrm>
          <a:custGeom>
            <a:avLst/>
            <a:gdLst/>
            <a:ahLst/>
            <a:cxnLst/>
            <a:rect l="l" t="t" r="r" b="b"/>
            <a:pathLst>
              <a:path w="1" h="354">
                <a:moveTo>
                  <a:pt x="0" y="0"/>
                </a:moveTo>
                <a:lnTo>
                  <a:pt x="0" y="35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3" name="accept-head"/>
          <p:cNvSpPr txBox="1"/>
          <p:nvPr/>
        </p:nvSpPr>
        <p:spPr>
          <a:xfrm>
            <a:off x="6070600" y="1841500"/>
            <a:ext cx="5511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ПРЕДЛАГАЕМЫЕ КРИТЕРИИ ПРИЁМКИ</a:t>
            </a:r>
            <a:endParaRPr lang="en-US" sz="1100" noProof="1"/>
          </a:p>
        </p:txBody>
      </p:sp>
      <p:sp>
        <p:nvSpPr>
          <p:cNvPr id="14" name="metric1"/>
          <p:cNvSpPr txBox="1"/>
          <p:nvPr/>
        </p:nvSpPr>
        <p:spPr>
          <a:xfrm>
            <a:off x="6070600" y="22225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≥99%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полнота обнаружения</a:t>
            </a:r>
            <a:endParaRPr lang="en-US" sz="1600" noProof="1"/>
          </a:p>
        </p:txBody>
      </p:sp>
      <p:sp>
        <p:nvSpPr>
          <p:cNvPr id="15" name="metric2"/>
          <p:cNvSpPr txBox="1"/>
          <p:nvPr/>
        </p:nvSpPr>
        <p:spPr>
          <a:xfrm>
            <a:off x="8978900" y="22225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≥50%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снижение пропусков vs операторы</a:t>
            </a:r>
            <a:endParaRPr lang="en-US" sz="1600" noProof="1"/>
          </a:p>
        </p:txBody>
      </p:sp>
      <p:sp>
        <p:nvSpPr>
          <p:cNvPr id="16" name="metric3"/>
          <p:cNvSpPr txBox="1"/>
          <p:nvPr/>
        </p:nvSpPr>
        <p:spPr>
          <a:xfrm>
            <a:off x="6070600" y="29972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≤1%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ложная отбраковка</a:t>
            </a:r>
            <a:endParaRPr lang="en-US" sz="1600" noProof="1"/>
          </a:p>
        </p:txBody>
      </p:sp>
      <p:sp>
        <p:nvSpPr>
          <p:cNvPr id="17" name="metric4"/>
          <p:cNvSpPr txBox="1"/>
          <p:nvPr/>
        </p:nvSpPr>
        <p:spPr>
          <a:xfrm>
            <a:off x="8978900" y="29972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≥99,5%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успех срабатывания толкателя</a:t>
            </a:r>
            <a:endParaRPr lang="en-US" sz="1600" noProof="1"/>
          </a:p>
        </p:txBody>
      </p:sp>
      <p:sp>
        <p:nvSpPr>
          <p:cNvPr id="18" name="metric5"/>
          <p:cNvSpPr txBox="1"/>
          <p:nvPr/>
        </p:nvSpPr>
        <p:spPr>
          <a:xfrm>
            <a:off x="6070600" y="37719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≤200 мс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программное решение</a:t>
            </a:r>
            <a:endParaRPr lang="en-US" sz="1600" noProof="1"/>
          </a:p>
        </p:txBody>
      </p:sp>
      <p:sp>
        <p:nvSpPr>
          <p:cNvPr id="19" name="metric6"/>
          <p:cNvSpPr txBox="1"/>
          <p:nvPr/>
        </p:nvSpPr>
        <p:spPr>
          <a:xfrm>
            <a:off x="8978900" y="37719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≥99% / 0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доступность / остановки по модели</a:t>
            </a:r>
            <a:endParaRPr lang="en-US" sz="1600" noProof="1"/>
          </a:p>
        </p:txBody>
      </p:sp>
      <p:sp>
        <p:nvSpPr>
          <p:cNvPr id="20" name="timeline-head"/>
          <p:cNvSpPr txBox="1"/>
          <p:nvPr/>
        </p:nvSpPr>
        <p:spPr>
          <a:xfrm>
            <a:off x="6070600" y="4635500"/>
            <a:ext cx="5511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10" noProof="1">
                <a:solidFill>
                  <a:srgbClr val="657475"/>
                </a:solidFill>
                <a:latin typeface="Arial"/>
                <a:ea typeface="Arial"/>
              </a:rPr>
              <a:t>ОРИЕНТИРОВОЧНЫЕ СРОКИ</a:t>
            </a:r>
            <a:endParaRPr lang="en-US" sz="1000" noProof="1"/>
          </a:p>
        </p:txBody>
      </p:sp>
      <p:sp>
        <p:nvSpPr>
          <p:cNvPr id="21" name="time1"/>
          <p:cNvSpPr txBox="1"/>
          <p:nvPr/>
        </p:nvSpPr>
        <p:spPr>
          <a:xfrm>
            <a:off x="6070600" y="4953000"/>
            <a:ext cx="15240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172526"/>
                </a:solidFill>
                <a:latin typeface="Arial"/>
                <a:ea typeface="Arial"/>
              </a:rPr>
              <a:t>6–9 недель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72526"/>
                </a:solidFill>
                <a:latin typeface="Arial"/>
                <a:ea typeface="Arial"/>
              </a:rPr>
              <a:t>данные + первая пригодная модель</a:t>
            </a:r>
            <a:endParaRPr lang="en-US" sz="1100" noProof="1"/>
          </a:p>
        </p:txBody>
      </p:sp>
      <p:sp>
        <p:nvSpPr>
          <p:cNvPr id="22" name="time2"/>
          <p:cNvSpPr txBox="1"/>
          <p:nvPr/>
        </p:nvSpPr>
        <p:spPr>
          <a:xfrm>
            <a:off x="7835900" y="4953000"/>
            <a:ext cx="15240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172526"/>
                </a:solidFill>
                <a:latin typeface="Arial"/>
                <a:ea typeface="Arial"/>
              </a:rPr>
              <a:t>12–16 недель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72526"/>
                </a:solidFill>
                <a:latin typeface="Arial"/>
                <a:ea typeface="Arial"/>
              </a:rPr>
              <a:t>пилот с автоматическим толкателем</a:t>
            </a:r>
            <a:endParaRPr lang="en-US" sz="1100" noProof="1"/>
          </a:p>
        </p:txBody>
      </p:sp>
      <p:sp>
        <p:nvSpPr>
          <p:cNvPr id="23" name="time3"/>
          <p:cNvSpPr txBox="1"/>
          <p:nvPr/>
        </p:nvSpPr>
        <p:spPr>
          <a:xfrm>
            <a:off x="9715500" y="4953000"/>
            <a:ext cx="18669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172526"/>
                </a:solidFill>
                <a:latin typeface="Arial"/>
                <a:ea typeface="Arial"/>
              </a:rPr>
              <a:t>16–20 недель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72526"/>
                </a:solidFill>
                <a:latin typeface="Arial"/>
                <a:ea typeface="Arial"/>
              </a:rPr>
              <a:t>промышленная версия после приёмки</a:t>
            </a:r>
            <a:endParaRPr lang="en-US" sz="1100" noProof="1"/>
          </a:p>
        </p:txBody>
      </p:sp>
      <p:sp>
        <p:nvSpPr>
          <p:cNvPr id="24" name="decision-bg"/>
          <p:cNvSpPr/>
          <p:nvPr/>
        </p:nvSpPr>
        <p:spPr>
          <a:xfrm>
            <a:off x="6070600" y="6032500"/>
            <a:ext cx="5511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5" name="decision"/>
          <p:cNvSpPr txBox="1"/>
          <p:nvPr/>
        </p:nvSpPr>
        <p:spPr>
          <a:xfrm>
            <a:off x="6197600" y="6096000"/>
            <a:ext cx="525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Сравниваем полноту, пропуски и ложные отбраковки - не общую точность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Сроки зависят от доступа к линии, участия технолога и достаточного числа дефектных примеров.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РЕШЕНИЕ О ЗАПУСКЕ • ЭКОНОМИКА И ПИЛОТ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700" b="1" noProof="1">
                <a:solidFill>
                  <a:srgbClr val="172526"/>
                </a:solidFill>
                <a:latin typeface="Georgia"/>
                <a:ea typeface="Georgia"/>
              </a:rPr>
              <a:t>Масштабируем решение только после подтверждения
экономического эффекта и стабильной работы на пилоте</a:t>
            </a:r>
            <a:endParaRPr lang="en-US" sz="27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econ-head"/>
          <p:cNvSpPr txBox="1"/>
          <p:nvPr/>
        </p:nvSpPr>
        <p:spPr>
          <a:xfrm>
            <a:off x="609600" y="18415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+ 03  ПОТЕРИ И СТОИМОСТЬ</a:t>
            </a:r>
            <a:endParaRPr lang="en-US" sz="1100" noProof="1"/>
          </a:p>
        </p:txBody>
      </p:sp>
      <p:sp>
        <p:nvSpPr>
          <p:cNvPr id="6" name="effect-formula"/>
          <p:cNvSpPr txBox="1"/>
          <p:nvPr/>
        </p:nvSpPr>
        <p:spPr>
          <a:xfrm>
            <a:off x="609600" y="2197100"/>
            <a:ext cx="6223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Эффект = ↓ возвраты + ↓ простои</a:t>
            </a:r>
            <a:endParaRPr lang="en-US" sz="2100" noProof="1"/>
          </a:p>
          <a:p>
            <a:pPr>
              <a:lnSpc>
                <a:spcPct val="125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− затраты на решение</a:t>
            </a:r>
            <a:endParaRPr lang="en-US" sz="2100" noProof="1"/>
          </a:p>
        </p:txBody>
      </p:sp>
      <p:sp>
        <p:nvSpPr>
          <p:cNvPr id="7" name="formula1-label"/>
          <p:cNvSpPr txBox="1"/>
          <p:nvPr/>
        </p:nvSpPr>
        <p:spPr>
          <a:xfrm>
            <a:off x="609600" y="3136900"/>
            <a:ext cx="1295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Возвраты</a:t>
            </a:r>
            <a:endParaRPr lang="en-US" sz="1200" noProof="1"/>
          </a:p>
        </p:txBody>
      </p:sp>
      <p:sp>
        <p:nvSpPr>
          <p:cNvPr id="8" name="formula1"/>
          <p:cNvSpPr txBox="1"/>
          <p:nvPr/>
        </p:nvSpPr>
        <p:spPr>
          <a:xfrm>
            <a:off x="1968500" y="3098800"/>
            <a:ext cx="4889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возвращённые лотки × себестоимость + обратная логистика + утилизация</a:t>
            </a:r>
            <a:endParaRPr lang="en-US" sz="1200" noProof="1"/>
          </a:p>
        </p:txBody>
      </p:sp>
      <p:sp>
        <p:nvSpPr>
          <p:cNvPr id="9" name="formula2-label"/>
          <p:cNvSpPr txBox="1"/>
          <p:nvPr/>
        </p:nvSpPr>
        <p:spPr>
          <a:xfrm>
            <a:off x="609600" y="3721100"/>
            <a:ext cx="1295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Остановки</a:t>
            </a:r>
            <a:endParaRPr lang="en-US" sz="1200" noProof="1"/>
          </a:p>
        </p:txBody>
      </p:sp>
      <p:sp>
        <p:nvSpPr>
          <p:cNvPr id="10" name="formula2"/>
          <p:cNvSpPr txBox="1"/>
          <p:nvPr/>
        </p:nvSpPr>
        <p:spPr>
          <a:xfrm>
            <a:off x="1968500" y="3724910"/>
            <a:ext cx="4889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минуты остановки × стоимость минуты простоя</a:t>
            </a:r>
            <a:endParaRPr lang="en-US" sz="1200" noProof="1"/>
          </a:p>
        </p:txBody>
      </p:sp>
      <p:sp>
        <p:nvSpPr>
          <p:cNvPr id="11" name="inputs-head"/>
          <p:cNvSpPr txBox="1"/>
          <p:nvPr/>
        </p:nvSpPr>
        <p:spPr>
          <a:xfrm>
            <a:off x="609600" y="4203700"/>
            <a:ext cx="622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Для расчёта в рублях нужны четыре показателя</a:t>
            </a:r>
            <a:endParaRPr lang="en-US" sz="1300" noProof="1"/>
          </a:p>
        </p:txBody>
      </p:sp>
      <p:sp>
        <p:nvSpPr>
          <p:cNvPr id="12" name="inputs-list"/>
          <p:cNvSpPr txBox="1"/>
          <p:nvPr/>
        </p:nvSpPr>
        <p:spPr>
          <a:xfrm>
            <a:off x="609600" y="4559300"/>
            <a:ext cx="62230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Себестоимость одного лотка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Среднее число возвратов за месяц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Продолжительность остановок за смену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04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Стоимость одной минуты простоя</a:t>
            </a:r>
            <a:endParaRPr lang="en-US" sz="1300" noProof="1"/>
          </a:p>
        </p:txBody>
      </p:sp>
      <p:sp>
        <p:nvSpPr>
          <p:cNvPr id="13" name="cost"/>
          <p:cNvSpPr txBox="1"/>
          <p:nvPr/>
        </p:nvSpPr>
        <p:spPr>
          <a:xfrm>
            <a:off x="609600" y="5867400"/>
            <a:ext cx="624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Затраты:</a:t>
            </a: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 камеры и оборудование, CV и интеграция, внедрение, обучение и поддержка.</a:t>
            </a:r>
            <a:endParaRPr lang="en-US" sz="1100" noProof="1"/>
          </a:p>
        </p:txBody>
      </p:sp>
      <p:sp>
        <p:nvSpPr>
          <p:cNvPr id="14" name="mid-separato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eyJ2aWV3Qm94IjpbMSwzNTBdLCJwb2ludHMiOiIwLDAgMCwzNTAifQ</pptd:line>
              </p:ext>
            </p:extLst>
          </p:nvPr>
        </p:nvSpPr>
        <p:spPr>
          <a:xfrm>
            <a:off x="7239000" y="1854200"/>
            <a:ext cx="12700" cy="4445000"/>
          </a:xfrm>
          <a:custGeom>
            <a:avLst/>
            <a:gdLst/>
            <a:ahLst/>
            <a:cxnLst/>
            <a:rect l="l" t="t" r="r" b="b"/>
            <a:pathLst>
              <a:path w="1" h="350">
                <a:moveTo>
                  <a:pt x="0" y="0"/>
                </a:moveTo>
                <a:lnTo>
                  <a:pt x="0" y="35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pilot-head"/>
          <p:cNvSpPr txBox="1"/>
          <p:nvPr/>
        </p:nvSpPr>
        <p:spPr>
          <a:xfrm>
            <a:off x="7658100" y="1841500"/>
            <a:ext cx="3924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КАК ПРОВЕРЯЕМ РЕЗУЛЬТАТ</a:t>
            </a:r>
            <a:endParaRPr lang="en-US" sz="1100" noProof="1"/>
          </a:p>
        </p:txBody>
      </p:sp>
      <p:sp>
        <p:nvSpPr>
          <p:cNvPr id="16" name="compare-title"/>
          <p:cNvSpPr txBox="1"/>
          <p:nvPr/>
        </p:nvSpPr>
        <p:spPr>
          <a:xfrm>
            <a:off x="7658100" y="2209800"/>
            <a:ext cx="39243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72526"/>
                </a:solidFill>
                <a:latin typeface="Arial"/>
                <a:ea typeface="Arial"/>
              </a:rPr>
              <a:t>База → пилот → сравнение</a:t>
            </a:r>
            <a:endParaRPr lang="en-US" sz="1700" noProof="1"/>
          </a:p>
        </p:txBody>
      </p:sp>
      <p:sp>
        <p:nvSpPr>
          <p:cNvPr id="17" name="compare-note"/>
          <p:cNvSpPr txBox="1"/>
          <p:nvPr/>
        </p:nvSpPr>
        <p:spPr>
          <a:xfrm>
            <a:off x="7658100" y="2590800"/>
            <a:ext cx="39243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Сопоставляем сопоставимые смены и продукцию; пороги успеха фиксируем до пилота.</a:t>
            </a:r>
            <a:endParaRPr lang="en-US" sz="1200" noProof="1"/>
          </a:p>
        </p:txBody>
      </p:sp>
      <p:sp>
        <p:nvSpPr>
          <p:cNvPr id="18" name="metrics"/>
          <p:cNvSpPr txBox="1"/>
          <p:nvPr/>
        </p:nvSpPr>
        <p:spPr>
          <a:xfrm>
            <a:off x="7658100" y="3187700"/>
            <a:ext cx="39243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пропущенные лотки и качество CV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возвраты и списания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минуты незапланированных остановок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выпуск и производительность линии</a:t>
            </a:r>
            <a:endParaRPr lang="en-US" sz="1300" noProof="1"/>
          </a:p>
        </p:txBody>
      </p:sp>
      <p:sp>
        <p:nvSpPr>
          <p:cNvPr id="19" name="scale-head"/>
          <p:cNvSpPr txBox="1"/>
          <p:nvPr/>
        </p:nvSpPr>
        <p:spPr>
          <a:xfrm>
            <a:off x="7658100" y="4470400"/>
            <a:ext cx="3924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04  КОГДА МАСШТАБИРУЕМ</a:t>
            </a:r>
            <a:endParaRPr lang="en-US" sz="1100" noProof="1"/>
          </a:p>
        </p:txBody>
      </p:sp>
      <p:sp>
        <p:nvSpPr>
          <p:cNvPr id="20" name="scale-list"/>
          <p:cNvSpPr txBox="1"/>
          <p:nvPr/>
        </p:nvSpPr>
        <p:spPr>
          <a:xfrm>
            <a:off x="7658100" y="4826000"/>
            <a:ext cx="39243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подтверждён эффект и окупаемость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качество контроля стабильно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нет потери производительности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назначены владельцы процесса и данных</a:t>
            </a:r>
            <a:endParaRPr lang="en-US" sz="1200" noProof="1"/>
          </a:p>
        </p:txBody>
      </p:sp>
      <p:sp>
        <p:nvSpPr>
          <p:cNvPr id="21" name="decision-bg"/>
          <p:cNvSpPr/>
          <p:nvPr/>
        </p:nvSpPr>
        <p:spPr>
          <a:xfrm>
            <a:off x="7658100" y="6007100"/>
            <a:ext cx="39243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2" name="decision"/>
          <p:cNvSpPr txBox="1"/>
          <p:nvPr/>
        </p:nvSpPr>
        <p:spPr>
          <a:xfrm>
            <a:off x="7810500" y="6070600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Решение: масштабировать / доработать / остановить</a:t>
            </a:r>
            <a:endParaRPr lang="en-US" sz="1100" noProof="1"/>
          </a:p>
        </p:txBody>
      </p:sp>
      <p:sp>
        <p:nvSpPr>
          <p:cNvPr id="23" name="source"/>
          <p:cNvSpPr txBox="1"/>
          <p:nvPr/>
        </p:nvSpPr>
        <p:spPr>
          <a:xfrm>
            <a:off x="609600" y="65532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Финансовые значения и целевые пороги заполняются по данным компании до запуска пилота.</a:t>
            </a:r>
            <a:endParaRPr lang="en-US" sz="900" noProof="1"/>
          </a:p>
        </p:txBody>
      </p:sp>
      <p:sp>
        <p:nvSpPr>
          <p:cNvPr id="24" name="page-num"/>
          <p:cNvSpPr txBox="1"/>
          <p:nvPr/>
        </p:nvSpPr>
        <p:spPr>
          <a:xfrm>
            <a:off x="11226800" y="6527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7 • ПОДГОТОВКА И ПРОВЕДЕНИЕ ПИЛОТА • КАЛЕНДАРЬ</a:t>
            </a:r>
            <a:endParaRPr lang="en-US" sz="1000" noProof="1"/>
          </a:p>
        </p:txBody>
      </p:sp>
      <p:sp>
        <p:nvSpPr>
          <p:cNvPr id="3" name="plan"/>
          <p:cNvSpPr txBox="1"/>
          <p:nvPr/>
        </p:nvSpPr>
        <p:spPr>
          <a:xfrm>
            <a:off x="8661400" y="3048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План первой линии: около 6 месяцев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Первая линия за 22-26 недель: оборудование,
данные и модель готовим параллельно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"/>
          <p:cNvSpPr txBox="1"/>
          <p:nvPr/>
        </p:nvSpPr>
        <p:spPr>
          <a:xfrm>
            <a:off x="609600" y="1841500"/>
            <a:ext cx="30480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22-26 недель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с учётом производственных окон</a:t>
            </a:r>
            <a:endParaRPr lang="en-US" sz="1600" noProof="1"/>
          </a:p>
        </p:txBody>
      </p:sp>
      <p:sp>
        <p:nvSpPr>
          <p:cNvPr id="7" name="sep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40386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8" name="kpi2"/>
          <p:cNvSpPr txBox="1"/>
          <p:nvPr/>
        </p:nvSpPr>
        <p:spPr>
          <a:xfrm>
            <a:off x="4445000" y="1841500"/>
            <a:ext cx="27940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≥1 месяца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сравнительные испытания</a:t>
            </a:r>
            <a:endParaRPr lang="en-US" sz="1600" noProof="1"/>
          </a:p>
        </p:txBody>
      </p:sp>
      <p:sp>
        <p:nvSpPr>
          <p:cNvPr id="9" name="sep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7747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0" name="kpi3"/>
          <p:cNvSpPr txBox="1"/>
          <p:nvPr/>
        </p:nvSpPr>
        <p:spPr>
          <a:xfrm>
            <a:off x="8153400" y="1841500"/>
            <a:ext cx="34290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4-8 недель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закупка и изготовление оборудования</a:t>
            </a:r>
            <a:endParaRPr lang="en-US" sz="1600" noProof="1"/>
          </a:p>
        </p:txBody>
      </p:sp>
      <p:sp>
        <p:nvSpPr>
          <p:cNvPr id="11" name="calendar-head"/>
          <p:cNvSpPr txBox="1"/>
          <p:nvPr/>
        </p:nvSpPr>
        <p:spPr>
          <a:xfrm>
            <a:off x="609600" y="276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РЕАЛЬНЫЙ КАЛЕНДАРЬ ПРОЕКТА</a:t>
            </a:r>
            <a:endParaRPr lang="en-US" sz="1000" noProof="1"/>
          </a:p>
        </p:txBody>
      </p:sp>
      <p:sp>
        <p:nvSpPr>
          <p:cNvPr id="12" name="stage1"/>
          <p:cNvSpPr txBox="1"/>
          <p:nvPr/>
        </p:nvSpPr>
        <p:spPr>
          <a:xfrm>
            <a:off x="6096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1-4 недели</a:t>
            </a:r>
            <a:endParaRPr lang="en-US" sz="160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ТЗ и стенд</a:t>
            </a:r>
            <a:endParaRPr lang="en-US" sz="160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Критерии дефекта, камера и подсветка; видимость конденсата подтверждена.</a:t>
            </a:r>
            <a:endParaRPr lang="en-US" sz="1600" noProof="1"/>
          </a:p>
        </p:txBody>
      </p:sp>
      <p:sp>
        <p:nvSpPr>
          <p:cNvPr id="13" name="stage2"/>
          <p:cNvSpPr txBox="1"/>
          <p:nvPr/>
        </p:nvSpPr>
        <p:spPr>
          <a:xfrm>
            <a:off x="28067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3-10 недели</a:t>
            </a:r>
            <a:endParaRPr lang="en-US" sz="160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Закупка и механика</a:t>
            </a:r>
            <a:endParaRPr lang="en-US" sz="160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Оборудование и механика отбраковки на производстве.</a:t>
            </a:r>
            <a:endParaRPr lang="en-US" sz="1600" noProof="1"/>
          </a:p>
        </p:txBody>
      </p:sp>
      <p:sp>
        <p:nvSpPr>
          <p:cNvPr id="14" name="stage3"/>
          <p:cNvSpPr txBox="1"/>
          <p:nvPr/>
        </p:nvSpPr>
        <p:spPr>
          <a:xfrm>
            <a:off x="50038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4-13 недели</a:t>
            </a:r>
            <a:endParaRPr lang="en-US" sz="160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Данные и модель</a:t>
            </a:r>
            <a:endParaRPr lang="en-US" sz="160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Сбор и разметка, обучение и независимое испытание.</a:t>
            </a:r>
            <a:endParaRPr lang="en-US" sz="1600" noProof="1"/>
          </a:p>
        </p:txBody>
      </p:sp>
      <p:sp>
        <p:nvSpPr>
          <p:cNvPr id="15" name="stage4"/>
          <p:cNvSpPr txBox="1"/>
          <p:nvPr/>
        </p:nvSpPr>
        <p:spPr>
          <a:xfrm>
            <a:off x="72009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10-16 недель</a:t>
            </a:r>
            <a:endParaRPr lang="en-US" sz="160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Интеграция и монтаж</a:t>
            </a:r>
            <a:endParaRPr lang="en-US" sz="160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ПЛК, датчики, толкатель, интерфейс и контрольные лотки.</a:t>
            </a:r>
            <a:endParaRPr lang="en-US" sz="1600" noProof="1"/>
          </a:p>
        </p:txBody>
      </p:sp>
      <p:sp>
        <p:nvSpPr>
          <p:cNvPr id="16" name="stage5"/>
          <p:cNvSpPr txBox="1"/>
          <p:nvPr/>
        </p:nvSpPr>
        <p:spPr>
          <a:xfrm>
            <a:off x="9398000" y="3098800"/>
            <a:ext cx="2184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17-26 недель</a:t>
            </a:r>
            <a:endParaRPr lang="en-US" sz="160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Испытания и приёмка</a:t>
            </a:r>
            <a:endParaRPr lang="en-US" sz="160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Теневой режим, эксперимент, экономика, обучение и решение.</a:t>
            </a:r>
            <a:endParaRPr lang="en-US" sz="1600" noProof="1"/>
          </a:p>
        </p:txBody>
      </p:sp>
      <p:sp>
        <p:nvSpPr>
          <p:cNvPr id="17" name="section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5720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8" name="defect-head"/>
          <p:cNvSpPr txBox="1"/>
          <p:nvPr/>
        </p:nvSpPr>
        <p:spPr>
          <a:xfrm>
            <a:off x="609600" y="47117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ГЛАВНЫЙ РИСК СРОКОВ • СБОР ≥1 000 ДЕФЕКТОВ</a:t>
            </a:r>
            <a:endParaRPr lang="en-US" sz="1100" noProof="1"/>
          </a:p>
        </p:txBody>
      </p:sp>
      <p:sp>
        <p:nvSpPr>
          <p:cNvPr id="19" name="defect1"/>
          <p:cNvSpPr txBox="1"/>
          <p:nvPr/>
        </p:nvSpPr>
        <p:spPr>
          <a:xfrm>
            <a:off x="609600" y="5105400"/>
            <a:ext cx="2349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Дефектность 1%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≈5 смен сбора</a:t>
            </a:r>
            <a:endParaRPr lang="en-US" sz="1600" noProof="1"/>
          </a:p>
        </p:txBody>
      </p:sp>
      <p:sp>
        <p:nvSpPr>
          <p:cNvPr id="20" name="defect2"/>
          <p:cNvSpPr txBox="1"/>
          <p:nvPr/>
        </p:nvSpPr>
        <p:spPr>
          <a:xfrm>
            <a:off x="3276600" y="5105400"/>
            <a:ext cx="2476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Дефектность 0,1%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≈42 смены = 8-9 недель</a:t>
            </a:r>
            <a:endParaRPr lang="en-US" sz="1600" noProof="1"/>
          </a:p>
        </p:txBody>
      </p:sp>
      <p:sp>
        <p:nvSpPr>
          <p:cNvPr id="21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eyJ2aWV3Qm94IjpbMSw5NV0sInBvaW50cyI6IjAsMCAwLDk1In0</pptd:line>
              </p:ext>
            </p:extLst>
          </p:nvPr>
        </p:nvSpPr>
        <p:spPr>
          <a:xfrm>
            <a:off x="6096000" y="4724400"/>
            <a:ext cx="12700" cy="1206500"/>
          </a:xfrm>
          <a:custGeom>
            <a:avLst/>
            <a:gdLst/>
            <a:ahLst/>
            <a:cxnLst/>
            <a:rect l="l" t="t" r="r" b="b"/>
            <a:pathLst>
              <a:path w="1" h="95">
                <a:moveTo>
                  <a:pt x="0" y="0"/>
                </a:moveTo>
                <a:lnTo>
                  <a:pt x="0" y="95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2" name="conditions-head"/>
          <p:cNvSpPr txBox="1"/>
          <p:nvPr/>
        </p:nvSpPr>
        <p:spPr>
          <a:xfrm>
            <a:off x="6477000" y="47117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КОГДА СРОК МЕНЯЕТСЯ</a:t>
            </a:r>
            <a:endParaRPr lang="en-US" sz="1100" noProof="1"/>
          </a:p>
        </p:txBody>
      </p:sp>
      <p:sp>
        <p:nvSpPr>
          <p:cNvPr id="23" name="conditions"/>
          <p:cNvSpPr txBox="1"/>
          <p:nvPr/>
        </p:nvSpPr>
        <p:spPr>
          <a:xfrm>
            <a:off x="6477000" y="5067300"/>
            <a:ext cx="5105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16-20 недель: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оборудование в наличии, достаточно дефектов и простая интеграция с ПЛК.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7-9 месяцев: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редкий конденсат, задержка закупки или доработка механики.</a:t>
            </a:r>
            <a:endParaRPr lang="en-US" sz="1150" noProof="1"/>
          </a:p>
        </p:txBody>
      </p:sp>
      <p:sp>
        <p:nvSpPr>
          <p:cNvPr id="24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5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Эксперимент продлевается, пока не набраны ≥300 дефектных и ≥3 000 качественных лотков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7. При недостатке дефектов сбор продлевается или проводятся контролируемые испытания с технологом.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7 • ПОДГОТОВКА И ПРОВЕДЕНИЕ ПИЛОТА • ПРИЁМКА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509000" y="304800"/>
            <a:ext cx="3073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Работы на линии: 8-9 недель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Масштабируем после испытания на реальной линии
и подтверждения готовности персонала и процесса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flow-head"/>
          <p:cNvSpPr txBox="1"/>
          <p:nvPr/>
        </p:nvSpPr>
        <p:spPr>
          <a:xfrm>
            <a:off x="609600" y="18415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ОТ МОНТАЖА ДО РЕШЕНИЯ О ПРОМЫШЛЕННОЙ ЭКСПЛУАТАЦИИ</a:t>
            </a:r>
            <a:endParaRPr lang="en-US" sz="1000" noProof="1"/>
          </a:p>
        </p:txBody>
      </p:sp>
      <p:sp>
        <p:nvSpPr>
          <p:cNvPr id="7" name="step1"/>
          <p:cNvSpPr txBox="1"/>
          <p:nvPr/>
        </p:nvSpPr>
        <p:spPr>
          <a:xfrm>
            <a:off x="609600" y="2260600"/>
            <a:ext cx="24130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 неделя</a:t>
            </a:r>
            <a:endParaRPr lang="en-US" sz="16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Монтаж и подготовка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Камера, толкатель и ПЛК; рабочее место готово, сотрудники обучены.</a:t>
            </a:r>
            <a:endParaRPr lang="en-US" sz="1600" noProof="1"/>
          </a:p>
        </p:txBody>
      </p:sp>
      <p:sp>
        <p:nvSpPr>
          <p:cNvPr id="8" name="step2"/>
          <p:cNvSpPr txBox="1"/>
          <p:nvPr/>
        </p:nvSpPr>
        <p:spPr>
          <a:xfrm>
            <a:off x="3429000" y="2260600"/>
            <a:ext cx="24130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2 недели</a:t>
            </a:r>
            <a:endParaRPr lang="en-US" sz="16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Теневой режим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Модель фиксирует решения, но не управляет толкателем; ручной контроль сохраняется.</a:t>
            </a:r>
            <a:endParaRPr lang="en-US" sz="1600" noProof="1"/>
          </a:p>
        </p:txBody>
      </p:sp>
      <p:sp>
        <p:nvSpPr>
          <p:cNvPr id="9" name="step3"/>
          <p:cNvSpPr txBox="1"/>
          <p:nvPr/>
        </p:nvSpPr>
        <p:spPr>
          <a:xfrm>
            <a:off x="6248400" y="2260600"/>
            <a:ext cx="24130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≥4 недель</a:t>
            </a:r>
            <a:endParaRPr lang="en-US" sz="16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Сравнительный эксперимент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Неделя - два оператора, неделя - CV; сопоставляются продукция, партии и смены.</a:t>
            </a:r>
            <a:endParaRPr lang="en-US" sz="1600" noProof="1"/>
          </a:p>
        </p:txBody>
      </p:sp>
      <p:sp>
        <p:nvSpPr>
          <p:cNvPr id="10" name="step4"/>
          <p:cNvSpPr txBox="1"/>
          <p:nvPr/>
        </p:nvSpPr>
        <p:spPr>
          <a:xfrm>
            <a:off x="9067800" y="2260600"/>
            <a:ext cx="25146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04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1-2 недели</a:t>
            </a:r>
            <a:endParaRPr lang="en-US" sz="16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Приёмка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Метрики, резервный сценарий, экономический эффект и решение о масштабировании.</a:t>
            </a:r>
            <a:endParaRPr lang="en-US" sz="1600" noProof="1"/>
          </a:p>
        </p:txBody>
      </p:sp>
      <p:sp>
        <p:nvSpPr>
          <p:cNvPr id="11" name="method-note"/>
          <p:cNvSpPr txBox="1"/>
          <p:nvPr/>
        </p:nvSpPr>
        <p:spPr>
          <a:xfrm>
            <a:off x="609600" y="38100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Сравниваются разные, но сопоставимые периоды - не одни и те же лотки. Даты переключения режимов заранее цехам не сообщаются; эталон подтверждает экспертный контроль качества.</a:t>
            </a:r>
            <a:endParaRPr lang="en-US" sz="1100" noProof="1"/>
          </a:p>
        </p:txBody>
      </p:sp>
      <p:sp>
        <p:nvSpPr>
          <p:cNvPr id="12" name="section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3434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3" name="ready-head"/>
          <p:cNvSpPr txBox="1"/>
          <p:nvPr/>
        </p:nvSpPr>
        <p:spPr>
          <a:xfrm>
            <a:off x="609600" y="45720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ГОТОВНОСТЬ К МАСШТАБИРОВАНИЮ</a:t>
            </a:r>
            <a:endParaRPr lang="en-US" sz="1100" noProof="1"/>
          </a:p>
        </p:txBody>
      </p:sp>
      <p:sp>
        <p:nvSpPr>
          <p:cNvPr id="14" name="ready"/>
          <p:cNvSpPr txBox="1"/>
          <p:nvPr/>
        </p:nvSpPr>
        <p:spPr>
          <a:xfrm>
            <a:off x="609600" y="4902200"/>
            <a:ext cx="51435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все критерии раздела 6 и необходимый объём данных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толкатель работает без остановки линии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сотрудники обучены, резервный сценарий проверен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оформлены регламенты эксплуатации и поддержки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при наличии данных подтверждён экономический эффект</a:t>
            </a:r>
            <a:endParaRPr lang="en-US" sz="1150" noProof="1"/>
          </a:p>
        </p:txBody>
      </p:sp>
      <p:sp>
        <p:nvSpPr>
          <p:cNvPr id="15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eyJ2aWV3Qm94IjpbMSwxMTRdLCJwb2ludHMiOiIwLDAgMCwxMTQifQ</pptd:line>
              </p:ext>
            </p:extLst>
          </p:nvPr>
        </p:nvSpPr>
        <p:spPr>
          <a:xfrm>
            <a:off x="6096000" y="4572000"/>
            <a:ext cx="12700" cy="1447800"/>
          </a:xfrm>
          <a:custGeom>
            <a:avLst/>
            <a:gdLst/>
            <a:ahLst/>
            <a:cxnLst/>
            <a:rect l="l" t="t" r="r" b="b"/>
            <a:pathLst>
              <a:path w="1" h="114">
                <a:moveTo>
                  <a:pt x="0" y="0"/>
                </a:moveTo>
                <a:lnTo>
                  <a:pt x="0" y="11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6" name="people-head"/>
          <p:cNvSpPr txBox="1"/>
          <p:nvPr/>
        </p:nvSpPr>
        <p:spPr>
          <a:xfrm>
            <a:off x="6477000" y="45720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ЛЮДИ И ПОДДЕРЖКА ИЗМЕНЕНИЙ</a:t>
            </a:r>
            <a:endParaRPr lang="en-US" sz="1100" noProof="1"/>
          </a:p>
        </p:txBody>
      </p:sp>
      <p:sp>
        <p:nvSpPr>
          <p:cNvPr id="17" name="people"/>
          <p:cNvSpPr txBox="1"/>
          <p:nvPr/>
        </p:nvSpPr>
        <p:spPr>
          <a:xfrm>
            <a:off x="6477000" y="4902200"/>
            <a:ext cx="51054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Обучение за одну смену: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интерфейс, ошибки и действия при сбое.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Амбассадор: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старший оператор или мастер смены помогает коллегам, не меняя модель.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Замечания - еженедельно; данные - для улучшения, не для наказаний.</a:t>
            </a:r>
            <a:endParaRPr lang="en-US" sz="1150" noProof="1"/>
          </a:p>
        </p:txBody>
      </p:sp>
      <p:sp>
        <p:nvSpPr>
          <p:cNvPr id="18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19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Дополнительные датчики температуры оправданы, если после корректировки режима снижаются конденсат, возвраты, списания и потери</a:t>
            </a:r>
            <a:endParaRPr lang="en-US" sz="1100" noProof="1"/>
          </a:p>
        </p:txBody>
      </p:sp>
      <p:sp>
        <p:nvSpPr>
          <p:cNvPr id="20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7. Плановая промышленная приёмка первой линии - 24-26 недели. Увольнение не является условием проекта.</a:t>
            </a:r>
            <a:endParaRPr lang="en-US" sz="900" noProof="1"/>
          </a:p>
        </p:txBody>
      </p:sp>
      <p:sp>
        <p:nvSpPr>
          <p:cNvPr id="21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6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Microsoft Office PowerPoint</Application>
  <PresentationFormat>Широкоэкранный</PresentationFormat>
  <Paragraphs>192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Georgia</vt:lpstr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Контроль конденсата — 6 ключевых слайдов</dc:title>
  <cp:lastModifiedBy>Tatsyana Patalitsyna</cp:lastModifiedBy>
  <cp:revision>2</cp:revision>
  <dcterms:modified xsi:type="dcterms:W3CDTF">2026-10-29T18:06:37Z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