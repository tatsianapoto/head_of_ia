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КАЛЕНДАРЬ</a:t>
            </a:r>
            <a:endParaRPr lang="en-US" sz="1000" noProof="1"/>
          </a:p>
        </p:txBody>
      </p:sp>
      <p:sp>
        <p:nvSpPr>
          <p:cNvPr id="3" name="plan"/>
          <p:cNvSpPr txBox="1"/>
          <p:nvPr/>
        </p:nvSpPr>
        <p:spPr>
          <a:xfrm>
            <a:off x="8661400" y="3048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План первой линии: около 6 месяцев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Первая линия за 22–26 недель: оборудование,
данные и модель готовим параллельно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"/>
          <p:cNvSpPr txBox="1"/>
          <p:nvPr/>
        </p:nvSpPr>
        <p:spPr>
          <a:xfrm>
            <a:off x="609600" y="1841500"/>
            <a:ext cx="3048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22–26 недель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 учётом производственных окон</a:t>
            </a:r>
            <a:endParaRPr lang="en-US" sz="2400" noProof="1"/>
          </a:p>
        </p:txBody>
      </p:sp>
      <p:sp>
        <p:nvSpPr>
          <p:cNvPr id="7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40386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8" name="kpi2"/>
          <p:cNvSpPr txBox="1"/>
          <p:nvPr/>
        </p:nvSpPr>
        <p:spPr>
          <a:xfrm>
            <a:off x="4445000" y="1841500"/>
            <a:ext cx="2794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≥1 месяца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сравнительные испытания</a:t>
            </a:r>
            <a:endParaRPr lang="en-US" sz="2400" noProof="1"/>
          </a:p>
        </p:txBody>
      </p:sp>
      <p:sp>
        <p:nvSpPr>
          <p:cNvPr id="9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7747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0" name="kpi3"/>
          <p:cNvSpPr txBox="1"/>
          <p:nvPr/>
        </p:nvSpPr>
        <p:spPr>
          <a:xfrm>
            <a:off x="8153400" y="1841500"/>
            <a:ext cx="34290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4–8 недель</a:t>
            </a:r>
            <a:endParaRPr lang="en-US" sz="24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закупка и изготовление оборудования</a:t>
            </a:r>
            <a:endParaRPr lang="en-US" sz="2400" noProof="1"/>
          </a:p>
        </p:txBody>
      </p:sp>
      <p:sp>
        <p:nvSpPr>
          <p:cNvPr id="11" name="calendar-head"/>
          <p:cNvSpPr txBox="1"/>
          <p:nvPr/>
        </p:nvSpPr>
        <p:spPr>
          <a:xfrm>
            <a:off x="609600" y="276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РЕАЛЬНЫЙ КАЛЕНДАРЬ ПРОЕКТА</a:t>
            </a:r>
            <a:endParaRPr lang="en-US" sz="1000" noProof="1"/>
          </a:p>
        </p:txBody>
      </p:sp>
      <p:sp>
        <p:nvSpPr>
          <p:cNvPr id="12" name="stage1"/>
          <p:cNvSpPr txBox="1"/>
          <p:nvPr/>
        </p:nvSpPr>
        <p:spPr>
          <a:xfrm>
            <a:off x="6096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1–4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ТЗ и стенд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Критерии дефекта, камера и подсветка; видимость конденсата подтверждена.</a:t>
            </a:r>
            <a:endParaRPr lang="en-US" sz="1150" noProof="1"/>
          </a:p>
        </p:txBody>
      </p:sp>
      <p:sp>
        <p:nvSpPr>
          <p:cNvPr id="13" name="stage2"/>
          <p:cNvSpPr txBox="1"/>
          <p:nvPr/>
        </p:nvSpPr>
        <p:spPr>
          <a:xfrm>
            <a:off x="28067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3–10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Закупка и механика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Оборудование и механика отбраковки на производстве.</a:t>
            </a:r>
            <a:endParaRPr lang="en-US" sz="1150" noProof="1"/>
          </a:p>
        </p:txBody>
      </p:sp>
      <p:sp>
        <p:nvSpPr>
          <p:cNvPr id="14" name="stage3"/>
          <p:cNvSpPr txBox="1"/>
          <p:nvPr/>
        </p:nvSpPr>
        <p:spPr>
          <a:xfrm>
            <a:off x="50038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4–13 недели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Данные и модель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Сбор и разметка, обучение и независимое испытание.</a:t>
            </a:r>
            <a:endParaRPr lang="en-US" sz="1150" noProof="1"/>
          </a:p>
        </p:txBody>
      </p:sp>
      <p:sp>
        <p:nvSpPr>
          <p:cNvPr id="15" name="stage4"/>
          <p:cNvSpPr txBox="1"/>
          <p:nvPr/>
        </p:nvSpPr>
        <p:spPr>
          <a:xfrm>
            <a:off x="7200900" y="3098800"/>
            <a:ext cx="19685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10–16 недель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Интеграция и монтаж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ПЛК, датчики, толкатель, интерфейс и контрольные лотки.</a:t>
            </a:r>
            <a:endParaRPr lang="en-US" sz="1150" noProof="1"/>
          </a:p>
        </p:txBody>
      </p:sp>
      <p:sp>
        <p:nvSpPr>
          <p:cNvPr id="16" name="stage5"/>
          <p:cNvSpPr txBox="1"/>
          <p:nvPr/>
        </p:nvSpPr>
        <p:spPr>
          <a:xfrm>
            <a:off x="9398000" y="3098800"/>
            <a:ext cx="2184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8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17–26 недель</a:t>
            </a:r>
            <a:endParaRPr lang="en-US" sz="1150" noProof="1"/>
          </a:p>
          <a:p>
            <a:pPr>
              <a:lnSpc>
                <a:spcPct val="128000"/>
              </a:lnSpc>
              <a:spcBef>
                <a:spcPts val="800"/>
              </a:spcBef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Испытания и приёмка</a:t>
            </a:r>
            <a:endParaRPr lang="en-US" sz="1150" noProof="1"/>
          </a:p>
          <a:p>
            <a:pPr>
              <a:lnSpc>
                <a:spcPct val="128000"/>
              </a:lnSpc>
            </a:pPr>
            <a:r>
              <a:rPr lang="en-US" sz="1150" noProof="1">
                <a:solidFill>
                  <a:srgbClr val="657475"/>
                </a:solidFill>
                <a:latin typeface="Arial"/>
                <a:ea typeface="Arial"/>
              </a:rPr>
              <a:t>Теневой режим, эксперимент, экономика, обучение и решение.</a:t>
            </a:r>
            <a:endParaRPr lang="en-US" sz="1150" noProof="1"/>
          </a:p>
        </p:txBody>
      </p:sp>
      <p:sp>
        <p:nvSpPr>
          <p:cNvPr id="17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5720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8" name="defect-head"/>
          <p:cNvSpPr txBox="1"/>
          <p:nvPr/>
        </p:nvSpPr>
        <p:spPr>
          <a:xfrm>
            <a:off x="609600" y="47117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ГЛАВНЫЙ РИСК СРОКОВ • СБОР ≥1 000 ДЕФЕКТОВ</a:t>
            </a:r>
            <a:endParaRPr lang="en-US" sz="1100" noProof="1"/>
          </a:p>
        </p:txBody>
      </p:sp>
      <p:sp>
        <p:nvSpPr>
          <p:cNvPr id="19" name="defect1"/>
          <p:cNvSpPr txBox="1"/>
          <p:nvPr/>
        </p:nvSpPr>
        <p:spPr>
          <a:xfrm>
            <a:off x="609600" y="5105400"/>
            <a:ext cx="2349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≈5 смен сбора</a:t>
            </a:r>
            <a:endParaRPr lang="en-US" sz="1200" noProof="1"/>
          </a:p>
        </p:txBody>
      </p:sp>
      <p:sp>
        <p:nvSpPr>
          <p:cNvPr id="20" name="defect2"/>
          <p:cNvSpPr txBox="1"/>
          <p:nvPr/>
        </p:nvSpPr>
        <p:spPr>
          <a:xfrm>
            <a:off x="3276600" y="5105400"/>
            <a:ext cx="2476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083F40"/>
                </a:solidFill>
                <a:latin typeface="Arial"/>
                <a:ea typeface="Arial"/>
              </a:rPr>
              <a:t>Дефектность 0,1%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≈42 смены = 8–9 недель</a:t>
            </a:r>
            <a:endParaRPr lang="en-US" sz="1200" noProof="1"/>
          </a:p>
        </p:txBody>
      </p:sp>
      <p:sp>
        <p:nvSpPr>
          <p:cNvPr id="21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eyJ2aWV3Qm94IjpbMSw5NV0sInBvaW50cyI6IjAsMCAwLDk1In0</pptd:line>
              </p:ext>
            </p:extLst>
          </p:nvPr>
        </p:nvSpPr>
        <p:spPr>
          <a:xfrm>
            <a:off x="6096000" y="4724400"/>
            <a:ext cx="12700" cy="1206500"/>
          </a:xfrm>
          <a:custGeom>
            <a:avLst/>
            <a:gdLst/>
            <a:ahLst/>
            <a:cxnLst/>
            <a:rect l="l" t="t" r="r" b="b"/>
            <a:pathLst>
              <a:path w="1" h="95">
                <a:moveTo>
                  <a:pt x="0" y="0"/>
                </a:moveTo>
                <a:lnTo>
                  <a:pt x="0" y="95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2" name="conditions-head"/>
          <p:cNvSpPr txBox="1"/>
          <p:nvPr/>
        </p:nvSpPr>
        <p:spPr>
          <a:xfrm>
            <a:off x="6477000" y="47117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КОГДА СРОК МЕНЯЕТСЯ</a:t>
            </a:r>
            <a:endParaRPr lang="en-US" sz="1100" noProof="1"/>
          </a:p>
        </p:txBody>
      </p:sp>
      <p:sp>
        <p:nvSpPr>
          <p:cNvPr id="23" name="conditions"/>
          <p:cNvSpPr txBox="1"/>
          <p:nvPr/>
        </p:nvSpPr>
        <p:spPr>
          <a:xfrm>
            <a:off x="6477000" y="5067300"/>
            <a:ext cx="510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16–20 недель: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оборудование в наличии, достаточно дефектов и простая интеграция с ПЛК.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7–9 месяцев: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редкий конденсат, задержка закупки или доработка механики.</a:t>
            </a:r>
            <a:endParaRPr lang="en-US" sz="1150" noProof="1"/>
          </a:p>
        </p:txBody>
      </p:sp>
      <p:sp>
        <p:nvSpPr>
          <p:cNvPr id="24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Эксперимент продлевается, пока не набраны ≥300 дефектных и ≥3 000 качественных лотков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При недостатке дефектов сбор продлевается или проводятся контролируемые испытания с технологом.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1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5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7 • ПОДГОТОВКА И ПРОВЕДЕНИЕ ПИЛОТА • ПРИЁМКА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Работы на линии: 8–9 недель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Масштабируем после испытания на реальной линии
и подтверждения готовности персонала и процесса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ОТ МОНТАЖА ДО РЕШЕНИЯ О ПРОМЫШЛЕННОЙ ЭКСПЛУАТАЦИИ</a:t>
            </a:r>
            <a:endParaRPr lang="en-US" sz="1000" noProof="1"/>
          </a:p>
        </p:txBody>
      </p:sp>
      <p:sp>
        <p:nvSpPr>
          <p:cNvPr id="7" name="step1"/>
          <p:cNvSpPr txBox="1"/>
          <p:nvPr/>
        </p:nvSpPr>
        <p:spPr>
          <a:xfrm>
            <a:off x="6096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 неделя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Монтаж и подготовка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Камера, толкатель и ПЛК; рабочее место готово, сотрудники обучены.</a:t>
            </a:r>
            <a:endParaRPr lang="en-US" sz="1200" noProof="1"/>
          </a:p>
        </p:txBody>
      </p:sp>
      <p:sp>
        <p:nvSpPr>
          <p:cNvPr id="8" name="step2"/>
          <p:cNvSpPr txBox="1"/>
          <p:nvPr/>
        </p:nvSpPr>
        <p:spPr>
          <a:xfrm>
            <a:off x="34290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2 недели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Теневой режим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Модель фиксирует решения, но не управляет толкателем; ручной контроль сохраняется.</a:t>
            </a:r>
            <a:endParaRPr lang="en-US" sz="1200" noProof="1"/>
          </a:p>
        </p:txBody>
      </p:sp>
      <p:sp>
        <p:nvSpPr>
          <p:cNvPr id="9" name="step3"/>
          <p:cNvSpPr txBox="1"/>
          <p:nvPr/>
        </p:nvSpPr>
        <p:spPr>
          <a:xfrm>
            <a:off x="6248400" y="2260600"/>
            <a:ext cx="24130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≥4 недель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Сравнительный эксперимент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Неделя — два оператора, неделя — CV; сопоставляются продукция, партии и смены.</a:t>
            </a:r>
            <a:endParaRPr lang="en-US" sz="1200" noProof="1"/>
          </a:p>
        </p:txBody>
      </p:sp>
      <p:sp>
        <p:nvSpPr>
          <p:cNvPr id="10" name="step4"/>
          <p:cNvSpPr txBox="1"/>
          <p:nvPr/>
        </p:nvSpPr>
        <p:spPr>
          <a:xfrm>
            <a:off x="9067800" y="2260600"/>
            <a:ext cx="2514600" cy="140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1–2 недели</a:t>
            </a:r>
            <a:endParaRPr lang="en-US" sz="120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Приёмка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Метрики, резервный сценарий, экономический эффект и решение о масштабировании.</a:t>
            </a:r>
            <a:endParaRPr lang="en-US" sz="1200" noProof="1"/>
          </a:p>
        </p:txBody>
      </p:sp>
      <p:sp>
        <p:nvSpPr>
          <p:cNvPr id="11" name="method-note"/>
          <p:cNvSpPr txBox="1"/>
          <p:nvPr/>
        </p:nvSpPr>
        <p:spPr>
          <a:xfrm>
            <a:off x="609600" y="38100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Сравниваются разные, но сопоставимые периоды — не одни и те же лотки. Даты переключения режимов заранее цехам не сообщаются; эталон подтверждает экспертный контроль качества.</a:t>
            </a:r>
            <a:endParaRPr lang="en-US" sz="1100" noProof="1"/>
          </a:p>
        </p:txBody>
      </p:sp>
      <p:sp>
        <p:nvSpPr>
          <p:cNvPr id="12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343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ready-head"/>
          <p:cNvSpPr txBox="1"/>
          <p:nvPr/>
        </p:nvSpPr>
        <p:spPr>
          <a:xfrm>
            <a:off x="609600" y="45720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ГОТОВНОСТЬ К МАСШТАБИРОВАНИЮ</a:t>
            </a:r>
            <a:endParaRPr lang="en-US" sz="1100" noProof="1"/>
          </a:p>
        </p:txBody>
      </p:sp>
      <p:sp>
        <p:nvSpPr>
          <p:cNvPr id="14" name="ready"/>
          <p:cNvSpPr txBox="1"/>
          <p:nvPr/>
        </p:nvSpPr>
        <p:spPr>
          <a:xfrm>
            <a:off x="609600" y="4902200"/>
            <a:ext cx="51435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все критерии раздела 6 и необходимый объём данных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толкатель работает без остановки линии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сотрудники обучены, резервный сценарий проверен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оформлены регламенты эксплуатации и поддержки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✓ при наличии данных подтверждён экономический эффект</a:t>
            </a:r>
            <a:endParaRPr lang="en-US" sz="1150" noProof="1"/>
          </a:p>
        </p:txBody>
      </p:sp>
      <p:sp>
        <p:nvSpPr>
          <p:cNvPr id="15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eyJ2aWV3Qm94IjpbMSwxMTRdLCJwb2ludHMiOiIwLDAgMCwxMTQifQ</pptd:line>
              </p:ext>
            </p:extLst>
          </p:nvPr>
        </p:nvSpPr>
        <p:spPr>
          <a:xfrm>
            <a:off x="6096000" y="4572000"/>
            <a:ext cx="12700" cy="1447800"/>
          </a:xfrm>
          <a:custGeom>
            <a:avLst/>
            <a:gdLst/>
            <a:ahLst/>
            <a:cxnLst/>
            <a:rect l="l" t="t" r="r" b="b"/>
            <a:pathLst>
              <a:path w="1" h="114">
                <a:moveTo>
                  <a:pt x="0" y="0"/>
                </a:moveTo>
                <a:lnTo>
                  <a:pt x="0" y="11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6" name="people-head"/>
          <p:cNvSpPr txBox="1"/>
          <p:nvPr/>
        </p:nvSpPr>
        <p:spPr>
          <a:xfrm>
            <a:off x="6477000" y="45720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ЛЮДИ И ПОДДЕРЖКА ИЗМЕНЕНИЙ</a:t>
            </a:r>
            <a:endParaRPr lang="en-US" sz="1100" noProof="1"/>
          </a:p>
        </p:txBody>
      </p:sp>
      <p:sp>
        <p:nvSpPr>
          <p:cNvPr id="17" name="people"/>
          <p:cNvSpPr txBox="1"/>
          <p:nvPr/>
        </p:nvSpPr>
        <p:spPr>
          <a:xfrm>
            <a:off x="6477000" y="4902200"/>
            <a:ext cx="51054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Обучение за одну смену: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интерфейс, ошибки и действия при сбое.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172526"/>
                </a:solidFill>
                <a:latin typeface="Arial"/>
                <a:ea typeface="Arial"/>
              </a:rPr>
              <a:t>Амбассадор:</a:t>
            </a: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 старший оператор или мастер смены помогает коллегам, не меняя модель.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172526"/>
                </a:solidFill>
                <a:latin typeface="Arial"/>
                <a:ea typeface="Arial"/>
              </a:rPr>
              <a:t>Замечания — еженедельно; данные — для улучшения, не для наказаний.</a:t>
            </a:r>
            <a:endParaRPr lang="en-US" sz="1150" noProof="1"/>
          </a:p>
        </p:txBody>
      </p:sp>
      <p:sp>
        <p:nvSpPr>
          <p:cNvPr id="18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9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Дополнительные датчики температуры оправданы, если после корректировки режима снижаются конденсат, возвраты, списания и потери</a:t>
            </a:r>
            <a:endParaRPr lang="en-US" sz="1100" noProof="1"/>
          </a:p>
        </p:txBody>
      </p:sp>
      <p:sp>
        <p:nvSpPr>
          <p:cNvPr id="20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7. Плановая промышленная приёмка первой линии — 24–26 недели. Увольнение не является условием проекта.</a:t>
            </a:r>
            <a:endParaRPr lang="en-US" sz="900" noProof="1"/>
          </a:p>
        </p:txBody>
      </p:sp>
      <p:sp>
        <p:nvSpPr>
          <p:cNvPr id="21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Широкоэкранный</PresentationFormat>
  <Paragraphs>66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и проведение пилота</dc:title>
  <cp:lastModifiedBy>Tatsyana Patalitsyna</cp:lastModifiedBy>
  <cp:revision>1</cp:revision>
  <dcterms:modified xsi:type="dcterms:W3CDTF">2026-10-25T18:54:48Z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