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6 • КРИТЕРИИ УСПЕХА • РЕШЕНИЕ О ПРИЁМКЕ</a:t>
            </a:r>
            <a:endParaRPr lang="en-US" sz="1000" noProof="1"/>
          </a:p>
        </p:txBody>
      </p:sp>
      <p:sp>
        <p:nvSpPr>
          <p:cNvPr id="3" name="baselin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Сравнение с утверждённой точкой 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Пилот принимаем только при выполнении всех критериев
качества, стабильности и экономического эффекта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riteria-head"/>
          <p:cNvSpPr txBox="1"/>
          <p:nvPr/>
        </p:nvSpPr>
        <p:spPr>
          <a:xfrm>
            <a:off x="609600" y="18415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ОБЯЗАТЕЛЬНЫЕ УСЛОВИЯ ПРИЁМКИ</a:t>
            </a:r>
            <a:endParaRPr lang="en-US" sz="1100" noProof="1"/>
          </a:p>
        </p:txBody>
      </p:sp>
      <p:sp>
        <p:nvSpPr>
          <p:cNvPr id="7" name="target-head"/>
          <p:cNvSpPr txBox="1"/>
          <p:nvPr/>
        </p:nvSpPr>
        <p:spPr>
          <a:xfrm>
            <a:off x="6108700" y="18415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ЦЕЛЬ</a:t>
            </a:r>
            <a:endParaRPr lang="en-US" sz="1000" noProof="1"/>
          </a:p>
        </p:txBody>
      </p:sp>
      <p:sp>
        <p:nvSpPr>
          <p:cNvPr id="8" name="criterion-1"/>
          <p:cNvSpPr txBox="1"/>
          <p:nvPr/>
        </p:nvSpPr>
        <p:spPr>
          <a:xfrm>
            <a:off x="609600" y="21844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 конденсата</a:t>
            </a:r>
            <a:endParaRPr lang="en-US" sz="1200" noProof="1"/>
          </a:p>
        </p:txBody>
      </p:sp>
      <p:sp>
        <p:nvSpPr>
          <p:cNvPr id="9" name="target-1"/>
          <p:cNvSpPr txBox="1"/>
          <p:nvPr/>
        </p:nvSpPr>
        <p:spPr>
          <a:xfrm>
            <a:off x="6070600" y="21844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10" name="criterion-line-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26416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1" name="criterion-2"/>
          <p:cNvSpPr txBox="1"/>
          <p:nvPr/>
        </p:nvSpPr>
        <p:spPr>
          <a:xfrm>
            <a:off x="609600" y="26543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двое операторов</a:t>
            </a:r>
            <a:endParaRPr lang="en-US" sz="1200" noProof="1"/>
          </a:p>
        </p:txBody>
      </p:sp>
      <p:sp>
        <p:nvSpPr>
          <p:cNvPr id="12" name="target-2"/>
          <p:cNvSpPr txBox="1"/>
          <p:nvPr/>
        </p:nvSpPr>
        <p:spPr>
          <a:xfrm>
            <a:off x="6070600" y="26543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600" noProof="1"/>
          </a:p>
        </p:txBody>
      </p:sp>
      <p:sp>
        <p:nvSpPr>
          <p:cNvPr id="13" name="criterion-line-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31115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4" name="criterion-3"/>
          <p:cNvSpPr txBox="1"/>
          <p:nvPr/>
        </p:nvSpPr>
        <p:spPr>
          <a:xfrm>
            <a:off x="609600" y="31242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 качественной продукции</a:t>
            </a:r>
            <a:endParaRPr lang="en-US" sz="1200" noProof="1"/>
          </a:p>
        </p:txBody>
      </p:sp>
      <p:sp>
        <p:nvSpPr>
          <p:cNvPr id="15" name="target-3"/>
          <p:cNvSpPr txBox="1"/>
          <p:nvPr/>
        </p:nvSpPr>
        <p:spPr>
          <a:xfrm>
            <a:off x="6070600" y="31242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600" noProof="1"/>
          </a:p>
        </p:txBody>
      </p:sp>
      <p:sp>
        <p:nvSpPr>
          <p:cNvPr id="16" name="criterion-line-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35814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criterion-4"/>
          <p:cNvSpPr txBox="1"/>
          <p:nvPr/>
        </p:nvSpPr>
        <p:spPr>
          <a:xfrm>
            <a:off x="609600" y="35941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Время программного решения</a:t>
            </a:r>
            <a:endParaRPr lang="en-US" sz="1200" noProof="1"/>
          </a:p>
        </p:txBody>
      </p:sp>
      <p:sp>
        <p:nvSpPr>
          <p:cNvPr id="18" name="target-4"/>
          <p:cNvSpPr txBox="1"/>
          <p:nvPr/>
        </p:nvSpPr>
        <p:spPr>
          <a:xfrm>
            <a:off x="6070600" y="35941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600" noProof="1"/>
          </a:p>
        </p:txBody>
      </p:sp>
      <p:sp>
        <p:nvSpPr>
          <p:cNvPr id="19" name="criterion-line-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0513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criterion-5"/>
          <p:cNvSpPr txBox="1"/>
          <p:nvPr/>
        </p:nvSpPr>
        <p:spPr>
          <a:xfrm>
            <a:off x="609600" y="40640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Успешное срабатывание толкателя</a:t>
            </a:r>
            <a:endParaRPr lang="en-US" sz="1200" noProof="1"/>
          </a:p>
        </p:txBody>
      </p:sp>
      <p:sp>
        <p:nvSpPr>
          <p:cNvPr id="21" name="target-5"/>
          <p:cNvSpPr txBox="1"/>
          <p:nvPr/>
        </p:nvSpPr>
        <p:spPr>
          <a:xfrm>
            <a:off x="6070600" y="40640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600" noProof="1"/>
          </a:p>
        </p:txBody>
      </p:sp>
      <p:sp>
        <p:nvSpPr>
          <p:cNvPr id="22" name="criterion-line-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5212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3" name="criterion-6"/>
          <p:cNvSpPr txBox="1"/>
          <p:nvPr/>
        </p:nvSpPr>
        <p:spPr>
          <a:xfrm>
            <a:off x="609600" y="45339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системы в пилоте</a:t>
            </a:r>
            <a:endParaRPr lang="en-US" sz="1200" noProof="1"/>
          </a:p>
        </p:txBody>
      </p:sp>
      <p:sp>
        <p:nvSpPr>
          <p:cNvPr id="24" name="target-6"/>
          <p:cNvSpPr txBox="1"/>
          <p:nvPr/>
        </p:nvSpPr>
        <p:spPr>
          <a:xfrm>
            <a:off x="6070600" y="45339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25" name="criterion-line-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9911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6" name="criterion-7"/>
          <p:cNvSpPr txBox="1"/>
          <p:nvPr/>
        </p:nvSpPr>
        <p:spPr>
          <a:xfrm>
            <a:off x="609600" y="50038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 линии по команде модели</a:t>
            </a:r>
            <a:endParaRPr lang="en-US" sz="1200" noProof="1"/>
          </a:p>
        </p:txBody>
      </p:sp>
      <p:sp>
        <p:nvSpPr>
          <p:cNvPr id="27" name="target-7"/>
          <p:cNvSpPr txBox="1"/>
          <p:nvPr/>
        </p:nvSpPr>
        <p:spPr>
          <a:xfrm>
            <a:off x="6070600" y="50038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0</a:t>
            </a:r>
            <a:endParaRPr lang="en-US" sz="1800" noProof="1"/>
          </a:p>
        </p:txBody>
      </p:sp>
      <p:sp>
        <p:nvSpPr>
          <p:cNvPr id="28" name="criterion-line-7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54610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9" name="all-note"/>
          <p:cNvSpPr txBox="1"/>
          <p:nvPr/>
        </p:nvSpPr>
        <p:spPr>
          <a:xfrm>
            <a:off x="609600" y="5613400"/>
            <a:ext cx="660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Недостижение хотя бы одного обязательного показателя означает доработку, а не приёмку пилота.</a:t>
            </a:r>
            <a:endParaRPr lang="en-US" sz="1100" noProof="1"/>
          </a:p>
        </p:txBody>
      </p:sp>
      <p:sp>
        <p:nvSpPr>
          <p:cNvPr id="30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eyJ2aWV3Qm94IjpbMSwzMjldLCJwb2ludHMiOiIwLDAgMCwzMjkifQ</pptd:line>
              </p:ext>
            </p:extLst>
          </p:nvPr>
        </p:nvSpPr>
        <p:spPr>
          <a:xfrm>
            <a:off x="7620000" y="1841500"/>
            <a:ext cx="12700" cy="4178300"/>
          </a:xfrm>
          <a:custGeom>
            <a:avLst/>
            <a:gdLst/>
            <a:ahLst/>
            <a:cxnLst/>
            <a:rect l="l" t="t" r="r" b="b"/>
            <a:pathLst>
              <a:path w="1" h="329">
                <a:moveTo>
                  <a:pt x="0" y="0"/>
                </a:moveTo>
                <a:lnTo>
                  <a:pt x="0" y="329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1" name="test-head"/>
          <p:cNvSpPr txBox="1"/>
          <p:nvPr/>
        </p:nvSpPr>
        <p:spPr>
          <a:xfrm>
            <a:off x="8026400" y="18415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</a:t>
            </a:r>
            <a:endParaRPr lang="en-US" sz="1100" noProof="1"/>
          </a:p>
        </p:txBody>
      </p:sp>
      <p:sp>
        <p:nvSpPr>
          <p:cNvPr id="32" name="sample"/>
          <p:cNvSpPr txBox="1"/>
          <p:nvPr/>
        </p:nvSpPr>
        <p:spPr>
          <a:xfrm>
            <a:off x="8026400" y="2222500"/>
            <a:ext cx="3556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≥20 смен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•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≥300 дефектных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≥3 000 качественных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лотков</a:t>
            </a:r>
            <a:endParaRPr lang="en-US" sz="1200" noProof="1"/>
          </a:p>
        </p:txBody>
      </p:sp>
      <p:sp>
        <p:nvSpPr>
          <p:cNvPr id="33" name="method"/>
          <p:cNvSpPr txBox="1"/>
          <p:nvPr/>
        </p:nvSpPr>
        <p:spPr>
          <a:xfrm>
            <a:off x="8026400" y="3162300"/>
            <a:ext cx="355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отдельный тест, не участвовавший в обучении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камера и операторы — сопоставимые периоды, чередование по неделям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эталон подтверждает специалист по качеству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замеры в теневом режиме и опытной эксплуатации</a:t>
            </a:r>
            <a:endParaRPr lang="en-US" sz="1200" noProof="1"/>
          </a:p>
        </p:txBody>
      </p:sp>
      <p:sp>
        <p:nvSpPr>
          <p:cNvPr id="34" name="econ-head"/>
          <p:cNvSpPr txBox="1"/>
          <p:nvPr/>
        </p:nvSpPr>
        <p:spPr>
          <a:xfrm>
            <a:off x="8026400" y="48514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ЭКОНОМИКА ПО ФАКТУ</a:t>
            </a:r>
            <a:endParaRPr lang="en-US" sz="1100" noProof="1"/>
          </a:p>
        </p:txBody>
      </p:sp>
      <p:sp>
        <p:nvSpPr>
          <p:cNvPr id="35" name="economics"/>
          <p:cNvSpPr txBox="1"/>
          <p:nvPr/>
        </p:nvSpPr>
        <p:spPr>
          <a:xfrm>
            <a:off x="8026400" y="5194300"/>
            <a:ext cx="35560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от точки А − эксплуатация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36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7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 о внедрении: качество детекции + стабильная работа + подтверждённый экономический эффект</a:t>
            </a:r>
            <a:endParaRPr lang="en-US" sz="1100" noProof="1"/>
          </a:p>
        </p:txBody>
      </p:sp>
      <p:sp>
        <p:nvSpPr>
          <p:cNvPr id="38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6. Экономический расчёт выполняется при наличии фактических потерь и эксплуатационных затрат.</a:t>
            </a:r>
            <a:endParaRPr lang="en-US" sz="900" noProof="1"/>
          </a:p>
        </p:txBody>
      </p:sp>
      <p:sp>
        <p:nvSpPr>
          <p:cNvPr id="39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Широкоэкранный</PresentationFormat>
  <Paragraphs>33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Georgia</vt:lpstr>
      <vt:lpstr>MiSans</vt:lpstr>
      <vt:lpstr>PPTD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Критерии успеха пилота</dc:title>
  <cp:lastModifiedBy>Tatsyana Patalitsyna</cp:lastModifiedBy>
  <cp:revision>2</cp:revision>
  <dcterms:modified xsi:type="dcterms:W3CDTF">2026-10-25T18:42:04Z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