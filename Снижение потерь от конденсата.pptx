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ПРОЕКТ • КАЧЕСТВО ПРОДУКЦИИ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Границы: производство → магазин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Ручной контроль конденсата создаёт два источника потерь:</a:t>
            </a:r>
            <a:r>
              <a:rPr lang="ru-RU" sz="2800" b="1" noProof="1">
                <a:solidFill>
                  <a:srgbClr val="172526"/>
                </a:solidFill>
                <a:latin typeface="Georgia"/>
                <a:ea typeface="Georgia"/>
              </a:rPr>
              <a:t> </a:t>
            </a: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простои линии и возвраты продукции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50 лотков/мин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производительность упаковки</a:t>
            </a:r>
            <a:endParaRPr lang="en-US" sz="1100" noProof="1"/>
          </a:p>
        </p:txBody>
      </p:sp>
      <p:sp>
        <p:nvSpPr>
          <p:cNvPr id="8" name="kpi-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0353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3528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1,2 сек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3528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проверку одного лотка</a:t>
            </a:r>
            <a:endParaRPr lang="en-US" sz="1100" noProof="1"/>
          </a:p>
        </p:txBody>
      </p:sp>
      <p:sp>
        <p:nvSpPr>
          <p:cNvPr id="11" name="kpi-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56515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5969000" y="1841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 оператора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5969000" y="2260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визуально проверяют крышки</a:t>
            </a:r>
            <a:endParaRPr lang="en-US" sz="1100" noProof="1"/>
          </a:p>
        </p:txBody>
      </p:sp>
      <p:sp>
        <p:nvSpPr>
          <p:cNvPr id="14" name="kpi-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825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8572500" y="1841500"/>
            <a:ext cx="300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8572500" y="2260600"/>
            <a:ext cx="3009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7" name="process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eyJ2aWV3Qm94IjpbNzcwLDFdLCJwb2ludHMiOiIwLDAgNzcwLDAifQ</pptd:line>
              </p:ext>
            </p:extLst>
          </p:nvPr>
        </p:nvSpPr>
        <p:spPr>
          <a:xfrm flipV="1">
            <a:off x="990600" y="3149600"/>
            <a:ext cx="8123311" cy="88900"/>
          </a:xfrm>
          <a:custGeom>
            <a:avLst/>
            <a:gdLst/>
            <a:ahLst/>
            <a:cxnLst/>
            <a:rect l="l" t="t" r="r" b="b"/>
            <a:pathLst>
              <a:path w="770" h="1">
                <a:moveTo>
                  <a:pt x="0" y="0"/>
                </a:moveTo>
                <a:lnTo>
                  <a:pt x="77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8" name="process-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eyJpY29uTmFtZSI6ImZhczppbmR1c3RyeSJ9</pptd:icon>
              </p:ext>
            </p:extLst>
          </p:nvPr>
        </p:nvSpPr>
        <p:spPr>
          <a:xfrm>
            <a:off x="698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14" y="32"/>
                  <a:pt x="0" y="46"/>
                  <a:pt x="0" y="64"/>
                </a:cubicBezTo>
                <a:lnTo>
                  <a:pt x="0" y="432"/>
                </a:lnTo>
                <a:cubicBezTo>
                  <a:pt x="0" y="459"/>
                  <a:pt x="22" y="480"/>
                  <a:pt x="48" y="480"/>
                </a:cubicBezTo>
                <a:lnTo>
                  <a:pt x="464" y="480"/>
                </a:lnTo>
                <a:cubicBezTo>
                  <a:pt x="491" y="480"/>
                  <a:pt x="512" y="459"/>
                  <a:pt x="512" y="432"/>
                </a:cubicBezTo>
                <a:lnTo>
                  <a:pt x="512" y="152"/>
                </a:lnTo>
                <a:cubicBezTo>
                  <a:pt x="512" y="134"/>
                  <a:pt x="493" y="122"/>
                  <a:pt x="477" y="131"/>
                </a:cubicBezTo>
                <a:lnTo>
                  <a:pt x="320" y="215"/>
                </a:lnTo>
                <a:lnTo>
                  <a:pt x="320" y="152"/>
                </a:lnTo>
                <a:cubicBezTo>
                  <a:pt x="320" y="134"/>
                  <a:pt x="301" y="122"/>
                  <a:pt x="285" y="131"/>
                </a:cubicBezTo>
                <a:lnTo>
                  <a:pt x="128" y="215"/>
                </a:lnTo>
                <a:lnTo>
                  <a:pt x="128" y="64"/>
                </a:lnTo>
                <a:cubicBezTo>
                  <a:pt x="128" y="46"/>
                  <a:pt x="114" y="32"/>
                  <a:pt x="96" y="32"/>
                </a:cubicBezTo>
                <a:lnTo>
                  <a:pt x="32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process-label1"/>
          <p:cNvSpPr txBox="1"/>
          <p:nvPr/>
        </p:nvSpPr>
        <p:spPr>
          <a:xfrm>
            <a:off x="1155700" y="27813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без изменения рецептур</a:t>
            </a:r>
            <a:endParaRPr lang="en-US" sz="1200" noProof="1"/>
          </a:p>
        </p:txBody>
      </p:sp>
      <p:sp>
        <p:nvSpPr>
          <p:cNvPr id="20" name="process-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eyJpY29uTmFtZSI6ImZhczpib3gtb3BlbiJ9</pptd:icon>
              </p:ext>
            </p:extLst>
          </p:nvPr>
        </p:nvSpPr>
        <p:spPr>
          <a:xfrm>
            <a:off x="3786561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process-label2"/>
          <p:cNvSpPr txBox="1"/>
          <p:nvPr/>
        </p:nvSpPr>
        <p:spPr>
          <a:xfrm>
            <a:off x="4269161" y="278130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ручной контроль</a:t>
            </a:r>
            <a:endParaRPr lang="en-US" sz="1200" noProof="1"/>
          </a:p>
        </p:txBody>
      </p:sp>
      <p:sp>
        <p:nvSpPr>
          <p:cNvPr id="22" name="process-icon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849018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process-label3"/>
          <p:cNvSpPr txBox="1"/>
          <p:nvPr/>
        </p:nvSpPr>
        <p:spPr>
          <a:xfrm>
            <a:off x="7356695" y="2800350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до магазина</a:t>
            </a:r>
            <a:endParaRPr lang="en-US" sz="1200" noProof="1"/>
          </a:p>
        </p:txBody>
      </p:sp>
      <p:sp>
        <p:nvSpPr>
          <p:cNvPr id="24" name="process-store"/>
          <p:cNvSpPr txBox="1"/>
          <p:nvPr/>
        </p:nvSpPr>
        <p:spPr>
          <a:xfrm>
            <a:off x="8966200" y="2727569"/>
            <a:ext cx="137863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b="1" noProof="1">
                <a:solidFill>
                  <a:srgbClr val="C00000"/>
                </a:solidFill>
                <a:latin typeface="Arial"/>
                <a:ea typeface="Arial"/>
              </a:rPr>
              <a:t>МАГАЗИН</a:t>
            </a:r>
            <a:endParaRPr lang="en-US" noProof="1">
              <a:solidFill>
                <a:srgbClr val="C00000"/>
              </a:solidFill>
            </a:endParaRPr>
          </a:p>
        </p:txBody>
      </p:sp>
      <p:sp>
        <p:nvSpPr>
          <p:cNvPr id="25" name="loss-left-head"/>
          <p:cNvSpPr txBox="1"/>
          <p:nvPr/>
        </p:nvSpPr>
        <p:spPr>
          <a:xfrm>
            <a:off x="609600" y="3530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01  КОНДЕНСАТ ОБНАРУЖЕН ВРУЧНУЮ</a:t>
            </a:r>
            <a:endParaRPr lang="en-US" sz="1200" noProof="1"/>
          </a:p>
        </p:txBody>
      </p:sp>
      <p:sp>
        <p:nvSpPr>
          <p:cNvPr id="26" name="loss-left-title"/>
          <p:cNvSpPr txBox="1"/>
          <p:nvPr/>
        </p:nvSpPr>
        <p:spPr>
          <a:xfrm>
            <a:off x="609600" y="3873500"/>
            <a:ext cx="4953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Линия останавливается</a:t>
            </a:r>
            <a:endParaRPr lang="en-US" sz="1900" noProof="1"/>
          </a:p>
        </p:txBody>
      </p:sp>
      <p:sp>
        <p:nvSpPr>
          <p:cNvPr id="27" name="stop10-label"/>
          <p:cNvSpPr txBox="1"/>
          <p:nvPr/>
        </p:nvSpPr>
        <p:spPr>
          <a:xfrm>
            <a:off x="609600" y="43434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10 мин</a:t>
            </a:r>
            <a:endParaRPr lang="en-US" sz="1300" noProof="1"/>
          </a:p>
        </p:txBody>
      </p:sp>
      <p:sp>
        <p:nvSpPr>
          <p:cNvPr id="28" name="stop10-bar"/>
          <p:cNvSpPr/>
          <p:nvPr/>
        </p:nvSpPr>
        <p:spPr>
          <a:xfrm>
            <a:off x="2222500" y="4356100"/>
            <a:ext cx="1016000" cy="203200"/>
          </a:xfrm>
          <a:prstGeom prst="rect">
            <a:avLst/>
          </a:prstGeom>
          <a:solidFill>
            <a:srgbClr val="8BBDB9"/>
          </a:solidFill>
          <a:ln>
            <a:noFill/>
          </a:ln>
        </p:spPr>
      </p:sp>
      <p:sp>
        <p:nvSpPr>
          <p:cNvPr id="29" name="stop10-value"/>
          <p:cNvSpPr txBox="1"/>
          <p:nvPr/>
        </p:nvSpPr>
        <p:spPr>
          <a:xfrm>
            <a:off x="3416300" y="4292600"/>
            <a:ext cx="21463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−500 лотков</a:t>
            </a:r>
            <a:endParaRPr lang="en-US" sz="1800" noProof="1"/>
          </a:p>
        </p:txBody>
      </p:sp>
      <p:sp>
        <p:nvSpPr>
          <p:cNvPr id="30" name="stop30-label"/>
          <p:cNvSpPr txBox="1"/>
          <p:nvPr/>
        </p:nvSpPr>
        <p:spPr>
          <a:xfrm>
            <a:off x="609600" y="48006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30 мин</a:t>
            </a:r>
            <a:endParaRPr lang="en-US" sz="1300" noProof="1"/>
          </a:p>
        </p:txBody>
      </p:sp>
      <p:sp>
        <p:nvSpPr>
          <p:cNvPr id="31" name="stop30-bar"/>
          <p:cNvSpPr/>
          <p:nvPr/>
        </p:nvSpPr>
        <p:spPr>
          <a:xfrm>
            <a:off x="2222500" y="4813300"/>
            <a:ext cx="3048000" cy="2032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2" name="stop30-value"/>
          <p:cNvSpPr txBox="1"/>
          <p:nvPr/>
        </p:nvSpPr>
        <p:spPr>
          <a:xfrm>
            <a:off x="609600" y="51308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−1 500 лотков задержки выпуска</a:t>
            </a:r>
            <a:endParaRPr lang="en-US" sz="1800" noProof="1"/>
          </a:p>
        </p:txBody>
      </p:sp>
      <p:sp>
        <p:nvSpPr>
          <p:cNvPr id="33" name="losses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eyJ2aWV3Qm94IjpbMSwxNTBdLCJwb2ludHMiOiIwLDAgMCwxNTAifQ</pptd:line>
              </p:ext>
            </p:extLst>
          </p:nvPr>
        </p:nvSpPr>
        <p:spPr>
          <a:xfrm>
            <a:off x="5943600" y="3556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4" name="loss-right-head"/>
          <p:cNvSpPr txBox="1"/>
          <p:nvPr/>
        </p:nvSpPr>
        <p:spPr>
          <a:xfrm>
            <a:off x="6350000" y="35306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02  КОНДЕНСАТ ПРОПУЩЕН</a:t>
            </a:r>
            <a:endParaRPr lang="en-US" sz="1200" noProof="1"/>
          </a:p>
        </p:txBody>
      </p:sp>
      <p:sp>
        <p:nvSpPr>
          <p:cNvPr id="35" name="loss-right-title"/>
          <p:cNvSpPr txBox="1"/>
          <p:nvPr/>
        </p:nvSpPr>
        <p:spPr>
          <a:xfrm>
            <a:off x="6350000" y="3873500"/>
            <a:ext cx="52324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Потери переносятся дальше</a:t>
            </a:r>
            <a:r>
              <a:rPr lang="ru-RU" sz="1900" b="1" noProof="1">
                <a:solidFill>
                  <a:srgbClr val="172526"/>
                </a:solidFill>
                <a:latin typeface="Arial"/>
                <a:ea typeface="Arial"/>
              </a:rPr>
              <a:t>:</a:t>
            </a:r>
            <a:endParaRPr lang="en-US" sz="1900" noProof="1"/>
          </a:p>
        </p:txBody>
      </p:sp>
      <p:sp>
        <p:nvSpPr>
          <p:cNvPr id="36" name="shelf-life"/>
          <p:cNvSpPr txBox="1"/>
          <p:nvPr/>
        </p:nvSpPr>
        <p:spPr>
          <a:xfrm>
            <a:off x="6350000" y="4356100"/>
            <a:ext cx="5232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↓ остаточный срок годности</a:t>
            </a:r>
            <a:endParaRPr lang="en-US" sz="1600" noProof="1"/>
          </a:p>
        </p:txBody>
      </p:sp>
      <p:sp>
        <p:nvSpPr>
          <p:cNvPr id="37" name="return-chain"/>
          <p:cNvSpPr txBox="1"/>
          <p:nvPr/>
        </p:nvSpPr>
        <p:spPr>
          <a:xfrm>
            <a:off x="6364067" y="4659922"/>
            <a:ext cx="5232400" cy="8010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↓ </a:t>
            </a:r>
            <a:r>
              <a:rPr lang="en-US" sz="1600" b="1" noProof="1">
                <a:solidFill>
                  <a:srgbClr val="172526"/>
                </a:solidFill>
                <a:latin typeface="Arial"/>
                <a:ea typeface="Arial"/>
              </a:rPr>
              <a:t>продажи в магазине</a:t>
            </a:r>
            <a:r>
              <a:rPr lang="ru-RU" sz="1600" b="1" noProof="1">
                <a:solidFill>
                  <a:srgbClr val="172526"/>
                </a:solidFill>
                <a:latin typeface="Arial"/>
                <a:ea typeface="Arial"/>
              </a:rPr>
              <a:t> падают</a:t>
            </a:r>
            <a:endParaRPr lang="en-US" sz="1600" b="1" noProof="1"/>
          </a:p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C00000"/>
                </a:solidFill>
                <a:latin typeface="Arial"/>
                <a:ea typeface="Arial"/>
              </a:rPr>
              <a:t>↑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600" b="1" noProof="1">
                <a:solidFill>
                  <a:srgbClr val="C00000"/>
                </a:solidFill>
                <a:latin typeface="Arial"/>
                <a:ea typeface="Arial"/>
              </a:rPr>
              <a:t>возвраты, обратная логистика и списания</a:t>
            </a:r>
            <a:endParaRPr lang="en-US" sz="1600" noProof="1">
              <a:solidFill>
                <a:srgbClr val="C00000"/>
              </a:solidFill>
            </a:endParaRPr>
          </a:p>
        </p:txBody>
      </p:sp>
      <p:sp>
        <p:nvSpPr>
          <p:cNvPr id="38" name="objective-bg"/>
          <p:cNvSpPr/>
          <p:nvPr/>
        </p:nvSpPr>
        <p:spPr>
          <a:xfrm>
            <a:off x="609600" y="5765800"/>
            <a:ext cx="10895818" cy="6350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39" name="objective-bar"/>
          <p:cNvSpPr/>
          <p:nvPr/>
        </p:nvSpPr>
        <p:spPr>
          <a:xfrm>
            <a:off x="609600" y="5765800"/>
            <a:ext cx="63500" cy="6350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40" name="objective"/>
          <p:cNvSpPr txBox="1"/>
          <p:nvPr/>
        </p:nvSpPr>
        <p:spPr>
          <a:xfrm>
            <a:off x="850900" y="5854700"/>
            <a:ext cx="10541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Цель проекта: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найти этап возникновения условий для конденсата и снизить число пропущенных лотков, возвратов и незапланированных остановок.</a:t>
            </a:r>
            <a:endParaRPr lang="en-US" sz="13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исходное описание процесса; расчёт выпуска при 50 лотках/мин.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РЕШЕНИЕ • ТРИ ЗОНЫ КОНТРОЛЯ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636000" y="3048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Рецептуры не изменяются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Проект устраняет причины конденсата в трёх цехах
и автоматизирует контроль без остановки линии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ol-stage"/>
          <p:cNvSpPr txBox="1"/>
          <p:nvPr/>
        </p:nvSpPr>
        <p:spPr>
          <a:xfrm>
            <a:off x="609600" y="18415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ЭТАП</a:t>
            </a:r>
            <a:endParaRPr lang="en-US" sz="1000" noProof="1"/>
          </a:p>
        </p:txBody>
      </p:sp>
      <p:sp>
        <p:nvSpPr>
          <p:cNvPr id="7" name="col-hyp"/>
          <p:cNvSpPr txBox="1"/>
          <p:nvPr/>
        </p:nvSpPr>
        <p:spPr>
          <a:xfrm>
            <a:off x="2463800" y="1841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ГИПОТЕЗА</a:t>
            </a:r>
            <a:endParaRPr lang="en-US" sz="1000" noProof="1"/>
          </a:p>
        </p:txBody>
      </p:sp>
      <p:sp>
        <p:nvSpPr>
          <p:cNvPr id="8" name="col-action"/>
          <p:cNvSpPr txBox="1"/>
          <p:nvPr/>
        </p:nvSpPr>
        <p:spPr>
          <a:xfrm>
            <a:off x="6959600" y="18415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УПРАВЛЕНЧЕСКОЕ ДЕЙСТВИЕ</a:t>
            </a:r>
            <a:endParaRPr lang="en-US" sz="1000" noProof="1"/>
          </a:p>
        </p:txBody>
      </p:sp>
      <p:sp>
        <p:nvSpPr>
          <p:cNvPr id="9" name="head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146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10" name="r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eyJpY29uTmFtZSI6ImZhczp0ZW1wZXJhdHVyZS1sb3cifQ</pptd:icon>
              </p:ext>
            </p:extLst>
          </p:nvPr>
        </p:nvSpPr>
        <p:spPr>
          <a:xfrm>
            <a:off x="609600" y="2413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96"/>
                </a:moveTo>
                <a:cubicBezTo>
                  <a:pt x="96" y="43"/>
                  <a:pt x="139" y="0"/>
                  <a:pt x="192" y="0"/>
                </a:cubicBezTo>
                <a:cubicBezTo>
                  <a:pt x="245" y="0"/>
                  <a:pt x="288" y="43"/>
                  <a:pt x="288" y="96"/>
                </a:cubicBezTo>
                <a:lnTo>
                  <a:pt x="288" y="261"/>
                </a:lnTo>
                <a:cubicBezTo>
                  <a:pt x="318" y="287"/>
                  <a:pt x="336" y="325"/>
                  <a:pt x="336" y="368"/>
                </a:cubicBezTo>
                <a:cubicBezTo>
                  <a:pt x="336" y="448"/>
                  <a:pt x="272" y="512"/>
                  <a:pt x="192" y="512"/>
                </a:cubicBezTo>
                <a:cubicBezTo>
                  <a:pt x="113" y="512"/>
                  <a:pt x="48" y="448"/>
                  <a:pt x="48" y="368"/>
                </a:cubicBezTo>
                <a:cubicBezTo>
                  <a:pt x="48" y="325"/>
                  <a:pt x="67" y="287"/>
                  <a:pt x="96" y="261"/>
                </a:cubicBezTo>
                <a:lnTo>
                  <a:pt x="96" y="96"/>
                </a:lnTo>
                <a:close/>
                <a:moveTo>
                  <a:pt x="192" y="432"/>
                </a:moveTo>
                <a:cubicBezTo>
                  <a:pt x="227" y="432"/>
                  <a:pt x="256" y="403"/>
                  <a:pt x="256" y="368"/>
                </a:cubicBezTo>
                <a:cubicBezTo>
                  <a:pt x="256" y="341"/>
                  <a:pt x="240" y="318"/>
                  <a:pt x="216" y="309"/>
                </a:cubicBez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09"/>
                </a:lnTo>
                <a:cubicBezTo>
                  <a:pt x="145" y="318"/>
                  <a:pt x="128" y="341"/>
                  <a:pt x="128" y="368"/>
                </a:cubicBezTo>
                <a:cubicBezTo>
                  <a:pt x="128" y="403"/>
                  <a:pt x="157" y="432"/>
                  <a:pt x="192" y="432"/>
                </a:cubicBezTo>
                <a:close/>
              </a:path>
              <a:path w="512" h="512">
                <a:moveTo>
                  <a:pt x="352" y="80"/>
                </a:moveTo>
                <a:cubicBezTo>
                  <a:pt x="352" y="36"/>
                  <a:pt x="388" y="0"/>
                  <a:pt x="432" y="0"/>
                </a:cubicBezTo>
                <a:cubicBezTo>
                  <a:pt x="476" y="0"/>
                  <a:pt x="512" y="36"/>
                  <a:pt x="512" y="80"/>
                </a:cubicBezTo>
                <a:cubicBezTo>
                  <a:pt x="512" y="124"/>
                  <a:pt x="476" y="160"/>
                  <a:pt x="432" y="160"/>
                </a:cubicBezTo>
                <a:cubicBezTo>
                  <a:pt x="388" y="160"/>
                  <a:pt x="352" y="124"/>
                  <a:pt x="352" y="80"/>
                </a:cubicBezTo>
                <a:close/>
                <a:moveTo>
                  <a:pt x="464" y="80"/>
                </a:moveTo>
                <a:cubicBezTo>
                  <a:pt x="464" y="62"/>
                  <a:pt x="450" y="48"/>
                  <a:pt x="432" y="48"/>
                </a:cubicBezTo>
                <a:cubicBezTo>
                  <a:pt x="414" y="48"/>
                  <a:pt x="400" y="62"/>
                  <a:pt x="400" y="80"/>
                </a:cubicBezTo>
                <a:cubicBezTo>
                  <a:pt x="400" y="98"/>
                  <a:pt x="414" y="112"/>
                  <a:pt x="432" y="112"/>
                </a:cubicBezTo>
                <a:cubicBezTo>
                  <a:pt x="450" y="112"/>
                  <a:pt x="464" y="98"/>
                  <a:pt x="464" y="8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row1-stage"/>
          <p:cNvSpPr txBox="1"/>
          <p:nvPr/>
        </p:nvSpPr>
        <p:spPr>
          <a:xfrm>
            <a:off x="1066800" y="23368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12" name="row1-hyp"/>
          <p:cNvSpPr txBox="1"/>
          <p:nvPr/>
        </p:nvSpPr>
        <p:spPr>
          <a:xfrm>
            <a:off x="2463800" y="23241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Продукция поступает на упаковку 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недостаточно охлаждённой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; перепад температур способствует конденсату.</a:t>
            </a:r>
            <a:endParaRPr lang="en-US" sz="1400" noProof="1"/>
          </a:p>
        </p:txBody>
      </p:sp>
      <p:sp>
        <p:nvSpPr>
          <p:cNvPr id="13" name="row1-action"/>
          <p:cNvSpPr txBox="1"/>
          <p:nvPr/>
        </p:nvSpPr>
        <p:spPr>
          <a:xfrm>
            <a:off x="6959600" y="23241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Измерить температуру и время охлаждения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Тепловые камеры или датчики; скорректировать режим без изменения рецептуры.</a:t>
            </a:r>
            <a:endParaRPr lang="en-US" sz="1400" noProof="1"/>
          </a:p>
        </p:txBody>
      </p:sp>
      <p:sp>
        <p:nvSpPr>
          <p:cNvPr id="14" name="row1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33147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r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609600" y="35941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6" name="row2-stage"/>
          <p:cNvSpPr txBox="1"/>
          <p:nvPr/>
        </p:nvSpPr>
        <p:spPr>
          <a:xfrm>
            <a:off x="1066800" y="35179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17" name="row2-hyp"/>
          <p:cNvSpPr txBox="1"/>
          <p:nvPr/>
        </p:nvSpPr>
        <p:spPr>
          <a:xfrm>
            <a:off x="2463800" y="35052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При скорости 50 лотков/мин операторы 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не успевают стабильно выявлять конденсат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.</a:t>
            </a:r>
            <a:endParaRPr lang="en-US" sz="1400" noProof="1"/>
          </a:p>
        </p:txBody>
      </p:sp>
      <p:sp>
        <p:nvSpPr>
          <p:cNvPr id="18" name="row2-action"/>
          <p:cNvSpPr txBox="1"/>
          <p:nvPr/>
        </p:nvSpPr>
        <p:spPr>
          <a:xfrm>
            <a:off x="6959600" y="35052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Автоматизировать контроль камерой и CV-моделью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Выявлять конденсат без полной остановки линии; сократить пропуски и простои.</a:t>
            </a:r>
            <a:endParaRPr lang="en-US" sz="1400" noProof="1"/>
          </a:p>
        </p:txBody>
      </p:sp>
      <p:sp>
        <p:nvSpPr>
          <p:cNvPr id="19" name="row2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 flipV="1">
            <a:off x="609600" y="4450081"/>
            <a:ext cx="6199163" cy="45719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r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09600" y="47752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row3-stage"/>
          <p:cNvSpPr txBox="1"/>
          <p:nvPr/>
        </p:nvSpPr>
        <p:spPr>
          <a:xfrm>
            <a:off x="1066800" y="46990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22" name="row3-hyp"/>
          <p:cNvSpPr txBox="1"/>
          <p:nvPr/>
        </p:nvSpPr>
        <p:spPr>
          <a:xfrm>
            <a:off x="2463800" y="46863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Время перевозки, ожидание разгрузки и перепады температур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 усугубляют проблему.</a:t>
            </a:r>
            <a:endParaRPr lang="en-US" sz="1400" noProof="1"/>
          </a:p>
        </p:txBody>
      </p:sp>
      <p:sp>
        <p:nvSpPr>
          <p:cNvPr id="23" name="row3-action"/>
          <p:cNvSpPr txBox="1"/>
          <p:nvPr/>
        </p:nvSpPr>
        <p:spPr>
          <a:xfrm>
            <a:off x="6959600" y="46863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Контролировать температуру и время доставки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Сократить ожидание при погрузке и разгрузке; связать условия перевозки с возвратами.</a:t>
            </a:r>
            <a:endParaRPr lang="en-US" sz="1400" noProof="1"/>
          </a:p>
        </p:txBody>
      </p:sp>
      <p:sp>
        <p:nvSpPr>
          <p:cNvPr id="24" name="result-bg"/>
          <p:cNvSpPr/>
          <p:nvPr/>
        </p:nvSpPr>
        <p:spPr>
          <a:xfrm>
            <a:off x="609600" y="5778499"/>
            <a:ext cx="10972800" cy="626989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result-bar"/>
          <p:cNvSpPr/>
          <p:nvPr/>
        </p:nvSpPr>
        <p:spPr>
          <a:xfrm>
            <a:off x="609600" y="5778499"/>
            <a:ext cx="63500" cy="584199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6" name="result"/>
          <p:cNvSpPr txBox="1"/>
          <p:nvPr/>
        </p:nvSpPr>
        <p:spPr>
          <a:xfrm>
            <a:off x="850900" y="5867400"/>
            <a:ext cx="10541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Ожидаемый результат: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управлять причиной конденсата, а не только последствиями — меньше пропущенных лотков, возвратов и остановок.</a:t>
            </a:r>
            <a:endParaRPr lang="en-US" sz="1300" noProof="1"/>
          </a:p>
        </p:txBody>
      </p:sp>
      <p:sp>
        <p:nvSpPr>
          <p:cNvPr id="27" name="owner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Куратор: директор по производству. Данные и процесс: начальники трёх цехов.</a:t>
            </a:r>
            <a:endParaRPr lang="en-US" sz="900" noProof="1"/>
          </a:p>
        </p:txBody>
      </p:sp>
      <p:sp>
        <p:nvSpPr>
          <p:cNvPr id="28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РЕШЕНИЕ О ЗАПУСКЕ • ЭКОНОМИКА И ПИЛОТ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7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решение только после подтверждения
экономического эффекта и стабильной работы на пилоте</a:t>
            </a:r>
            <a:endParaRPr lang="en-US" sz="27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econ-head"/>
          <p:cNvSpPr txBox="1"/>
          <p:nvPr/>
        </p:nvSpPr>
        <p:spPr>
          <a:xfrm>
            <a:off x="609600" y="18415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+ 03  ПОТЕРИ И СТОИМОСТЬ</a:t>
            </a:r>
            <a:endParaRPr lang="en-US" sz="1100" noProof="1"/>
          </a:p>
        </p:txBody>
      </p:sp>
      <p:sp>
        <p:nvSpPr>
          <p:cNvPr id="6" name="effect-formula"/>
          <p:cNvSpPr txBox="1"/>
          <p:nvPr/>
        </p:nvSpPr>
        <p:spPr>
          <a:xfrm>
            <a:off x="609600" y="2197100"/>
            <a:ext cx="6223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Эффект = ↓ возвраты + ↓ простои</a:t>
            </a:r>
            <a:endParaRPr lang="en-US" sz="2100" noProof="1"/>
          </a:p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− затраты на решение</a:t>
            </a:r>
            <a:endParaRPr lang="en-US" sz="2100" noProof="1"/>
          </a:p>
        </p:txBody>
      </p:sp>
      <p:sp>
        <p:nvSpPr>
          <p:cNvPr id="7" name="formula1-label"/>
          <p:cNvSpPr txBox="1"/>
          <p:nvPr/>
        </p:nvSpPr>
        <p:spPr>
          <a:xfrm>
            <a:off x="609600" y="31369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Возвраты</a:t>
            </a:r>
            <a:endParaRPr lang="en-US" sz="1200" noProof="1"/>
          </a:p>
        </p:txBody>
      </p:sp>
      <p:sp>
        <p:nvSpPr>
          <p:cNvPr id="8" name="formula1"/>
          <p:cNvSpPr txBox="1"/>
          <p:nvPr/>
        </p:nvSpPr>
        <p:spPr>
          <a:xfrm>
            <a:off x="1968500" y="3098800"/>
            <a:ext cx="4889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возвращённые лотки × себестоимость + обратная логистика + утилизация</a:t>
            </a:r>
            <a:endParaRPr lang="en-US" sz="1200" noProof="1"/>
          </a:p>
        </p:txBody>
      </p:sp>
      <p:sp>
        <p:nvSpPr>
          <p:cNvPr id="9" name="formula2-label"/>
          <p:cNvSpPr txBox="1"/>
          <p:nvPr/>
        </p:nvSpPr>
        <p:spPr>
          <a:xfrm>
            <a:off x="609600" y="37211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</a:t>
            </a:r>
            <a:endParaRPr lang="en-US" sz="1200" noProof="1"/>
          </a:p>
        </p:txBody>
      </p:sp>
      <p:sp>
        <p:nvSpPr>
          <p:cNvPr id="10" name="formula2"/>
          <p:cNvSpPr txBox="1"/>
          <p:nvPr/>
        </p:nvSpPr>
        <p:spPr>
          <a:xfrm>
            <a:off x="1968500" y="3725201"/>
            <a:ext cx="4889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минуты остановки × стоимость минуты простоя</a:t>
            </a:r>
            <a:endParaRPr lang="en-US" sz="1200" noProof="1"/>
          </a:p>
        </p:txBody>
      </p:sp>
      <p:sp>
        <p:nvSpPr>
          <p:cNvPr id="11" name="inputs-head"/>
          <p:cNvSpPr txBox="1"/>
          <p:nvPr/>
        </p:nvSpPr>
        <p:spPr>
          <a:xfrm>
            <a:off x="609600" y="42037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Для расчёта в рублях нужны четыре показателя</a:t>
            </a:r>
            <a:endParaRPr lang="en-US" sz="1300" noProof="1"/>
          </a:p>
        </p:txBody>
      </p:sp>
      <p:sp>
        <p:nvSpPr>
          <p:cNvPr id="12" name="inputs-list"/>
          <p:cNvSpPr txBox="1"/>
          <p:nvPr/>
        </p:nvSpPr>
        <p:spPr>
          <a:xfrm>
            <a:off x="609600" y="4559300"/>
            <a:ext cx="62230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Себестоимость одного лотка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Среднее число возвратов за месяц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Продолжительность остановок за смену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Стоимость одной минуты простоя</a:t>
            </a:r>
            <a:endParaRPr lang="en-US" sz="1300" noProof="1"/>
          </a:p>
        </p:txBody>
      </p:sp>
      <p:sp>
        <p:nvSpPr>
          <p:cNvPr id="13" name="cost"/>
          <p:cNvSpPr txBox="1"/>
          <p:nvPr/>
        </p:nvSpPr>
        <p:spPr>
          <a:xfrm>
            <a:off x="609600" y="5867400"/>
            <a:ext cx="624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Затраты:</a:t>
            </a: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 камеры и оборудование, CV и интеграция, внедрение, обучение и поддержка.</a:t>
            </a:r>
            <a:endParaRPr lang="en-US" sz="1100" noProof="1"/>
          </a:p>
        </p:txBody>
      </p:sp>
      <p:sp>
        <p:nvSpPr>
          <p:cNvPr id="14" name="mid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eyJ2aWV3Qm94IjpbMSwzNTBdLCJwb2ludHMiOiIwLDAgMCwzNTAifQ</pptd:line>
              </p:ext>
            </p:extLst>
          </p:nvPr>
        </p:nvSpPr>
        <p:spPr>
          <a:xfrm>
            <a:off x="7239000" y="18542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pilot-head"/>
          <p:cNvSpPr txBox="1"/>
          <p:nvPr/>
        </p:nvSpPr>
        <p:spPr>
          <a:xfrm>
            <a:off x="7658100" y="18415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 РЕЗУЛЬТАТ</a:t>
            </a:r>
            <a:endParaRPr lang="en-US" sz="1100" noProof="1"/>
          </a:p>
        </p:txBody>
      </p:sp>
      <p:sp>
        <p:nvSpPr>
          <p:cNvPr id="16" name="compare-title"/>
          <p:cNvSpPr txBox="1"/>
          <p:nvPr/>
        </p:nvSpPr>
        <p:spPr>
          <a:xfrm>
            <a:off x="7658100" y="2209800"/>
            <a:ext cx="39243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База → пилот → сравнение</a:t>
            </a:r>
            <a:endParaRPr lang="en-US" sz="1700" noProof="1"/>
          </a:p>
        </p:txBody>
      </p:sp>
      <p:sp>
        <p:nvSpPr>
          <p:cNvPr id="17" name="compare-note"/>
          <p:cNvSpPr txBox="1"/>
          <p:nvPr/>
        </p:nvSpPr>
        <p:spPr>
          <a:xfrm>
            <a:off x="7658100" y="2590800"/>
            <a:ext cx="39243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Сопоставляем сопоставимые смены и продукцию; пороги успеха фиксируем до пилота.</a:t>
            </a:r>
            <a:endParaRPr lang="en-US" sz="1200" noProof="1"/>
          </a:p>
        </p:txBody>
      </p:sp>
      <p:sp>
        <p:nvSpPr>
          <p:cNvPr id="18" name="metrics"/>
          <p:cNvSpPr txBox="1"/>
          <p:nvPr/>
        </p:nvSpPr>
        <p:spPr>
          <a:xfrm>
            <a:off x="7658100" y="3187700"/>
            <a:ext cx="3924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пропущенные лотки и качество CV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возвраты и списания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минуты незапланированных остановок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выпуск и производительность линии</a:t>
            </a:r>
            <a:endParaRPr lang="en-US" sz="1300" noProof="1"/>
          </a:p>
        </p:txBody>
      </p:sp>
      <p:sp>
        <p:nvSpPr>
          <p:cNvPr id="19" name="scale-head"/>
          <p:cNvSpPr txBox="1"/>
          <p:nvPr/>
        </p:nvSpPr>
        <p:spPr>
          <a:xfrm>
            <a:off x="7658100" y="44704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04  КОГДА МАСШТАБИРУЕМ</a:t>
            </a:r>
            <a:endParaRPr lang="en-US" sz="1100" noProof="1"/>
          </a:p>
        </p:txBody>
      </p:sp>
      <p:sp>
        <p:nvSpPr>
          <p:cNvPr id="20" name="scale-list"/>
          <p:cNvSpPr txBox="1"/>
          <p:nvPr/>
        </p:nvSpPr>
        <p:spPr>
          <a:xfrm>
            <a:off x="7658100" y="4826000"/>
            <a:ext cx="39243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подтверждён эффект и окупаемость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качество контроля стабильно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нет потери производительности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назначены владельцы процесса и данных</a:t>
            </a:r>
            <a:endParaRPr lang="en-US" sz="1200" noProof="1"/>
          </a:p>
        </p:txBody>
      </p:sp>
      <p:sp>
        <p:nvSpPr>
          <p:cNvPr id="21" name="decision-bg"/>
          <p:cNvSpPr/>
          <p:nvPr/>
        </p:nvSpPr>
        <p:spPr>
          <a:xfrm>
            <a:off x="7658100" y="6007100"/>
            <a:ext cx="39243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2" name="decision"/>
          <p:cNvSpPr txBox="1"/>
          <p:nvPr/>
        </p:nvSpPr>
        <p:spPr>
          <a:xfrm>
            <a:off x="7810500" y="607060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Решение: масштабировать / доработать / остановить</a:t>
            </a:r>
            <a:endParaRPr lang="en-US" sz="1100" noProof="1"/>
          </a:p>
        </p:txBody>
      </p:sp>
      <p:sp>
        <p:nvSpPr>
          <p:cNvPr id="23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Финансовые значения и целевые пороги заполняются по данным компании до запуска пилота.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472</Words>
  <Application>Microsoft Office PowerPoint</Application>
  <PresentationFormat>Широкоэкранный</PresentationFormat>
  <Paragraphs>86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Снижение потерь от конденсата</dc:title>
  <cp:lastModifiedBy>Tatsyana Patalitsyna</cp:lastModifiedBy>
  <cp:revision>3</cp:revision>
  <dcterms:modified xsi:type="dcterms:W3CDTF">2026-10-25T17:17:20Z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